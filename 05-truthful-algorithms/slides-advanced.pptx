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3"/>
  </p:notesMasterIdLst>
  <p:handoutMasterIdLst>
    <p:handoutMasterId r:id="rId24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0080625" cy="7559675"/>
  <p:notesSz cx="7559675" cy="10691813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0770522-514A-4A7F-BF1F-34BFC15E4600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0" autoAdjust="0"/>
    <p:restoredTop sz="94660"/>
  </p:normalViewPr>
  <p:slideViewPr>
    <p:cSldViewPr snapToGrid="0">
      <p:cViewPr varScale="1">
        <p:scale>
          <a:sx n="82" d="100"/>
          <a:sy n="82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069F3B-0A18-C7DE-A849-854EC22451C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21BAD-5C8E-C166-4957-94C1556ED15E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62CB3-DF99-491E-2C4B-7D0DDB178B0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E4298-43EC-555F-C109-67C91B00DFC2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F548BC7F-2C59-4142-83C7-687CCCEFD170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813739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4BBAA2-7700-4D8C-2F48-D6826FFD47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CA78A-C60D-C349-6388-F9E5B2A18BD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430DFF9-FB3E-D84F-D0FB-C0C334B5671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0CA2E-B1B9-1A0C-59A5-F24F3570E38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8CBB9-9464-B619-34BF-69DF0435D3C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0C469-8E53-A73E-80B5-91E526F4E60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1288214E-05BE-4CCA-973D-1871AF17568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28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8ECF9-9D33-68CF-CC81-F1662ADAF11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C55D231-435F-4A92-93B5-6CC2310EF921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55D18-5073-9D72-77E6-268325A1C31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44AAC-D329-8224-D6BE-EE00CC8C18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C12BD-3B8D-C311-0996-765D945D457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A2EC66A-EA3B-46A6-9C78-DFAA78AC387E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4ABCD-B1E1-29C1-9358-376FD61E18E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9F621-AA95-2651-C79C-BF04425A4D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B2B99-9B1B-77FC-AEAE-758648099B0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3072470-F4D0-4EF8-B6C0-72D6AC0DA420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44684-58F1-2783-C8DA-6D77D12BA5C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D17E5-B60D-C013-5CAA-D0A3ABC2BAB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472CE-05B2-D877-A978-C4C543EE140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C850E8C-B4BD-4C85-8FCD-4C003F1F3257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47FF7-5412-5D8D-8A48-88A836A9BCE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2F4FA-F1AB-6B3E-F818-BB9E996E806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E8D9A-EC2C-6652-0621-996BF1BF9EE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EEAC64C-5058-4BA0-9B11-A027CCDB1624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88BD0-27E4-9132-284E-F11D8DBC885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C68CD-6723-6EEE-7B51-2E00F8F81D6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B19BF-1CA3-7E17-8AB7-DECF1DCBF60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F668333-1373-4C53-B187-23B88D0FD231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76936-E087-4ADE-E98B-730C5C04FF2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278416-2E39-954F-7D0A-4D478BE493D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2ECCA-7C1E-CCC5-345E-F7149EE768D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AA72189-5E66-4A75-94FE-0507CAC14C4C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BDF62-184B-CEE2-B025-149D6DF7CB3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89BD1-707F-975B-94CB-911D783E65E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FFA54-B83E-D75E-8987-FF87A415210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B0D0AAD-0579-4B07-9599-8194EEA7FEED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6DF0C-0549-810C-D721-D4FE47D164D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C674C-6CC0-6250-F452-A36916633B0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63980-BA5E-E883-94D0-BE12197DF2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20E18D5-8D87-4AC8-BEB4-8068A7497CC4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0E8975-6971-17E7-A0A5-9495CFEA362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AF718-ADE0-96F7-E623-98F115B95D3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03654-D412-4561-5C76-2945AF541D5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2437522-7055-4A34-B05B-55132FD7AE29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46A24-7056-91FE-45EF-1F56F64B456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C2424-D4CB-1461-AB65-FE89D907B2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74CC8-C243-3190-E540-E09DEF3236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D107675-47A3-4339-88FE-0B6553DE0424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C2260-D8ED-CB16-8F71-05B04312840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EEA3B-A3F0-41D6-8CDE-6F14755FED2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AD4F4-28B5-B0CC-ACD9-9241CB061C0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9826FE7-2799-4C59-9100-EB5FDE0067C0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37F53-7A62-8BF1-782A-88047B40374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10C90-1C60-C511-310C-6E1736CE0A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EA981-3D31-D522-E0A6-1BC27E6FEAF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36DAACC-FB86-4273-94F7-D7C02CC3BD74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9D90D-81FD-6524-8D01-3648C726EE1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88ABF-316C-2167-0E30-AFD28DF6D7B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98ABB-DD6C-2B73-17F6-1396CC56C9A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E31D575-938F-4012-89C0-C05DD529D043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259736-6F97-E933-AF0A-A0910344424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E8BD8-BA7E-EDB7-173A-AEC4F94F6F0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E0A8C-0012-2BCB-BD65-D9140A43D95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24FCA00-A829-4D8E-89F3-B6572392CA26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4694F-DCA5-A613-5E42-8AC73C9DBEB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B4EE4-6C00-25B1-5170-04E865A303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3A87E-C90B-CA60-DAC0-C7715CC8330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F6CE6D8-5D9A-4C92-8B2E-F786E3695ABE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8861C-D3F0-DC2F-EBBC-8B84B824D74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F26F3-02F0-4E7C-CCF7-0BE82040654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AECB4-B4C8-1B2E-C7DB-410F2B13E2E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979961A-D9C0-43FE-8073-257C3BC432BF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4FCEE-06BC-FFAA-16FC-3EFFFCE81AD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A6DFD0-FFFC-E304-E46E-9EE378B40B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17DB8-35F8-699F-543B-D070683BE0B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D25DEF3-98C4-4890-B3EE-CFB54675D520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330C6-E91F-2CE9-658D-024C8CB2F74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B40CB-0AAC-644C-87BC-C6F4081952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CEDF-23B1-7A3C-D507-B337BD955A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6006480-41D2-4A99-9EFB-B842396DB7C0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76B10-4EB0-AFFE-89BE-D72F55996B8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5B7FA-1A9E-917A-4940-1F2E4FEB7E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4554-BF0F-CDC5-C0C3-4F9D45496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D7143-8003-A6A3-332B-DA150828A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B1A7E-80A0-06B7-4A74-0164AA8BB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F83FF-D5A4-FDC3-83B7-8EF95F118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4C82E-326C-A328-8B27-5934C4CF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6FE0227-0C4D-455B-9EE4-5566668F0F8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1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E2F21-5B61-914D-6142-7D941604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B9D8-B9C6-98B7-2A59-52B199980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5D6F5-F667-8202-12A8-B6E9292AB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AE964-B18F-EF7A-1D25-AF180A10E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682C3-7E03-C441-1329-3E755A78A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C158C0-E14A-4B78-BBD1-2CD6C8A37D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3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5F7E-E36E-35EB-34D4-A48F5E65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89FCA-03AE-6457-8069-487C43AF8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9526D-C006-5CF1-97D8-5068532F1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BFA64-11F7-E35D-4E34-B6B5AACD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3BC12-DC10-B7D8-8964-41E06300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A793EA-20DC-4274-90D8-36CDAB1DC7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7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CC735-CFC0-81A8-8C86-53FE47BE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F1924-F21A-7F13-A861-BAF2CDB77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87420-0544-AF0D-76C8-B050B684B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0841C-3116-FB4D-F3FE-7B807BEB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5C5D1-C959-1886-BD11-1175E1BE4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06660-7F6F-12F9-5F75-FDEE862BE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547FCCF-0F7F-4B05-8377-F8F0353A31F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42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C719-9CA6-C2CD-ABA2-D67EFFDB3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BFD5-DB0A-C68C-6399-380E96C4D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69CD5-6F64-47B0-8DA1-5BF60A6EE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29DD56-084E-F064-023B-3F1ADFB0D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20211-6421-35C9-64BB-62F4E6BCA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33FDB-98E3-E06A-7E8F-C5616065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D17AAF-7B4B-012C-33FD-30BC282CA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C4BE7C-168D-7C23-59C8-B3753C32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5A207F-1167-43C2-AC0F-5C303581A29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3420-2089-650B-3D3B-6596C67B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77DE-40F9-308C-58F6-D8D28F28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5CEDB-793A-30CC-A70B-ADD50E5F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57397-4BFD-B5BE-6783-43E0B7CD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4576256-E7B0-44E4-B7DB-F843C3C27D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18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2935E-6646-F1ED-CC52-6B414CB34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64FF8-4865-0C08-50D1-947A721A1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111E6-BD3B-4253-D6DF-ACFACA18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43699A6-469A-4A07-B856-7145FD20DF9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4716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263E9-29A8-95BA-9DF9-C7044B42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B8F6A-769C-DDDB-8F85-E0FA9D1D7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D011A-A3F3-519B-CCC2-E0485F1F0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45C87-FDDE-7364-74E7-45641E6B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C2447-A67C-D3EA-4787-06876D599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7B90D-225B-F0D9-FB72-092F5EBF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3F72F5-A504-4208-A9DB-97E0A1BBCF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4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874A-4CE9-6642-8998-03A824AA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927054-85A5-3AA6-3F32-40FE3F391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5F4EB-1F90-11C4-3EA4-A19A1E4BA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A362A-4EFD-B485-528F-E101D5CD5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BD095-0FBD-CF59-1FF2-E0B9C7FAD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49336-4E43-B2CA-2AB6-6B2FE357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91E39BB-EB43-4DCF-A42A-3BD88C69B7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90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C778-DC6E-6A10-84D2-D8113239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E8B02-98E0-4906-BE90-7F98B0C16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3394D-9169-36BC-A319-A86994080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D6CDD-CC70-E519-274C-AF30F8C4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FF164-45DC-C50C-3797-97F26C7A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1ADA83B-79D7-4440-AE68-D2870B8167C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50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A412C7-B651-193C-C54D-F1F450451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1C487-4802-2732-56A1-765A34FD3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B6CE-6ECF-863D-935F-B53F617D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570E1-CB1C-EC87-A7EC-FEB56BA5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466FF-E050-99B4-EA9B-8E9B6225A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43D99D0-DB1B-4FFB-A12E-CCC546D220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36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ABF7-C0A6-F2D7-D4E9-AD5844FBD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8A547-BF20-A1EA-CA6A-F271E0BD5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0F773-4F27-22CC-8AD9-ED6F3905E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1831-DA48-4005-A037-9A77D9205C53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0C437-ACB1-6C4D-04F2-FF755BB9E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809AD-B612-E959-DE1E-6B2DCC98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F4697-ADA1-472F-9F29-D17B40C9A3A1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0243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4F14-6D02-A965-13C8-A3953748B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60148-1014-7874-1A92-34FFEEEFF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A1504-A1B4-291E-9462-E61BAA3D6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1831-DA48-4005-A037-9A77D9205C53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699C7-B002-6C04-B365-C2710F41E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92D01-A609-96AD-48F8-0E4106BB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FFC5F-208D-47F0-8E96-E6AA8E3B0B2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0541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3F77-2CFC-65A3-EC22-36C72C040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C3E09-A365-069B-057E-C346DD639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AD5CA-17BA-47F3-4002-D0B869816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1831-DA48-4005-A037-9A77D9205C53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F37B6-285A-DB28-2CA1-DD6E272B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98687-15FE-11F7-07DF-1F1684E9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C8A66-4409-415A-8ADF-8F1535B7AB18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5663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5373-CB47-9DB7-AB07-268CA5E40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08EF5-E760-5FC5-D2C5-2377CBBEE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50D0-2594-7787-AF3C-FAAC46017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B0EB1-4856-6F89-1269-E9A7E3FCD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1831-DA48-4005-A037-9A77D9205C53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FD916-67FD-DCF3-F46C-0F72DCED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0C119-56F2-FE51-3D06-AC208513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3AF5-F896-4EA5-B398-2B9D9EAD4EF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506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A6B85-BF31-A99B-AA58-D33E651A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23516-8E32-2244-6403-A353C4F7C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17594-418C-00F7-0CE9-03D57746B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14C3EB-E43C-C920-7C89-5A12894A0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3D1D8E-C43D-781E-E06E-B48E23F0F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B08263-9822-894E-79BC-E07F6A137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1831-DA48-4005-A037-9A77D9205C53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C2118-53B1-FAD4-27AA-342F0BB34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9C8A32-FDD0-5FB6-DE84-5F98BE2C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36BC8-131D-4CD3-8C53-858E9FB12F1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7687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B9971-FF54-694F-8EBF-3AC54A762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EFF4E-9997-F3A2-D813-2BDAD3D8B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1831-DA48-4005-A037-9A77D9205C53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2B5EA-ED7E-B810-B7B2-2F3D12FF6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0E49D-FCA5-96D1-49D0-3A132117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344D-8DC1-4A26-B292-19C6ADA3EAF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796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72A32-D84B-6E46-B1BD-110F6FE5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1831-DA48-4005-A037-9A77D9205C53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136A4-8821-6314-D89F-93CC57534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C9CF9-6F21-FE3E-C25D-AFCCEE96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9182-5FF9-4094-95E2-2763167E119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01650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6E28-C3DF-5232-28FD-72B7D3CA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0266B-68E6-1DF0-377C-FCD930D8D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E4F82-9292-52E0-AA0C-F7CD55A7A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FBBDF-C581-F0E4-29AA-F6264599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1831-DA48-4005-A037-9A77D9205C53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29FB1-A626-E6C7-1D37-5C6E5230D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CB040-1DD9-016F-B3BA-582741F72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9F52D-FA6B-40FF-8980-90A392414188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40361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5A4D-EFA2-A3DE-034C-C5782E129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73D4B2-A99B-8A88-1A1E-4234201B8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18ECF-2418-3061-6A52-84ABA82C6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AF859-4EC5-2231-6E15-6F4E4A6F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1831-DA48-4005-A037-9A77D9205C53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46D83-B18B-9D73-3E39-1A6CC07A9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24EA9-5EB5-CF58-0192-DA595742D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DDAD6-378D-4913-9976-C417035D51D3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7045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69647-4DCF-4D86-3950-BC2E322D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9260A-E4F5-44C5-67C6-810A58959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738DC-06A4-04CD-CA86-DC6273F21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1831-DA48-4005-A037-9A77D9205C53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61AB9-F199-DD3A-ADCA-0A8C01F2F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A866C-3067-604A-A4E0-8DDD84DE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7AAE-E416-4DD4-A102-6F814D8BE83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8465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50FB4C-4DDC-BC87-7F4F-443063DB8E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BB837-D012-14F2-7719-5A901F7AA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5B614-B5E1-8658-4B5F-A2E9DC98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1831-DA48-4005-A037-9A77D9205C53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78FB3-D16F-60C9-141D-C574097F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C2118-AD52-D10E-CD4B-BD794239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345AF-BBA4-4931-9211-EE4F6419C2E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5413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8FB6-9682-4732-C78F-748BAA954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88B55-D64C-2D43-D159-A738B0BCA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EE8EA-F458-F84B-4721-31C2F68E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2BF9-06F3-48AF-8C2A-30767D92EC92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E2664-DC64-C4F5-E8CA-9FA8695F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40001-DCB5-848B-283A-5E463EEF3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BD1ED-EC06-42BD-BBA4-2C4F98536D48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71477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6D1B0-D757-386B-66B8-6F1A96C9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25284-45BD-30F9-DD1F-0BBDA5D7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F8F8D-A052-7582-5E71-62C0D33E3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2BF9-06F3-48AF-8C2A-30767D92EC92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4E33A-53F9-865B-9908-ADAB4B54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D6ABA-1022-E3D7-35CD-60D2EBC3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F7232-7E71-47D7-960D-0B6061E53076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635527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8811-2D8D-CF77-EEB6-D415B25B6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06363-6EEA-8EDA-6A54-99B05C663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04B5-09E9-C508-B56B-366FC202E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2BF9-06F3-48AF-8C2A-30767D92EC92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5BD8C-5DB5-D194-FE60-4A2754CA1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DB2E1-AC69-B0EA-84E7-0433DF91B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AC541-07E3-4A33-9022-50660DC82DFC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0376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7773-952E-8249-FC7F-FFF31AE1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E7265-2BD1-4955-795A-5CB6429959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DCA57-428A-BFF7-F7EB-588051AAF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E8CCD-90A1-9970-F501-EA219D5D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2BF9-06F3-48AF-8C2A-30767D92EC92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ED4C7-6B75-5A9E-AF9F-B612D7C5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41B83-9275-960C-62B5-D8845EA9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F376-1D8D-49F2-83CC-BAE5102D231D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74067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59F3-EDD8-7873-9E7F-F2E35DBF8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AEF48-2633-FB6F-E8EC-5C65EB737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3DB91-F9FC-046D-7663-443140AC7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81E7E-51C5-9FE4-7160-46DD3CA5B5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B7A6CF-78EC-CDA2-748F-9C40EF04F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C4D92-A2A5-E469-4673-BC38B3A95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2BF9-06F3-48AF-8C2A-30767D92EC92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A9B97-5639-378C-B00A-0A3039212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3921AA-F175-295D-7A38-E41B95129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1EAD6-FEBE-4D61-A8B9-D4B853AA3DD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882696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8204-0306-71A1-79C8-F2E4D8ADE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72349-F9B2-37F3-09E8-AA92DCBE6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2BF9-06F3-48AF-8C2A-30767D92EC92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6E3EC-8B85-86D3-A863-D158C3246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1359E-BE75-8705-6BB5-903924B1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48762-7C6E-4AF2-B16E-0E3DB29FBB1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262684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DADC6C-3180-F580-2ED3-353F6C4DF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2BF9-06F3-48AF-8C2A-30767D92EC92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0D047-A953-56E1-F9C1-2340E1E26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8BB8E-529F-9067-718B-8848FA6E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6BA0-A170-41D8-BC9A-EBFC1902B6D1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41428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D38C-0B33-C32A-8106-BE0C407FE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40975-AEFF-A109-31F6-9114989F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5471D-ACE0-B1F6-49D6-6263A0ADB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2C920-EE5A-672D-2BAA-46F24BBED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2BF9-06F3-48AF-8C2A-30767D92EC92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E1D5B-2424-EEFA-9196-0CF94D109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60512-4D1D-C2D2-B143-C7DA9E509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5613-5B71-48F2-B436-0ACC875A6BDA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230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3AE3A-4120-1916-B774-DC4AB668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FBCD95-26DB-600A-6C84-FFDCE8F50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5E2F0-98B0-DFA6-2ABC-0FD332CBD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229FA-C00F-F189-CB32-BD2B05B1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2BF9-06F3-48AF-8C2A-30767D92EC92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E6762-4E8A-B1B6-9E28-38FEBAAF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4C12B-C911-B963-9E4F-8F37E79A6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3090-CDD1-4850-BF8E-1FDF64ACA795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46498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606DD-ED22-2201-EA37-A1E6DC9A6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6375D-81CC-E466-54DD-A278DEB2A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17902-A858-F16F-228D-B212C635F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2BF9-06F3-48AF-8C2A-30767D92EC92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32D9-C783-62DD-C071-53ECFD2EA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A5175-BC94-B3AA-5D3E-7062A23E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4E91B-119A-4D30-8A09-8CCC15B67CB5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339500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878441-FEA7-B4EB-B769-E88398A11F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BB4DE-F1EE-A811-4547-12BB91F59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D63F-7921-B00C-B86A-1EE3B0E06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2BF9-06F3-48AF-8C2A-30767D92EC92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9A0EE-4732-7B20-5EE1-FD7269FBB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AB474-AEBF-2130-9EEF-678E8A19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6013-9484-403F-AD7A-F4827B14B54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990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5A2E2-833D-DA83-4F03-35855C9768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D86FC-AC1C-709C-DCEC-A6A69F0E9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90A3F-662D-458E-E67A-8F7E9B61561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AE9AA-2C02-0548-2C85-80353571AA3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BF142-4F37-E2A9-9D41-3A7D8FD75C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BA89C4DB-44A9-4BFF-AAAB-9D3A25590A3C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C5A95-0404-C29F-BBF2-5893A1B2C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07A5A-54A0-FEAF-7255-1809305F8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EA22C-9BDF-FD61-3429-DFE1AD87F2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21831-DA48-4005-A037-9A77D9205C53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C0365-0C82-A367-16C1-82470BEA3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63C22-5034-A5DE-A52F-142DDC0DE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18DF4-8215-42A7-ADC8-0E6EEEC662CA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9B69B-3105-E179-88FA-4B868C72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12562-CE09-76E3-35AD-C28C8E9B4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46D80-B8E5-29F6-9CD4-B4A078B742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2BF9-06F3-48AF-8C2A-30767D92EC92}" type="datetimeFigureOut">
              <a:rPr lang="he-IL" smtClean="0"/>
              <a:t>ב'/כסלו/תשפ"ו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607A9-A191-DC06-1755-B6CD7B3E3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5A01C-02E3-5BAB-F131-F61332A45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675EE1-0C48-4878-B2BA-EE9299C22874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DE70-EB91-B0A6-76B0-A10A6597E3E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579240"/>
            <a:ext cx="9071640" cy="5821560"/>
          </a:xfrm>
        </p:spPr>
        <p:txBody>
          <a:bodyPr vert="horz"/>
          <a:lstStyle/>
          <a:p>
            <a:pPr lvl="0" rtl="1"/>
            <a:r>
              <a:rPr lang="he-IL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אלגוריתמים מגלי-אמת</a:t>
            </a:r>
            <a:br>
              <a:rPr lang="en-US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r>
              <a:rPr lang="he-IL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מתקדמים</a:t>
            </a:r>
            <a:br>
              <a:rPr lang="en-US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br>
              <a:rPr lang="en-US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r>
              <a:rPr lang="en-US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Advanced Truthful Algorithms</a:t>
            </a:r>
            <a:br>
              <a:rPr lang="en-US" sz="6600" b="1">
                <a:latin typeface="Liberation Sans" pitchFamily="34"/>
                <a:cs typeface="Liberation Sans" pitchFamily="34"/>
              </a:rPr>
            </a:br>
            <a:br>
              <a:rPr lang="en-US" sz="4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AB388C-6D1C-BC1A-465A-712DD673CC2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08080" y="1079611"/>
            <a:ext cx="9576000" cy="6336360"/>
          </a:xfrm>
        </p:spPr>
        <p:txBody>
          <a:bodyPr vert="horz">
            <a:noAutofit/>
          </a:bodyPr>
          <a:lstStyle/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cs typeface="Liberation Sans" pitchFamily="34"/>
              </a:rPr>
              <a:t>נתון תרמיל המסוגל לשאת עד </a:t>
            </a:r>
            <a:r>
              <a:rPr lang="en-US" sz="3600">
                <a:cs typeface="Liberation Sans" pitchFamily="34"/>
              </a:rPr>
              <a:t>100 ק"ג </a:t>
            </a:r>
            <a:br>
              <a:rPr lang="en-US" sz="3600">
                <a:cs typeface="Liberation Sans" pitchFamily="34"/>
              </a:rPr>
            </a:br>
            <a:r>
              <a:rPr lang="he-IL" sz="3600">
                <a:solidFill>
                  <a:srgbClr val="CC00CC"/>
                </a:solidFill>
                <a:cs typeface="Liberation Sans" pitchFamily="34"/>
              </a:rPr>
              <a:t>(= 100 </a:t>
            </a:r>
            <a:r>
              <a:rPr lang="en-US" sz="3600">
                <a:solidFill>
                  <a:srgbClr val="CC00CC"/>
                </a:solidFill>
                <a:cs typeface="Liberation Sans" pitchFamily="34"/>
              </a:rPr>
              <a:t>שניות המיועדות לפירסום</a:t>
            </a:r>
            <a:r>
              <a:rPr lang="he-IL" sz="3600">
                <a:solidFill>
                  <a:srgbClr val="CC00CC"/>
                </a:solidFill>
                <a:cs typeface="Liberation Sans" pitchFamily="34"/>
              </a:rPr>
              <a:t>)</a:t>
            </a:r>
            <a:r>
              <a:rPr lang="en-US" sz="3600">
                <a:solidFill>
                  <a:srgbClr val="CC00CC"/>
                </a:solidFill>
                <a:cs typeface="Liberation Sans" pitchFamily="34"/>
              </a:rPr>
              <a:t>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cs typeface="Liberation Sans" pitchFamily="34"/>
              </a:rPr>
              <a:t>נתונים חפצים עם משקלים שונים וערכים שונים</a:t>
            </a:r>
            <a:br>
              <a:rPr lang="en-US" sz="3600">
                <a:cs typeface="Liberation Sans" pitchFamily="34"/>
              </a:rPr>
            </a:br>
            <a:r>
              <a:rPr lang="he-IL" sz="3600">
                <a:solidFill>
                  <a:srgbClr val="CC00CC"/>
                </a:solidFill>
                <a:cs typeface="Liberation Sans" pitchFamily="34"/>
              </a:rPr>
              <a:t>(=</a:t>
            </a:r>
            <a:r>
              <a:rPr lang="en-US" sz="3600">
                <a:solidFill>
                  <a:srgbClr val="CC00CC"/>
                </a:solidFill>
                <a:cs typeface="Liberation Sans" pitchFamily="34"/>
              </a:rPr>
              <a:t> לכל מפרסם יש מודעה באורך אחר וערך אחר</a:t>
            </a:r>
            <a:r>
              <a:rPr lang="he-IL" sz="3600">
                <a:solidFill>
                  <a:srgbClr val="CC00CC"/>
                </a:solidFill>
                <a:cs typeface="Liberation Sans" pitchFamily="34"/>
              </a:rPr>
              <a:t>).</a:t>
            </a:r>
            <a:endParaRPr lang="en-US" sz="3600">
              <a:solidFill>
                <a:srgbClr val="CC00CC"/>
              </a:solidFill>
              <a:cs typeface="Liberation Sans" pitchFamily="34"/>
            </a:endParaRP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cs typeface="Liberation Sans" pitchFamily="34"/>
              </a:rPr>
              <a:t>צריך למלא את התרמיל בחפצים במשקל כולל עד  100, </a:t>
            </a:r>
            <a:r>
              <a:rPr lang="en-US" sz="3600">
                <a:cs typeface="Liberation Sans" pitchFamily="34"/>
              </a:rPr>
              <a:t>כך שסכום הערכים גבוה ככל האפשר</a:t>
            </a:r>
            <a:br>
              <a:rPr lang="en-US" sz="3600">
                <a:cs typeface="Liberation Sans" pitchFamily="34"/>
              </a:rPr>
            </a:br>
            <a:r>
              <a:rPr lang="he-IL" sz="3600">
                <a:solidFill>
                  <a:srgbClr val="CC00CC"/>
                </a:solidFill>
                <a:cs typeface="Liberation Sans" pitchFamily="34"/>
              </a:rPr>
              <a:t>(= </a:t>
            </a:r>
            <a:r>
              <a:rPr lang="en-US" sz="3600">
                <a:solidFill>
                  <a:srgbClr val="CC00CC"/>
                </a:solidFill>
                <a:cs typeface="Liberation Sans" pitchFamily="34"/>
              </a:rPr>
              <a:t>צריך למלא את הזמן בפרסומות באורך כולל עד 100, כך שסכום הערכים גבוה ככל האפשר</a:t>
            </a:r>
            <a:r>
              <a:rPr lang="he-IL" sz="3600">
                <a:solidFill>
                  <a:srgbClr val="CC00CC"/>
                </a:solidFill>
                <a:cs typeface="Liberation Sans" pitchFamily="34"/>
              </a:rPr>
              <a:t>).</a:t>
            </a:r>
            <a:endParaRPr lang="en-US" sz="3600">
              <a:solidFill>
                <a:srgbClr val="CC00CC"/>
              </a:solidFill>
              <a:cs typeface="Liberation Sans" pitchFamily="34"/>
            </a:endParaRP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solidFill>
                  <a:srgbClr val="C9211E"/>
                </a:solidFill>
                <a:cs typeface="Liberation Sans" pitchFamily="34"/>
              </a:rPr>
              <a:t>הבעיה היא </a:t>
            </a:r>
            <a:r>
              <a:rPr lang="en-US" sz="3600">
                <a:solidFill>
                  <a:srgbClr val="C9211E"/>
                </a:solidFill>
                <a:cs typeface="Liberation Sans" pitchFamily="34"/>
              </a:rPr>
              <a:t>NP</a:t>
            </a:r>
            <a:r>
              <a:rPr lang="he-IL" sz="3600">
                <a:solidFill>
                  <a:srgbClr val="C9211E"/>
                </a:solidFill>
                <a:cs typeface="Liberation Sans" pitchFamily="34"/>
              </a:rPr>
              <a:t>-</a:t>
            </a:r>
            <a:r>
              <a:rPr lang="en-US" sz="3600">
                <a:solidFill>
                  <a:srgbClr val="C9211E"/>
                </a:solidFill>
                <a:cs typeface="Liberation Sans" pitchFamily="34"/>
              </a:rPr>
              <a:t>קשה</a:t>
            </a:r>
            <a:r>
              <a:rPr lang="he-IL" sz="3600">
                <a:solidFill>
                  <a:srgbClr val="C9211E"/>
                </a:solidFill>
                <a:cs typeface="Liberation Sans" pitchFamily="34"/>
              </a:rPr>
              <a:t>,</a:t>
            </a:r>
            <a:br>
              <a:rPr lang="en-US" sz="3600">
                <a:solidFill>
                  <a:srgbClr val="C9211E"/>
                </a:solidFill>
                <a:cs typeface="Liberation Sans" pitchFamily="34"/>
              </a:rPr>
            </a:br>
            <a:r>
              <a:rPr lang="he-IL" sz="3600">
                <a:solidFill>
                  <a:srgbClr val="006600"/>
                </a:solidFill>
                <a:cs typeface="Liberation Sans" pitchFamily="34"/>
              </a:rPr>
              <a:t>אבל יש לה אלגוריתמי-קירוב טובים.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D92D5B-2F94-7B16-0425-75F28A9B793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2600"/>
            <a:ext cx="10080000" cy="108288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בעיית התרמיל (</a:t>
            </a:r>
            <a:r>
              <a:rPr lang="en-US" sz="4800" b="1">
                <a:cs typeface="Liberation Sans" pitchFamily="34"/>
              </a:rPr>
              <a:t>knapsack</a:t>
            </a:r>
            <a:r>
              <a:rPr lang="he-IL" sz="4800" b="1">
                <a:cs typeface="Liberation Sans" pitchFamily="34"/>
              </a:rPr>
              <a:t>)</a:t>
            </a:r>
            <a:endParaRPr lang="en-US" sz="4800" b="1">
              <a:cs typeface="Liberation Sans" pitchFamily="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96AD-09CF-AF67-51C1-6ADC8E31DA5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7560"/>
            <a:ext cx="10080000" cy="136260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אלגוריתמי קירוב למילוי תרמיל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B54005-718E-DE85-BC60-00B2C7C1F7B9}"/>
              </a:ext>
            </a:extLst>
          </p:cNvPr>
          <p:cNvSpPr txBox="1"/>
          <p:nvPr/>
        </p:nvSpPr>
        <p:spPr>
          <a:xfrm>
            <a:off x="86324" y="1347480"/>
            <a:ext cx="9993675" cy="4338195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חמדני א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36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סדר את החפצים בסדר יורד של הערך.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חפצים לפי הסדר עד שהתרמיל מתמלא.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1" u="none" strike="noStrike" kern="1200" cap="none">
              <a:ln>
                <a:noFill/>
              </a:ln>
              <a:solidFill>
                <a:srgbClr val="FF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הקירוב עלול להיות גרוע</a:t>
            </a:r>
            <a:r>
              <a:rPr lang="en-US" sz="28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28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28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גודל התרמיל </a:t>
            </a:r>
            <a:r>
              <a:rPr lang="he-IL" sz="28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= 100):</a:t>
            </a:r>
            <a:endParaRPr lang="en-US" sz="3600" b="0" i="0" u="none" strike="noStrike" kern="1200" cap="none">
              <a:ln>
                <a:noFill/>
              </a:ln>
              <a:solidFill>
                <a:srgbClr val="FF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$100/100k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$20/2k, $20/2k, $20/2k …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FF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C2CC0-1F33-1172-20D1-751FD560737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7560"/>
            <a:ext cx="10080000" cy="136260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אלגוריתמי קירוב למילוי תרמיל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62B41B-4A3B-A9AD-DEDB-AEB75E415281}"/>
              </a:ext>
            </a:extLst>
          </p:cNvPr>
          <p:cNvSpPr txBox="1"/>
          <p:nvPr/>
        </p:nvSpPr>
        <p:spPr>
          <a:xfrm>
            <a:off x="86324" y="1347480"/>
            <a:ext cx="9993675" cy="4338195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חמדני ב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CC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סדר את החפצים בסדר יורד של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ערך/משקל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חפצים לפי הסדר עד שהתרמיל מתמלא.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1" u="none" strike="noStrike" kern="1200" cap="none">
              <a:ln>
                <a:noFill/>
              </a:ln>
              <a:solidFill>
                <a:srgbClr val="FF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הקירוב עלול להיות גרוע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$3/2k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$100/100k.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FF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A379-60F0-81F1-E935-21CEEB4A1F2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7920"/>
            <a:ext cx="10080000" cy="1362600"/>
          </a:xfrm>
        </p:spPr>
        <p:txBody>
          <a:bodyPr vert="horz"/>
          <a:lstStyle/>
          <a:p>
            <a:pPr lvl="0" rtl="1"/>
            <a:r>
              <a:rPr lang="en-US" sz="4800" b="1">
                <a:cs typeface="Liberation Sans" pitchFamily="34"/>
              </a:rPr>
              <a:t>"טוֹבִים הַשְּׁנַיִם מִן הָאֶחָד </a:t>
            </a:r>
            <a:br>
              <a:rPr lang="en-US" sz="4800" b="1">
                <a:cs typeface="Liberation Sans" pitchFamily="34"/>
              </a:rPr>
            </a:br>
            <a:r>
              <a:rPr lang="he-IL" sz="4800" b="1">
                <a:cs typeface="Liberation Sans" pitchFamily="34"/>
              </a:rPr>
              <a:t>אֲשֶׁר יֵשׁ לָהֶם שָׂכָר טוֹב בַּעֲמָלָם"</a:t>
            </a:r>
            <a:r>
              <a:rPr lang="he-IL" sz="2400" b="1">
                <a:cs typeface="Liberation Sans" pitchFamily="34"/>
              </a:rPr>
              <a:t>(</a:t>
            </a:r>
            <a:r>
              <a:rPr lang="en-US" sz="2400" b="1">
                <a:cs typeface="Liberation Sans" pitchFamily="34"/>
              </a:rPr>
              <a:t>קהלת ד 9</a:t>
            </a:r>
            <a:r>
              <a:rPr lang="he-IL" sz="2400" b="1">
                <a:cs typeface="Liberation Sans" pitchFamily="34"/>
              </a:rPr>
              <a:t>)</a:t>
            </a:r>
            <a:endParaRPr lang="en-US" sz="2400" b="1">
              <a:cs typeface="Liberation Sans" pitchFamily="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E620C-96F7-408B-606E-A44682C6A5CE}"/>
              </a:ext>
            </a:extLst>
          </p:cNvPr>
          <p:cNvSpPr txBox="1"/>
          <p:nvPr/>
        </p:nvSpPr>
        <p:spPr>
          <a:xfrm>
            <a:off x="470660" y="1347480"/>
            <a:ext cx="9609339" cy="6467817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א+ב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הפעל את שני האלגוריתמים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החמדניים</a:t>
            </a:r>
            <a:r>
              <a:rPr lang="he-IL" sz="3600"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את התוצאה עם הסכום הגבוה.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3600" b="0" i="0" u="none" strike="noStrike" kern="1200" cap="none">
              <a:ln>
                <a:noFill/>
              </a:ln>
              <a:solidFill>
                <a:srgbClr val="CC00CC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א+ב נותן קירוב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½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(= </a:t>
            </a:r>
            <a:r>
              <a:rPr lang="en-US" sz="28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משיג לפחות ½ </a:t>
            </a:r>
            <a:r>
              <a:rPr lang="he-IL" sz="28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28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מהערך הגבוה ביותר האפשרי</a:t>
            </a:r>
            <a:r>
              <a:rPr lang="he-IL" sz="28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3600" b="0" i="0" u="none" strike="noStrike" kern="1200" cap="none">
              <a:ln>
                <a:noFill/>
              </a:ln>
              <a:solidFill>
                <a:srgbClr val="00CC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שאלגוריתם ב עוצר אחרי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חפצים.</a:t>
            </a:r>
            <a:b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עם החפץ ה-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+1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הסכום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&gt;= הסכום 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מקסימלי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הסכום של אלגוריתם א הוא לפחות החפץ ה-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+1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-&gt;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הסכום של אלגוריתמים א+ב &gt;= ה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מקסימלי.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-&gt;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הסכום של א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או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ב </a:t>
            </a:r>
            <a:r>
              <a:rPr lang="he-IL" sz="3600"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&gt;= 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מקסימלי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/ 2.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D531-791E-0F60-3376-B5084061D9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7560"/>
            <a:ext cx="10080000" cy="136260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אלגוריתם מגלה-אמת למילוי תרמיל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757AD8-763B-0112-7CA3-09A87BCDF707}"/>
              </a:ext>
            </a:extLst>
          </p:cNvPr>
          <p:cNvSpPr txBox="1"/>
          <p:nvPr/>
        </p:nvSpPr>
        <p:spPr>
          <a:xfrm>
            <a:off x="428085" y="1347480"/>
            <a:ext cx="9651914" cy="59309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א+ב ללא תשלומים אינו מגלה-אמת.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CC00CC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האם אלגוריתם א+ב עם תשלומי וק"ג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מגלה-אמת?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$54/52k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$52/51k, $49/49k.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הראשון זוכה ומשלם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$101</a:t>
            </a:r>
            <a:r>
              <a:rPr lang="he-IL" sz="3600"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à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האלגוריתם אינו מגלה-אמת.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à"/>
              <a:tabLst/>
            </a:pPr>
            <a:endParaRPr lang="he-IL" sz="3600" b="0" i="0" u="none" strike="noStrike" kern="1200" cap="none">
              <a:ln>
                <a:noFill/>
              </a:ln>
              <a:solidFill>
                <a:srgbClr val="C9211E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איפה ההוכחה "נופלת"?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A98E-CDC3-7F71-38C3-DC901100A60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3760"/>
            <a:ext cx="10080000" cy="1394639"/>
          </a:xfrm>
        </p:spPr>
        <p:txBody>
          <a:bodyPr vert="horz"/>
          <a:lstStyle/>
          <a:p>
            <a:pPr lvl="0" rtl="1"/>
            <a:r>
              <a:rPr lang="he-IL" b="1">
                <a:cs typeface="Liberation Sans" pitchFamily="34"/>
              </a:rPr>
              <a:t>מכרז מאירסון (</a:t>
            </a:r>
            <a:r>
              <a:rPr lang="en-US" b="1">
                <a:cs typeface="Liberation Sans" pitchFamily="34"/>
              </a:rPr>
              <a:t>Myerson)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766AB-DDE8-1C2D-4EE2-AC92A30D6B04}"/>
              </a:ext>
            </a:extLst>
          </p:cNvPr>
          <p:cNvSpPr txBox="1"/>
          <p:nvPr/>
        </p:nvSpPr>
        <p:spPr>
          <a:xfrm>
            <a:off x="474640" y="914400"/>
            <a:ext cx="9492320" cy="6461854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נתונים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כלל-בחירה הקובע לכל משתתף אם נבחר או לא:</a:t>
            </a:r>
          </a:p>
          <a:p>
            <a:pPr marL="0" marR="0" lvl="2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"בחר את השלושה עם הערכים הגבוהים"</a:t>
            </a:r>
          </a:p>
          <a:p>
            <a:pPr marL="0" marR="0" lvl="2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"בחר את כל מי שערכו גדול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מ-10"</a:t>
            </a:r>
            <a:endParaRPr lang="en-US" sz="3600" b="0" i="1" u="none" strike="noStrike" kern="1200" cap="none">
              <a:ln>
                <a:noFill/>
              </a:ln>
              <a:solidFill>
                <a:srgbClr val="00CC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2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"בחר את המסלול הזול ביותר"</a:t>
            </a:r>
          </a:p>
          <a:p>
            <a:pPr marL="0" marR="0" lvl="2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"בחר בעזרת אלגוריתם חמדני א"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לכל משתתף יש ערך ל”היבחרות”.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דרוש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כלל-תשלום,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     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שאיתו המכרז יגלה-אמת.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3600" b="0" i="1" u="none" strike="noStrike" kern="1200" cap="none">
              <a:ln>
                <a:noFill/>
              </a:ln>
              <a:solidFill>
                <a:srgbClr val="99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האם לכל כלל-בחירה קיים</a:t>
            </a:r>
            <a:br>
              <a:rPr lang="en-US" sz="3600" b="0" i="1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1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     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כלל-תשלום מגלה-אמת?</a:t>
            </a: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7E7A6AC6-9700-AE5A-BFCF-F2BCB0A54DCF}"/>
              </a:ext>
            </a:extLst>
          </p:cNvPr>
          <p:cNvSpPr/>
          <p:nvPr/>
        </p:nvSpPr>
        <p:spPr>
          <a:xfrm>
            <a:off x="0" y="3341159"/>
            <a:ext cx="3474720" cy="415691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99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200"/>
            </a:pPr>
            <a:r>
              <a:rPr lang="en-US" sz="32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      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כלל-בחירה-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</a:br>
            <a:r>
              <a:rPr lang="he-IL" sz="32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נתון</a:t>
            </a: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200"/>
            </a:pPr>
            <a:endParaRPr lang="en-US" sz="32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200"/>
            </a:pPr>
            <a:r>
              <a:rPr lang="en-US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   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כלל-תשלום-</a:t>
            </a: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200"/>
            </a:pPr>
            <a:r>
              <a:rPr lang="en-US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צריך למצוא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F64297A-5AD8-34D1-527E-72AA863205CF}"/>
              </a:ext>
            </a:extLst>
          </p:cNvPr>
          <p:cNvSpPr/>
          <p:nvPr/>
        </p:nvSpPr>
        <p:spPr>
          <a:xfrm flipH="1" flipV="1">
            <a:off x="0" y="5486399"/>
            <a:ext cx="2651760" cy="9144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94E2EFE-7327-7889-C718-4A8B5FA45CBE}"/>
              </a:ext>
            </a:extLst>
          </p:cNvPr>
          <p:cNvSpPr/>
          <p:nvPr/>
        </p:nvSpPr>
        <p:spPr>
          <a:xfrm>
            <a:off x="2651760" y="3566160"/>
            <a:ext cx="91439" cy="35661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BD8B8-99E0-9CD0-37DE-C39C8C326B0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3760"/>
            <a:ext cx="10080000" cy="1394639"/>
          </a:xfrm>
        </p:spPr>
        <p:txBody>
          <a:bodyPr vert="horz"/>
          <a:lstStyle/>
          <a:p>
            <a:pPr lvl="0" rtl="1"/>
            <a:r>
              <a:rPr lang="he-IL" b="1">
                <a:cs typeface="Liberation Sans" pitchFamily="34"/>
              </a:rPr>
              <a:t>כלל-בחירה מונוטוני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4607A9-A8E6-A43D-B18D-653A04410A00}"/>
              </a:ext>
            </a:extLst>
          </p:cNvPr>
          <p:cNvSpPr txBox="1"/>
          <p:nvPr/>
        </p:nvSpPr>
        <p:spPr>
          <a:xfrm>
            <a:off x="149152" y="1089870"/>
            <a:ext cx="9781695" cy="646980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הגדרה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B2B2B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כלל-בחירה נקרא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B2B2B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מונוטוני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B2B2B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אם, עבור כל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B2B2B2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B2B2B2"/>
                </a:solidFill>
                <a:latin typeface="Liberation Sans" pitchFamily="34"/>
                <a:ea typeface="David CLM" pitchFamily="2"/>
                <a:cs typeface="Liberation Sans" pitchFamily="34"/>
              </a:rPr>
              <a:t>, ההסתברות ש-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B2B2B2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B2B2B2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B2B2B2"/>
                </a:solidFill>
                <a:latin typeface="Liberation Sans" pitchFamily="34"/>
                <a:ea typeface="David CLM" pitchFamily="2"/>
                <a:cs typeface="Liberation Sans" pitchFamily="34"/>
              </a:rPr>
              <a:t>נבחר היא פונקציה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B2B2B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עולה של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B2B2B2"/>
                </a:solidFill>
                <a:latin typeface="Times New Roman" pitchFamily="18"/>
                <a:ea typeface="David CLM" pitchFamily="2"/>
                <a:cs typeface="Times New Roman" pitchFamily="18"/>
              </a:rPr>
              <a:t>v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B2B2B2"/>
                </a:solidFill>
                <a:latin typeface="Times New Roman" pitchFamily="18"/>
                <a:ea typeface="David CLM" pitchFamily="2"/>
                <a:cs typeface="Times New Roman" pitchFamily="18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B2B2B2"/>
                </a:solidFill>
                <a:latin typeface="Liberation Sans" pitchFamily="34"/>
                <a:ea typeface="David CLM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B2B2B2"/>
              </a:solidFill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כלל-בחירה </a:t>
            </a: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דטרמיניסטי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הוא מונוטוני אם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עבור כל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אם הוא נבחר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כשהערך שלו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David CLM" pitchFamily="2"/>
                <a:cs typeface="Liberation Sans" pitchFamily="34"/>
              </a:rPr>
              <a:t>x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אז הוא נבחר גם כשהערך שלו הוא כל מספר הגדול מ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דוגמאות לכללים מונוטוניים: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את 3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הערכים הגדולים ביותר.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את הערך הגדול ביותר, בתנאי שהוא מעל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10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00CC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בעזרת אלגוריתם חמדני א / ב / א+ב.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דוגמאות לכללים לא מונוטוניים: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את הערך השני מלמעלה.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את הערך הגדול ביותר, אם הוא מתחת ל-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7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FF33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95936-853D-CBD2-E50F-BDA7D700F09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3760"/>
            <a:ext cx="10080000" cy="1394639"/>
          </a:xfrm>
        </p:spPr>
        <p:txBody>
          <a:bodyPr vert="horz"/>
          <a:lstStyle/>
          <a:p>
            <a:pPr lvl="0" rtl="1"/>
            <a:r>
              <a:rPr lang="he-IL" b="1">
                <a:cs typeface="Liberation Sans" pitchFamily="34"/>
              </a:rPr>
              <a:t>משפט מאירסון (</a:t>
            </a:r>
            <a:r>
              <a:rPr lang="en-US" b="1">
                <a:cs typeface="Liberation Sans" pitchFamily="34"/>
              </a:rPr>
              <a:t>Myerson</a:t>
            </a:r>
            <a:r>
              <a:rPr lang="he-IL" b="1">
                <a:cs typeface="Liberation Sans" pitchFamily="34"/>
              </a:rPr>
              <a:t>)</a:t>
            </a:r>
            <a:endParaRPr lang="en-US" b="1">
              <a:cs typeface="Liberation Sans" pitchFamily="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00972-5770-98CD-9D29-E7F8AA81B2EE}"/>
              </a:ext>
            </a:extLst>
          </p:cNvPr>
          <p:cNvSpPr txBox="1"/>
          <p:nvPr/>
        </p:nvSpPr>
        <p:spPr>
          <a:xfrm>
            <a:off x="267089" y="1021783"/>
            <a:ext cx="9695970" cy="646185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משפט מאירסון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מונוטוניות היא תנאי הכרחי ומספיק לגילוי-אמת.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 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כלומר: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(א)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כלל-בחירה לא-מונוטוני -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                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אין כלל-תשלום מגלה-אמת.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(ב)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כלל-בחירה מונוטוני -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               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קיים כלל-תשלום מגלה-אמת.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(ג)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כל שחקן שאינו נבחר</a:t>
            </a:r>
            <a:r>
              <a:rPr lang="he-IL" sz="3600"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אינו משלם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                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 כלל-התשלום הוא יחיד.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בשקפים הבאים: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נוכיח את משפט מאירסון.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נגדיר במדוייק את כלל-התשלומים.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A591-9095-7E7F-8905-16E6083719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32120"/>
            <a:ext cx="10080000" cy="108288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הוכחת משפט מאירסון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981E46-C3E1-AB86-9839-E4A092EBCC15}"/>
              </a:ext>
            </a:extLst>
          </p:cNvPr>
          <p:cNvSpPr txBox="1"/>
          <p:nvPr/>
        </p:nvSpPr>
        <p:spPr>
          <a:xfrm>
            <a:off x="238124" y="1283040"/>
            <a:ext cx="9743595" cy="434614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סימונים: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66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כלל-הבחירה –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 </a:t>
            </a:r>
            <a:r>
              <a:rPr lang="he-IL" sz="3600" i="1">
                <a:solidFill>
                  <a:srgbClr val="66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-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66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פונקציה המקבלת כקלט את הערכים של כל המשתתפים, ומחזירה וקטור בינארי (1 = "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נבחרת</a:t>
            </a:r>
            <a:r>
              <a:rPr lang="he-IL" sz="3600" i="1">
                <a:solidFill>
                  <a:srgbClr val="66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!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”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66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0 =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"לא נבחרת.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66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").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נתון וקבוע.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כלל התשלום –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פונקציה המקבלת כקלט את הערכים של כל המשתתפים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ומחזירה וקטור מספרי של תשלומים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את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אנחנו מחפשים.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1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FD583-0537-1353-3486-DE61E1767B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32120"/>
            <a:ext cx="10080000" cy="108288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הוכחת משפט מאירסון - המשך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98696-5E41-7EEA-34D6-EE82070449C9}"/>
              </a:ext>
            </a:extLst>
          </p:cNvPr>
          <p:cNvSpPr txBox="1"/>
          <p:nvPr/>
        </p:nvSpPr>
        <p:spPr>
          <a:xfrm>
            <a:off x="615573" y="1283040"/>
            <a:ext cx="9464427" cy="5407655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התועלת של משתתף עם ערך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שאומר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היא: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v*c(x) – p(x)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במכרז מגלה-אמת, חייב להתקיים, לכל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,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36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v*c(v) – p(v) 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≥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 v*c(x) - p(x)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התועלת של משתתף עם ערך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שאומר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היא: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x*c(v) – p(v)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במכרז מגלה-אמת חייב להתקיים, לכל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v,x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3600" b="0" i="1" u="none" strike="noStrike" kern="1200" cap="none">
              <a:ln>
                <a:noFill/>
              </a:ln>
              <a:solidFill>
                <a:srgbClr val="00CC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x*c(x) – p(x) ≥ x*c(v) – p(v)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מחברים את המשוואות ומקבלים: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v*[c(v)–c(x)]   ≥   p(v)-p(x)   ≥  x*[c(v) – c(x)]</a:t>
            </a: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F3CDD60B-EE2D-484C-2E96-5D41F6116FD6}"/>
              </a:ext>
            </a:extLst>
          </p:cNvPr>
          <p:cNvSpPr/>
          <p:nvPr/>
        </p:nvSpPr>
        <p:spPr>
          <a:xfrm>
            <a:off x="365760" y="6949440"/>
            <a:ext cx="2102760" cy="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2" fill="none">
                <a:moveTo>
                  <a:pt x="5842" y="0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9900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52CA-E5C1-4AF5-B581-1994B923263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32120"/>
            <a:ext cx="10080000" cy="108288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הוכחת משפט מאירסון - המשך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5AF71-BB90-8C57-D9E7-E2EDCF88F3C2}"/>
              </a:ext>
            </a:extLst>
          </p:cNvPr>
          <p:cNvSpPr txBox="1"/>
          <p:nvPr/>
        </p:nvSpPr>
        <p:spPr>
          <a:xfrm>
            <a:off x="-206383" y="1097280"/>
            <a:ext cx="10286383" cy="64716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נתון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כלל-בחירה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he-IL" sz="3600"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דרוש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כלל-תשלום מגלה-אמת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1" i="1" u="none" strike="noStrike" kern="1200" cap="none">
                <a:ln>
                  <a:noFill/>
                </a:ln>
                <a:solidFill>
                  <a:srgbClr val="3333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v[c(v)–c(x)]   ≥   p(v)-p(x)   ≥  x[c(v) – c(x)]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1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מצב </a:t>
            </a: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David CLM" pitchFamily="2"/>
                <a:cs typeface="Liberation Sans" pitchFamily="34"/>
              </a:rPr>
              <a:t>c(v)=c(x)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1" i="1" u="none" strike="noStrike" kern="1200" cap="none">
                <a:ln>
                  <a:noFill/>
                </a:ln>
                <a:solidFill>
                  <a:srgbClr val="3333FF"/>
                </a:solidFill>
                <a:latin typeface="Times New Roman" pitchFamily="18"/>
                <a:ea typeface="David CLM" pitchFamily="2"/>
                <a:cs typeface="Liberation Sans" pitchFamily="34"/>
              </a:rPr>
              <a:t>0  ≥   p(v)-p(x)   ≥  0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מכאן: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David CLM" pitchFamily="2"/>
                <a:cs typeface="Liberation Sans" pitchFamily="34"/>
              </a:rPr>
              <a:t>p(v)=p(x)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he-IL" sz="3600">
                <a:latin typeface="Liberation Sans" pitchFamily="34"/>
                <a:ea typeface="David CLM" pitchFamily="2"/>
                <a:cs typeface="Liberation Sans" pitchFamily="34"/>
              </a:rPr>
              <a:t> -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התשלום על בחירה לא תלוי בערך.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מצב ב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David CLM" pitchFamily="2"/>
                <a:cs typeface="Liberation Sans" pitchFamily="34"/>
              </a:rPr>
              <a:t>c(v)&gt;c(x)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כלומר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David CLM" pitchFamily="2"/>
                <a:cs typeface="Liberation Sans" pitchFamily="34"/>
              </a:rPr>
              <a:t>c(v)=1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וגם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David CLM" pitchFamily="2"/>
                <a:cs typeface="Liberation Sans" pitchFamily="34"/>
              </a:rPr>
              <a:t>c(x)=0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1" i="1" u="none" strike="noStrike" kern="1200" cap="none">
                <a:ln>
                  <a:noFill/>
                </a:ln>
                <a:solidFill>
                  <a:srgbClr val="3333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  ≥   p(v)-p(x)   ≥  x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מכאן: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David CLM" pitchFamily="2"/>
                <a:cs typeface="Liberation Sans" pitchFamily="34"/>
              </a:rPr>
              <a:t>v&gt;x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he-IL" sz="3600">
                <a:latin typeface="Liberation Sans" pitchFamily="34"/>
                <a:ea typeface="David CLM" pitchFamily="2"/>
                <a:cs typeface="Liberation Sans" pitchFamily="34"/>
              </a:rPr>
              <a:t> -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הפונקציה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David CLM" pitchFamily="2"/>
                <a:cs typeface="Liberation Sans" pitchFamily="34"/>
              </a:rPr>
              <a:t>c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חייבת להיות </a:t>
            </a: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מונוטונית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David CLM" pitchFamily="2"/>
                <a:cs typeface="Liberation Sans" pitchFamily="34"/>
              </a:rPr>
              <a:t>         *** הוכחנו את חלק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David CLM" pitchFamily="2"/>
                <a:cs typeface="Liberation Sans" pitchFamily="34"/>
              </a:rPr>
              <a:t>(א)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של משפט מאירסון.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8F50-B5EB-EB18-5B22-211D23F4D60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32120"/>
            <a:ext cx="10080000" cy="108288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משפט מאירסון – ערך הסף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22591-EE21-72BF-A125-78E85B9CEAE0}"/>
              </a:ext>
            </a:extLst>
          </p:cNvPr>
          <p:cNvSpPr txBox="1"/>
          <p:nvPr/>
        </p:nvSpPr>
        <p:spPr>
          <a:xfrm>
            <a:off x="590550" y="1097280"/>
            <a:ext cx="9489450" cy="646384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לפונקציית-בחירה מונוטונית יש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ערך סף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= 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David CLM" pitchFamily="2"/>
                <a:cs typeface="Liberation Sans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הערך שבו הפונקציה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3333FF"/>
                </a:solidFill>
                <a:latin typeface="Times New Roman" pitchFamily="18"/>
                <a:ea typeface="David CLM" pitchFamily="2"/>
                <a:cs typeface="Liberation Sans" pitchFamily="34"/>
              </a:rPr>
              <a:t>c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מתחלפת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מ-0 ל-1.</a:t>
            </a:r>
            <a:endParaRPr lang="en-US" sz="3600" b="0" i="0" u="none" strike="noStrike" kern="1200" cap="none">
              <a:ln>
                <a:noFill/>
              </a:ln>
              <a:solidFill>
                <a:srgbClr val="3333FF"/>
              </a:solidFill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ערך-הסף יכול להיות שונה משחקן לשחקן. דוגמאות:</a:t>
            </a:r>
          </a:p>
          <a:p>
            <a:pPr marL="457200" marR="0" lvl="0" indent="-2286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אם הכלל הוא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"בחר את כל הערכים הגדולים מ-10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",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אז ערך-הסף לכל השחקנים הוא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10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457200" marR="0" lvl="0" indent="-2286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אם הכלל הוא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"בחר את הערך הגבוה ביותר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",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אז ערך-הסף של הנבחר הוא המחיר השני.</a:t>
            </a:r>
          </a:p>
          <a:p>
            <a:pPr marL="457200" marR="0" lvl="0" indent="-2286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א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ם הכלל הוא "הרץ אלגוריתם חמדני ב", אז ערך-הסף של כל שחקן יהיה תלוי במשקל שלו.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A8D4-0459-F5D1-C394-53CEF889522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32120"/>
            <a:ext cx="10080000" cy="108288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הוכחת משפט מאירסון - המשך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5026BD-46FC-7B0F-0612-144CE625F5ED}"/>
              </a:ext>
            </a:extLst>
          </p:cNvPr>
          <p:cNvSpPr txBox="1"/>
          <p:nvPr/>
        </p:nvSpPr>
        <p:spPr>
          <a:xfrm>
            <a:off x="352425" y="1097280"/>
            <a:ext cx="9727575" cy="647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נתון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כלל-בחירה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דרוש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כלל-תשלום מגלה-אמת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he-IL" sz="3600" i="1"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1" i="1" u="none" strike="noStrike" kern="1200" cap="none">
                <a:ln>
                  <a:noFill/>
                </a:ln>
                <a:solidFill>
                  <a:srgbClr val="3333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v[c(v)–c(x)]   ≥   p(v)-p(x)   ≥  x[c(v) – c(x)]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1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נשים את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קצת מתחת לסף ואת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קצת מעל לסף</a:t>
            </a:r>
            <a:r>
              <a:rPr lang="he-IL" sz="3600"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ונקבל:</a:t>
            </a: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1" i="1" u="none" strike="noStrike" kern="1200" cap="none">
                <a:ln>
                  <a:noFill/>
                </a:ln>
                <a:solidFill>
                  <a:srgbClr val="3333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   ≥   p(v)-p(x)   ≥   x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מכאן: </a:t>
            </a:r>
            <a:r>
              <a:rPr lang="en-US" sz="3600" b="1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p(v)-p(x)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חייב להיות שווה לערך הסף.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מכאן: אם שחקן שאינו נבחר – אינו משלם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)=0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אז כלל התשלום הוא יחיד.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David CLM" pitchFamily="2"/>
                <a:cs typeface="Liberation Sans" pitchFamily="34"/>
              </a:rPr>
              <a:t>         *** הוכחנו את חלק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David CLM" pitchFamily="2"/>
                <a:cs typeface="Liberation Sans" pitchFamily="34"/>
              </a:rPr>
              <a:t>(ג)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של משפט מאירסון.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424E2-ACAB-1AA2-D60E-1B67DA3FC74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32120"/>
            <a:ext cx="10080000" cy="108288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הוכחת משפט מאירסון - סיום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98B7CC-DD2E-F1F7-7372-A75CF23EC39F}"/>
              </a:ext>
            </a:extLst>
          </p:cNvPr>
          <p:cNvSpPr txBox="1"/>
          <p:nvPr/>
        </p:nvSpPr>
        <p:spPr>
          <a:xfrm>
            <a:off x="223935" y="906839"/>
            <a:ext cx="9856064" cy="64777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מצאנו כלל-תשלום יחיד המועמד להיות מגלה-אמת: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לכל שחקן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9900FF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יש ערך-סף מסויים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9900FF"/>
                </a:solidFill>
                <a:latin typeface="Times New Roman" pitchFamily="18"/>
                <a:ea typeface="David CLM" pitchFamily="2"/>
                <a:cs typeface="Liberation Sans" pitchFamily="34"/>
              </a:rPr>
              <a:t>t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9900FF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נקבע לפי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9900FF"/>
                </a:solidFill>
                <a:latin typeface="Times New Roman" pitchFamily="18"/>
                <a:ea typeface="David CLM" pitchFamily="2"/>
                <a:cs typeface="Liberation Sans" pitchFamily="34"/>
              </a:rPr>
              <a:t>c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9900FF"/>
              </a:solidFill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אם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9900FF"/>
                </a:solidFill>
                <a:latin typeface="Times New Roman" pitchFamily="18"/>
                <a:ea typeface="David CLM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9900FF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9900FF"/>
                </a:solidFill>
                <a:latin typeface="Times New Roman" pitchFamily="18"/>
                <a:ea typeface="David CLM" pitchFamily="2"/>
                <a:cs typeface="Liberation Sans" pitchFamily="34"/>
              </a:rPr>
              <a:t> &gt; t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9900FF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  <a:t>,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אז השחקן נבחר ומשלם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9900FF"/>
                </a:solidFill>
                <a:latin typeface="Times New Roman" pitchFamily="18"/>
                <a:ea typeface="David CLM" pitchFamily="2"/>
                <a:cs typeface="Liberation Sans" pitchFamily="34"/>
              </a:rPr>
              <a:t>t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9900FF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9900FF"/>
              </a:solidFill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אחרת, השחקן לא נבחר ולא משלם.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David CLM" pitchFamily="2"/>
                <a:cs typeface="Liberation Sans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הוכחה שכלל-תשלום זה מגלה-אמת:</a:t>
            </a:r>
          </a:p>
          <a:p>
            <a:pPr marL="457200" marR="0" lvl="0" indent="-2286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אם נבחרת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ותכריז מעל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Liberation Sans" pitchFamily="34"/>
              </a:rPr>
              <a:t>t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,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 או לא נבחרת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ותכריז מתחת </a:t>
            </a:r>
            <a:r>
              <a:rPr lang="he-IL" sz="3600"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Liberation Sans" pitchFamily="34"/>
              </a:rPr>
              <a:t>t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 -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כלום לא ישתנה.</a:t>
            </a:r>
          </a:p>
          <a:p>
            <a:pPr marL="457200" marR="0" lvl="0" indent="-2286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אם נבחרת</a:t>
            </a:r>
            <a:r>
              <a:rPr lang="he-IL" sz="3600"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ותכריז מתחת ל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Liberation Sans" pitchFamily="34"/>
              </a:rPr>
              <a:t>t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 -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לא תיבחר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, והתועלת שלך תהיה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אבל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קודם התועלת שלך היתה חיובית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(כי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Times New Roman" pitchFamily="18"/>
              </a:rPr>
              <a:t>v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Times New Roman" pitchFamily="18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Times New Roman" pitchFamily="18"/>
              </a:rPr>
              <a:t> &gt; t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).</a:t>
            </a:r>
            <a:endParaRPr lang="en-US" sz="3600" b="0" i="0" u="none" strike="noStrike" kern="1200" cap="none">
              <a:ln>
                <a:noFill/>
              </a:ln>
              <a:solidFill>
                <a:srgbClr val="000000"/>
              </a:solidFill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457200" marR="0" lvl="0" indent="-2286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אם לא נבחרת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ותכריז מעל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Liberation Sans" pitchFamily="34"/>
              </a:rPr>
              <a:t>t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 -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תיבחר ותשלם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Liberation Sans" pitchFamily="34"/>
              </a:rPr>
              <a:t>t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, והתועלת שלך תהיה שלילית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(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כי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Times New Roman" pitchFamily="18"/>
              </a:rPr>
              <a:t>v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Times New Roman" pitchFamily="18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David CLM" pitchFamily="2"/>
                <a:cs typeface="Times New Roman" pitchFamily="18"/>
              </a:rPr>
              <a:t> &lt; t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).  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      ***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3C2C4-761E-4FC2-FEA7-A0847E6B636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32120"/>
            <a:ext cx="10080000" cy="78228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מכרז מאירסון למילוי תרמיל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36FD9-74E8-DA27-B0BE-9CD5B3B55070}"/>
              </a:ext>
            </a:extLst>
          </p:cNvPr>
          <p:cNvSpPr txBox="1"/>
          <p:nvPr/>
        </p:nvSpPr>
        <p:spPr>
          <a:xfrm>
            <a:off x="342316" y="712909"/>
            <a:ext cx="9652635" cy="699276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הנחה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המשקל של כל משתתף ידוע.  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כל משתתף צריך להגיד רק את הערך שלו.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חמדני א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סדר את החפצים בסדר יורד של הערך.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חפצים לפי הסדר עד שהתרמיל מתמלא.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1" i="1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$100/100k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  $20/2k,   $20/2k,   $20/2k …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הראשון נבחר ומשלם את ערך הסף שלו -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$20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1" u="none" strike="noStrike" kern="1200" cap="none">
              <a:ln>
                <a:noFill/>
              </a:ln>
              <a:solidFill>
                <a:srgbClr val="3333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חמדני ב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סדר את החפצים בסדר יורד של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ערך/משקל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חפצים לפי הסדר עד שהתרמיל מתמלא.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1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$20/2k,    $5/1k,  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$98/98k.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שני הראשונים נבחרים:</a:t>
            </a:r>
            <a:b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הראשון משלם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$2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השני משלם $1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1" u="none" strike="noStrike" kern="1200" cap="none">
              <a:ln>
                <a:noFill/>
              </a:ln>
              <a:solidFill>
                <a:srgbClr val="00CC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3746-4DE9-D2E7-BE1B-AA11467DE7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32120"/>
            <a:ext cx="10080000" cy="78228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מכרז מאירסון למילוי תרמיל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DFAEA-C8D0-5300-C93B-8B76D59B5CED}"/>
              </a:ext>
            </a:extLst>
          </p:cNvPr>
          <p:cNvSpPr txBox="1"/>
          <p:nvPr/>
        </p:nvSpPr>
        <p:spPr>
          <a:xfrm>
            <a:off x="257174" y="914400"/>
            <a:ext cx="9618345" cy="539944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א+ב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הפעל את שני האלגוריתמים החמדניים</a:t>
            </a:r>
            <a:r>
              <a:rPr lang="he-IL" sz="4000"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C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את התוצאה עם הסכום הגבוה.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$54/52k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$52/51k, $49/49k.        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דוגמה א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הראשון זוכה ומשלם: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$52 * (52k/51k)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$100/100k,  $20/2k,  $20/2k.      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דוגמה ב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הראשון זוכה ומשלם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$40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000CC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$100/100k, $60/2k,  $50/2k.       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דוגמה ג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שני האחרונים זוכים ומשלמים: 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79D2-A50A-DBCF-2DC5-967EA02B63E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32120"/>
            <a:ext cx="10080000" cy="108288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ויקרי-קלארק-גרובס לעומת מאירסון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C53E58-F7BE-EDC9-C98F-380A531A2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00901"/>
              </p:ext>
            </p:extLst>
          </p:nvPr>
        </p:nvGraphicFramePr>
        <p:xfrm>
          <a:off x="640080" y="1214999"/>
          <a:ext cx="9235080" cy="5184120"/>
        </p:xfrm>
        <a:graphic>
          <a:graphicData uri="http://schemas.openxmlformats.org/drawingml/2006/table">
            <a:tbl>
              <a:tblPr firstRow="1" bandRow="1">
                <a:tableStyleId>{B0770522-514A-4A7F-BF1F-34BFC15E4600}</a:tableStyleId>
              </a:tblPr>
              <a:tblGrid>
                <a:gridCol w="3077640">
                  <a:extLst>
                    <a:ext uri="{9D8B030D-6E8A-4147-A177-3AD203B41FA5}">
                      <a16:colId xmlns:a16="http://schemas.microsoft.com/office/drawing/2014/main" val="3647462426"/>
                    </a:ext>
                  </a:extLst>
                </a:gridCol>
                <a:gridCol w="3077640">
                  <a:extLst>
                    <a:ext uri="{9D8B030D-6E8A-4147-A177-3AD203B41FA5}">
                      <a16:colId xmlns:a16="http://schemas.microsoft.com/office/drawing/2014/main" val="1283124942"/>
                    </a:ext>
                  </a:extLst>
                </a:gridCol>
                <a:gridCol w="3079800">
                  <a:extLst>
                    <a:ext uri="{9D8B030D-6E8A-4147-A177-3AD203B41FA5}">
                      <a16:colId xmlns:a16="http://schemas.microsoft.com/office/drawing/2014/main" val="2877468566"/>
                    </a:ext>
                  </a:extLst>
                </a:gridCol>
              </a:tblGrid>
              <a:tr h="68544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מאירסון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וק”ג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40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Nachlieli CLM" pitchFamily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15114"/>
                  </a:ext>
                </a:extLst>
              </a:tr>
              <a:tr h="1511279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solidFill>
                            <a:srgbClr val="FF0000"/>
                          </a:solidFill>
                          <a:latin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אחד</a:t>
                      </a:r>
                      <a:br>
                        <a:rPr lang="en-US" sz="4000" b="0" i="0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</a:br>
                      <a:r>
                        <a:rPr lang="he-IL" sz="2800" b="0" i="1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(</a:t>
                      </a:r>
                      <a:r>
                        <a:rPr lang="en-US" sz="2800" b="0" i="1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הערך ל"היבחרות</a:t>
                      </a:r>
                      <a:r>
                        <a:rPr lang="he-IL" sz="2800" b="0" i="1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").</a:t>
                      </a:r>
                      <a:endParaRPr lang="en-US" sz="2800" b="0" i="1" u="none" strike="noStrike" kern="1200" cap="none">
                        <a:ln>
                          <a:noFill/>
                        </a:ln>
                        <a:solidFill>
                          <a:srgbClr val="FF0000"/>
                        </a:solidFill>
                        <a:latin typeface="Liberation Sans" pitchFamily="34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solidFill>
                            <a:srgbClr val="00CC00"/>
                          </a:solidFill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הרבה</a:t>
                      </a:r>
                    </a:p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</a:defRPr>
                      </a:pPr>
                      <a:r>
                        <a:rPr lang="en-US" sz="2800" b="0" i="1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)למשל:</a:t>
                      </a:r>
                      <a:br>
                        <a:rPr lang="en-US" sz="2800" b="0" i="1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</a:br>
                      <a:r>
                        <a:rPr lang="he-IL" sz="2800" b="0" i="1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בחירת מסעדה)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פרמטרים לכל משתתף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932120"/>
                  </a:ext>
                </a:extLst>
              </a:tr>
              <a:tr h="292860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solidFill>
                            <a:srgbClr val="00CC00"/>
                          </a:solidFill>
                          <a:latin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solidFill>
                            <a:srgbClr val="00CC00"/>
                          </a:solidFill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כל כלל מונוטוני</a:t>
                      </a:r>
                    </a:p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solidFill>
                            <a:srgbClr val="00CC00"/>
                          </a:solidFill>
                          <a:latin typeface="Liberation Sans" pitchFamily="34"/>
                        </a:defRPr>
                      </a:pPr>
                      <a:r>
                        <a:rPr lang="he-IL" sz="2400" b="0" i="1" u="none" strike="noStrike" kern="1200" cap="none">
                          <a:ln>
                            <a:noFill/>
                          </a:ln>
                          <a:solidFill>
                            <a:srgbClr val="00CC00"/>
                          </a:solidFill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(</a:t>
                      </a:r>
                      <a:r>
                        <a:rPr lang="en-US" sz="2400" b="0" i="1" u="none" strike="noStrike" kern="1200" cap="none">
                          <a:ln>
                            <a:noFill/>
                          </a:ln>
                          <a:solidFill>
                            <a:srgbClr val="00CC00"/>
                          </a:solidFill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למשל:</a:t>
                      </a:r>
                      <a:br>
                        <a:rPr lang="en-US" sz="2400" b="0" i="1" u="none" strike="noStrike" kern="1200" cap="none">
                          <a:ln>
                            <a:noFill/>
                          </a:ln>
                          <a:solidFill>
                            <a:srgbClr val="00CC00"/>
                          </a:solidFill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</a:br>
                      <a:r>
                        <a:rPr lang="he-IL" sz="2400" b="0" i="1" u="none" strike="noStrike" kern="1200" cap="none">
                          <a:ln>
                            <a:noFill/>
                          </a:ln>
                          <a:solidFill>
                            <a:srgbClr val="00CC00"/>
                          </a:solidFill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קירוב בעיית התרמיל, מיקסום רווח).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solidFill>
                            <a:srgbClr val="FF0000"/>
                          </a:solidFill>
                          <a:latin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מיקסום סכום ערכים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כלל בחירה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6886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FD46-552F-6E20-474D-98AB3F4D518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32120"/>
            <a:ext cx="10080000" cy="108288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שאלה פתוחה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606C5-357F-923E-2D2D-713C4EA612E4}"/>
              </a:ext>
            </a:extLst>
          </p:cNvPr>
          <p:cNvSpPr txBox="1"/>
          <p:nvPr/>
        </p:nvSpPr>
        <p:spPr>
          <a:xfrm>
            <a:off x="428624" y="1371599"/>
            <a:ext cx="9538335" cy="529916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האם יש אלגוריתם אמיתי המשלב את היתרונות של וק"ג ומאירסון, כלומר: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עובד עם שחקנים רב-פרמטריים,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עובד גם בלי למקסם את סכום הערכים</a:t>
            </a: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8000" b="0" i="0" u="none" strike="noStrike" kern="1200" cap="none">
              <a:ln>
                <a:noFill/>
              </a:ln>
              <a:solidFill>
                <a:srgbClr val="9900FF"/>
              </a:solidFill>
              <a:latin typeface="Liberation Sans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?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8175</TotalTime>
  <Words>1592</Words>
  <Application>Microsoft Office PowerPoint</Application>
  <PresentationFormat>Widescreen</PresentationFormat>
  <Paragraphs>182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Aptos</vt:lpstr>
      <vt:lpstr>Aptos Display</vt:lpstr>
      <vt:lpstr>Arial</vt:lpstr>
      <vt:lpstr>Liberation Sans</vt:lpstr>
      <vt:lpstr>Liberation Serif</vt:lpstr>
      <vt:lpstr>StarSymbol</vt:lpstr>
      <vt:lpstr>Times New Roman</vt:lpstr>
      <vt:lpstr>Wingdings</vt:lpstr>
      <vt:lpstr>Default</vt:lpstr>
      <vt:lpstr>Office Theme</vt:lpstr>
      <vt:lpstr>Office Theme</vt:lpstr>
      <vt:lpstr>אלגוריתמים מגלי-אמת מתקדמים  Advanced Truthful Algorithms  אראל סגל-הלוי</vt:lpstr>
      <vt:lpstr>בעיית התרמיל (knapsack)</vt:lpstr>
      <vt:lpstr>אלגוריתמי קירוב למילוי תרמיל</vt:lpstr>
      <vt:lpstr>אלגוריתמי קירוב למילוי תרמיל</vt:lpstr>
      <vt:lpstr>"טוֹבִים הַשְּׁנַיִם מִן הָאֶחָד  אֲשֶׁר יֵשׁ לָהֶם שָׂכָר טוֹב בַּעֲמָלָם"(קהלת ד 9)</vt:lpstr>
      <vt:lpstr>אלגוריתם מגלה-אמת למילוי תרמיל</vt:lpstr>
      <vt:lpstr>מכרז מאירסון (Myerson)</vt:lpstr>
      <vt:lpstr>כלל-בחירה מונוטוני</vt:lpstr>
      <vt:lpstr>משפט מאירסון (Myerson)</vt:lpstr>
      <vt:lpstr>הוכחת משפט מאירסון</vt:lpstr>
      <vt:lpstr>הוכחת משפט מאירסון - המשך</vt:lpstr>
      <vt:lpstr>הוכחת משפט מאירסון - המשך</vt:lpstr>
      <vt:lpstr>משפט מאירסון – ערך הסף</vt:lpstr>
      <vt:lpstr>הוכחת משפט מאירסון - המשך</vt:lpstr>
      <vt:lpstr>הוכחת משפט מאירסון - סיום</vt:lpstr>
      <vt:lpstr>מכרז מאירסון למילוי תרמיל</vt:lpstr>
      <vt:lpstr>מכרז מאירסון למילוי תרמיל</vt:lpstr>
      <vt:lpstr>ויקרי-קלארק-גרובס לעומת מאירסון</vt:lpstr>
      <vt:lpstr>שאלה פתוחה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Erel Segal-Halevi</dc:creator>
  <cp:lastModifiedBy>Erel Segal-Halevi</cp:lastModifiedBy>
  <cp:revision>1225</cp:revision>
  <dcterms:created xsi:type="dcterms:W3CDTF">2017-10-27T15:20:51Z</dcterms:created>
  <dcterms:modified xsi:type="dcterms:W3CDTF">2025-11-22T20:47:26Z</dcterms:modified>
</cp:coreProperties>
</file>