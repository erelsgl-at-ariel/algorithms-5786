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</p:sldMasterIdLst>
  <p:notesMasterIdLst>
    <p:notesMasterId r:id="rId23"/>
  </p:notesMasterIdLst>
  <p:handoutMasterIdLst>
    <p:handoutMasterId r:id="rId24"/>
  </p:handoutMasterIdLst>
  <p:sldIdLst>
    <p:sldId id="27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0080625" cy="7559675"/>
  <p:notesSz cx="7559675" cy="10691813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93B4E13-2C79-0413-DB92-1DA4E9BBDFC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C3EFC-2CB7-7706-0DEE-8D9C97B4BF94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21A351-C4C9-21F2-275D-29FDF7EAD84E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7F3EF-2FE7-97AA-267D-8ECD760B16D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FC571941-8D52-424E-9858-F5E7731E6049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19321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8F840-34A1-F43B-09B3-295B84662B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A0918-EC13-DBBF-3D1D-564DFB0797E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6004BC7-6772-CDFB-D8FB-FF4F2B8B32D8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35397B-F6B9-A521-3FD4-83A9EBE2D32F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DBDC7-F1A9-005F-5F06-5D577744EE9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0ABF2-D2BE-CF7B-D927-02BDD59F92D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9A09CE0-4640-4667-90DA-D58EBF750F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96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Liberation Sans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42B94-000A-5577-0115-A6ECD5F82F1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A535518-D166-4757-9316-A4F24E05FC0D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FAC1A-AE69-0BB5-11EC-E1916AFD0B4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3F3E6-E37A-E791-32F4-F0CB089BB8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23E0DE-8F0C-FDA0-C000-056677790DD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9EDAFBD-6D8B-40DF-9EA0-E3463993153C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DE015-6054-BCD1-8A88-4D1BC139A3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5566AE-F751-0855-5055-13F5955B8BE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A401A-2C99-FB55-88BB-94639245A57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71877A8-A1B2-4E7B-8A14-C089392C59BB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2D758-1BBA-2C17-F614-EF74CE2A618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2E0A44-E273-CB2E-F0B4-9F0D1E952A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52EF0-C596-B7F2-1279-70E8B485D8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50AD52A-DD5B-4F1D-9DAC-D3C0017C4BC2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FFE89-6C85-C2FF-EBD5-03D5227C56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E46A2-C690-163D-734B-25D55905F6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2D6F8-A919-FE94-AFCE-AA33006BA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5B79F4-7858-444B-8F20-5F4201842DE3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5643E-C9BB-8514-F3C1-CBAF147ECFC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C8C2EB-30B5-9798-3C97-E223FBFF041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2285C-1441-EC06-14C5-E41BEA119DF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A81CA79-980A-4F11-916C-16DFC7AC1994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F2409F-CE88-0AC4-AE2B-47279D36FC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1652D-8638-E3DB-47EB-6FDC421137B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23D02-4560-F4D4-3A70-CFC1D271958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CF6E4CA-7390-4B55-8E77-FA9CD5ABC76E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A8681-BAC1-9BDB-4169-9EEB1D48A0D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3BDC5-A634-ED49-8C64-AAA63AE011E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E2781-C3A5-A3DC-3735-A7FF79E1CE0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50B5072-89C4-4E85-BA41-B33B5191D103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FC4505-2C54-A922-CAD3-BEDE0F052C3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CFFBC-1FE1-E3C5-8E89-7CBCB9D9F60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904493-B3A5-B2A4-9961-F317BF0389F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7DBF561-0892-4F82-8B98-D192A161E981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3FDCFB-7669-E842-BF14-3440F49B5B5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FF974-15E8-DBB6-A306-62B9417CA4D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17163-2BA5-9648-4652-2CD80BFE0C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023ED4E-F29F-4F7D-B7FD-E6FC02B6094D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ED631-62D1-8F9C-E2FE-3ACF2AA6A99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449D23-07B5-2AA3-3DD9-430264945A7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045B4-E0DF-3555-1743-43EE1D434FB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B6C66A9-3A92-48F4-B289-0447519646F3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9C741-DBEC-0ECE-C818-04E72F421E9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57B4D1-1580-67D6-3D3C-E82B530F30C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25D64-F023-9154-30D5-90E5D1E2A32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0AF9E50-35F4-4E32-A959-EA131CCD2E5D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2DB677-F031-A7D0-F7A4-57A43E0EB07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F21AA-9DF1-63BC-E167-61B93BADF7A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F3B70-6270-5C9E-43BF-B691AAC850E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E9994D8-FD04-4FC5-BE7E-D22FF8C42D37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0B8CF8-D553-EA11-3CDE-A3B8FDAACC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1897D-6E2F-C776-77A0-70046CC47F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03679-9DB0-7499-64E1-8FB2D603D38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4766299-CD2C-4BA4-B7EC-859910B27B13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E4981-947F-3ECA-9E42-9641BCF2971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CB3A6-57B1-C3F1-261F-6C88EE5F1E1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E36DD-6221-6CF8-6F58-CC01EAC4CC7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01B96A3-D964-4B33-9389-FAC54F05EAF2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FE466-6E01-B245-6F68-1798C32C20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33800" y="812159"/>
            <a:ext cx="4891320" cy="4008959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674CAE-8A71-A0CE-37F2-6DD6F32878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56000" y="5078160"/>
            <a:ext cx="6047640" cy="481104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0B31E-58D2-5644-CB00-F2DD77063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45F57-8C4A-9B01-1FB3-DBD9A2F80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508D47-152D-C01C-E9B8-B9135F421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8F784-128D-EE93-3B38-825236672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C508D-C368-CF8A-245A-BB627267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7557D28-A615-4336-B704-FA9460055FC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7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F36B-198A-1A83-A723-BE1B1586E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C25FA-AFA2-1669-B563-F25ECB3B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DEA5-1848-C06E-423D-4A1F0B452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C696F-D8CA-C456-B6D0-0197CCBC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2645-C1E0-BA3F-222C-76274AB4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4DA4682-8DAE-4839-BB9D-B309E79AE4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0F92-09F4-3D76-F0B0-B8D7A6C9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A56557-1A7A-8CCE-ED73-F0E13C117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822EB-1B43-4BB7-ECA1-F5EBE2FA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95CF7-4F48-A1E0-C98F-EC0234403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A2058-B2D8-3EF2-5BB6-C95DC1574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0A4F97D-B7BB-4148-8E78-03C4D08FB9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22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7FCA-1542-6C2B-E9EF-E9228326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8F7A5-C932-45D4-B40C-D313CF06D3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C42612-9CA3-3599-C5C6-75DAF61666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71671-CD48-4D40-70EF-34E0D1D79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DDFE3-AAC0-9CD4-04E3-4885F71F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F5879-AD4F-8EA6-63CC-2670E65FB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F1EF0A1-1D33-4D01-ADA8-578A6DF8572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27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74C7-240E-541E-1773-58190BAA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E5480-6FC0-3039-1572-930A3D519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E349A-07B6-A388-4F24-05A67120D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1DD7E-08BD-36AD-733D-AEC8905CD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9A079-5C2D-B611-EC57-FBF68DE00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0F4341-4068-45C4-D3FC-ACD26189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926586-FA7A-7D7D-628A-5BD7F96C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6BD45-66FD-6576-56BD-CC2854D8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1A47B1A-02C7-4478-B1BF-4735A25D0E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79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7D190-74D9-6F74-EB7A-3E7333189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DCE0F-0734-0083-5629-1AE69ECE5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258F6E-B697-3C62-B429-8C87B2E0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470A8F-1331-6089-CE8C-60C21B4D5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148A1ED-D3AA-4AA4-93F4-E4BC545EB89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7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0FC537-CA70-B5E6-4468-923FA0955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8A196C-FA77-D675-774C-83EED3C0A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D7B64-0E3B-8B51-ED00-2C0CCC3F2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7BAFF4D-C550-4B27-AFAB-D6A933BAD3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5844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D803B-479F-446F-E1CC-0B65A0A6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41D62-F783-74A8-69FF-3F7A4165E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67D974-5FF1-5DB5-22A3-6FD7C9D17E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EF70C-B261-6019-209A-4A002DFC1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53B1F7-94EE-426E-80BB-DCA049EED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013BA-6D14-1059-4C55-FAD9C793A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E1291D0-F294-4554-820B-57C2D2B703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87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ACA62-DD54-9221-F077-BD5F4184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3A25AF-CF6E-5EC5-BF47-DDAE1DADC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DEEF11-40CF-1B16-73FD-929BF8DFB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007C7-219B-5931-A77C-F49BAC193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49B83-5A92-39F5-2CF4-A18B3D2E0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77110-69A1-EDB5-23E6-BE96A3F0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8BE56F3-4061-4B79-921B-CEBA1529101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5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0E4DB-ED3C-1AC1-959A-C4F05772C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3E4310-FD06-C410-3143-1604EAA60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A38A-2CBA-FC49-C052-239A23ECE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A3734-EC78-C812-59E4-3225F61F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805D2-C7FA-E5F7-0670-919053BB2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11B24E-3C3D-4C35-B507-D5D6B24C7E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4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8164D0-5623-9228-4520-0355753338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02D3A-D042-0B27-C2BE-F35C5CF55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63EDA-8FC1-468B-A307-5E21B13A3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85F17-40BE-4A6B-E7B2-69767B673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441AB-5F5F-7709-1077-3EF08172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8E21CF0-1F66-431D-8A6C-3915ECC8983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41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17E0-F5FB-EE71-A1B8-F7FA003DE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B43B9-5980-6C4F-DBA2-AF188EE34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5863-75D3-5083-76DC-6858698F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D802E-7AC3-DFF2-ACE3-33C646C9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F6AC5-80DB-1D32-0F88-9AAD4611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F1798-57E5-45D6-AEFE-C0BA3D96047E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55805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1FB2-1EA5-99C8-7C34-76AFFA056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483CB-B862-73EB-F14C-1472E9A1F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38050-A0AA-9D90-631C-77CC932A7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AAE00-9D1A-0661-B598-57180960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AACCFD-A44D-0F76-6DC2-82D6AA88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1B3BA-EEF6-464D-90F8-000951833E7D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85362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1E6CD-6A38-2BFB-5EAA-316ECD18E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9A40C-63A4-0C3F-8EDC-EF27D5C99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1A705-C49C-71F3-AEED-5FB7745DE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3ACFE-E2D5-93DB-26EF-008A49C8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F2C0F-84A6-7642-E9D2-253CF404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95CF-8513-40A8-92E9-8F53BEBC06C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7273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0E007-BADE-603C-32C3-C5256C2C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C6FC3-F8FA-5F15-9E41-0B43553B8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6AC188-D042-CD50-FDBA-1F4A1132A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6FF89-2559-ACB5-CE4C-02F07BA7B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CCDCA-B953-9AEF-37DB-2ACC14CD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1AD13-54A2-2015-623D-47DD395C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FB9BB3-2BF8-4957-9758-CA69BBEFACD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3660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D9869-E4F3-FEFC-7F91-A73BDD9BF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10150-67A6-2FA0-E091-F16192289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85A24-0958-71C8-5E81-50B4517EB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297818-337E-C071-F86C-0B40070B4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498CE2-2298-6B8E-77DD-0CAA4121B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E3C411-532B-792F-8DE8-6012F8FB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44EBA-B51B-F853-2FFF-CA4EE1B85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BACBBA-374C-E9B4-01BA-B6A75F5EF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C5DA8-220D-46C1-8ACC-2F1368700CBE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060595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33923-F144-0C9F-0E5C-040D30B50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56DE66-6A2F-6CC0-67E4-7889B4815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EC4B9F-EE2A-64B4-732B-00628826E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ECD2B4-F57D-C998-B115-2CF9D2695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9B237-49CD-4180-BDDE-82AD93BB6D8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66487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9BAB1-6DB3-ACF8-F598-5B0624381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6BAFBF-5698-8F26-61F5-477E23853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DDC4C-5F09-8A6D-B5DF-A6207180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86C89-95FF-4A07-8E9C-67F313548482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3763026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A58D4-B9B1-5048-1C2E-F43F12D7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8202B-7065-8765-E13E-82289BA8B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16583-7BDE-C2E1-2E1D-9635598F25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2E6164-8ED7-7E20-DF35-B65F41B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4A687-C7F2-3546-121E-6E059932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7782-4AC8-96B8-D970-A68FA6CF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0EDCD-500D-4E3D-A782-94617BA30C8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37871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C3960-9274-C336-F4D9-6BEEA7DF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D684FF-28FF-2F0B-9369-6877BF7BA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F3F94C-447D-1E43-1CD6-A7A300EEC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27A8B-1A1B-5D61-DEC3-9741FF28C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15E6A-8766-603A-8CEF-DE3A38E6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298C0-4D5C-8370-A5D3-99D6F55A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6880D-FC11-4BD5-90D2-EFDA8CF7BBF8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91719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CF3F3-CB9E-2761-14C9-5D0AD9E8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EE5C72-25A7-FAE1-D962-92D020C35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C8A6B-CC1B-79DB-279E-D626BED21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691FC-D807-CCA8-F60D-9034505F9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7E131-702F-00B1-0B0E-DC6B4DAF6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B4F97-F9C2-4723-9246-C7A447AF5E54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4846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E95C06-5274-C1D2-6C3A-22752DED2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E5F64A-63B1-F0CD-BC63-944263112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6BAA6-E573-85D1-EEAD-8020EE56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C5BF4-C93F-5896-E274-DCC1B6DE6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50F3-E4E5-11E1-976A-4EA31054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04053-4854-453F-9C53-F6513A4E77C5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7698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65F46A-C0F9-07C7-F89D-D2B44160EF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164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4E094-7839-7515-87FB-2215122BCE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1640" cy="43844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669E0-ABE5-A96A-1AB4-EB9F8D83738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9" y="6886800"/>
            <a:ext cx="2348280" cy="52091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3E16B-339E-41FF-6384-985993E6E4B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0" y="6886800"/>
            <a:ext cx="3195000" cy="52091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15BF6-18F5-9803-27C3-5A0EC45E49E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0" y="6886800"/>
            <a:ext cx="2348280" cy="520919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23998256-994D-4C53-ADF1-04300778DA68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US" sz="587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Liberation Sans" pitchFamily="2"/>
        </a:defRPr>
      </a:lvl1pPr>
    </p:titleStyle>
    <p:bodyStyle>
      <a:lvl1pPr marL="0" marR="0" indent="0" rtl="0" hangingPunct="0">
        <a:spcBef>
          <a:spcPts val="1888"/>
        </a:spcBef>
        <a:spcAft>
          <a:spcPts val="0"/>
        </a:spcAft>
        <a:tabLst/>
        <a:defRPr lang="en-US" sz="427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Liberation Sans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88BAF7-9739-4754-B672-E4EE2A199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E6C25-3F94-FBB7-E6E5-01ACC3F87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37BC1-05A5-ACD8-E3BB-B688B67D72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0BFBAE-11B8-4CBC-83A2-81761A6A6378}" type="datetimeFigureOut">
              <a:rPr lang="he-IL" smtClean="0"/>
              <a:t>א'/טבת/תשפ"ו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75D12-0243-8603-1A1C-92F9E71940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2D7A0-F1AD-BC70-49BB-A47B5BF993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FD76B7-CB72-497C-B6A1-F03724F6F75C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BFBDEED-94E2-8B9F-68C0-E5361BC6D846}"/>
              </a:ext>
            </a:extLst>
          </p:cNvPr>
          <p:cNvSpPr txBox="1"/>
          <p:nvPr/>
        </p:nvSpPr>
        <p:spPr>
          <a:xfrm>
            <a:off x="2521047" y="546443"/>
            <a:ext cx="503853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4800" b="1" i="0" u="none" strike="noStrike">
                <a:solidFill>
                  <a:srgbClr val="0000FF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חלוקת עלויות</a:t>
            </a:r>
            <a:br>
              <a:rPr lang="he-IL" sz="3200" b="0" i="0" u="none" strike="noStrike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en-US" sz="4800" b="1" i="0" u="none" strike="noStrike">
                <a:solidFill>
                  <a:srgbClr val="0000FF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Cost-sharing </a:t>
            </a:r>
            <a:br>
              <a:rPr lang="en-US" sz="3200" b="0" i="0" u="none" strike="noStrike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he-IL" sz="2800" b="1" i="0" u="none" strike="noStrike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אראל סגל-הלוי</a:t>
            </a:r>
            <a:br>
              <a:rPr lang="he-IL" sz="3200" b="0" i="0" u="none" strike="noStrike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</a:br>
            <a:br>
              <a:rPr lang="he-IL" sz="3200" b="0" i="0" u="none" strike="noStrike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he-IL" sz="1800" b="1" i="0" u="none" strike="noStrike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חלק מהשקפים באדיבות: נועם חזון</a:t>
            </a:r>
            <a:endParaRPr lang="he-IL" sz="3200" b="0" i="0" u="none" strike="noStrike">
              <a:solidFill>
                <a:prstClr val="black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4E22B49-8E6A-CE0F-B3B1-9A0F70891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5409" y="3468427"/>
            <a:ext cx="74485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932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ABCA-18B9-86D0-E398-3E8447C87A2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60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שיתוף נסיעה במונית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32C715-DB75-9CDA-09BF-F259E9A6835E}"/>
              </a:ext>
            </a:extLst>
          </p:cNvPr>
          <p:cNvSpPr txBox="1"/>
          <p:nvPr/>
        </p:nvSpPr>
        <p:spPr>
          <a:xfrm>
            <a:off x="91440" y="1033559"/>
            <a:ext cx="9875520" cy="4219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נסיעה משותפת במונית יכולה לחסוך עלויות.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כל הנוסעים עושים את אותו מסלול – הגיוני לחלק את דמי-הנסיעה שווה בשווה.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6633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מה אם כל אחד נוסע במסלול אחר?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en-US" sz="4000" b="0" i="1" u="none" strike="noStrike" kern="1200" cap="none">
              <a:ln>
                <a:noFill/>
              </a:ln>
              <a:solidFill>
                <a:srgbClr val="6633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איך לחלק את דמי-הנסיעה בין הנוסעים?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8D22F-F48E-4ABE-F1C4-4A87DA2F0BC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דוגמה – חלוקה הוגנת של עלויות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D011A57-F096-9FBE-2B67-8BFE97F70C7F}"/>
              </a:ext>
            </a:extLst>
          </p:cNvPr>
          <p:cNvSpPr/>
          <p:nvPr/>
        </p:nvSpPr>
        <p:spPr>
          <a:xfrm flipH="1">
            <a:off x="709920" y="2926079"/>
            <a:ext cx="8321040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2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9F2C7C8-71F0-0F4C-C40E-9EF9238C7370}"/>
              </a:ext>
            </a:extLst>
          </p:cNvPr>
          <p:cNvSpPr/>
          <p:nvPr/>
        </p:nvSpPr>
        <p:spPr>
          <a:xfrm>
            <a:off x="5281920" y="2011680"/>
            <a:ext cx="0" cy="914399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550837-5DB5-E07A-FF0B-407AD55914B7}"/>
              </a:ext>
            </a:extLst>
          </p:cNvPr>
          <p:cNvSpPr txBox="1"/>
          <p:nvPr/>
        </p:nvSpPr>
        <p:spPr>
          <a:xfrm>
            <a:off x="8570160" y="3017520"/>
            <a:ext cx="130536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מוצא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E4573B-1BAF-5AEF-8503-5C3C03E44499}"/>
              </a:ext>
            </a:extLst>
          </p:cNvPr>
          <p:cNvSpPr txBox="1"/>
          <p:nvPr/>
        </p:nvSpPr>
        <p:spPr>
          <a:xfrm>
            <a:off x="4641840" y="1188719"/>
            <a:ext cx="1389239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יעד 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99D8E7-51C2-993C-0E5E-843DF0F7A781}"/>
              </a:ext>
            </a:extLst>
          </p:cNvPr>
          <p:cNvSpPr txBox="1"/>
          <p:nvPr/>
        </p:nvSpPr>
        <p:spPr>
          <a:xfrm>
            <a:off x="6480" y="3108959"/>
            <a:ext cx="134352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יעד 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29BF7-D92D-2E7F-F16D-86B6D454BFBA}"/>
              </a:ext>
            </a:extLst>
          </p:cNvPr>
          <p:cNvSpPr txBox="1"/>
          <p:nvPr/>
        </p:nvSpPr>
        <p:spPr>
          <a:xfrm>
            <a:off x="7019279" y="2634480"/>
            <a:ext cx="1040039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CE181E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7D44D9-2A0C-C961-A43C-B9F678E2D0FC}"/>
              </a:ext>
            </a:extLst>
          </p:cNvPr>
          <p:cNvSpPr txBox="1"/>
          <p:nvPr/>
        </p:nvSpPr>
        <p:spPr>
          <a:xfrm>
            <a:off x="2721600" y="2634480"/>
            <a:ext cx="1040039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CE181E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E2B46E-7003-00A5-65F7-BD4B48E2F283}"/>
              </a:ext>
            </a:extLst>
          </p:cNvPr>
          <p:cNvSpPr txBox="1"/>
          <p:nvPr/>
        </p:nvSpPr>
        <p:spPr>
          <a:xfrm>
            <a:off x="5007600" y="2194560"/>
            <a:ext cx="1040399" cy="822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CE181E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16E295-41B6-EFF6-E713-B48EE8C6BB13}"/>
              </a:ext>
            </a:extLst>
          </p:cNvPr>
          <p:cNvSpPr txBox="1"/>
          <p:nvPr/>
        </p:nvSpPr>
        <p:spPr>
          <a:xfrm>
            <a:off x="731519" y="4389120"/>
            <a:ext cx="8503920" cy="2456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עלות כוללת =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4+1+1+5=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11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עלות של א לבד =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5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עלות של ב לבד =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9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כמה ישלם כל אחד?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58DF-7FC4-DF9E-681F-078F8DCCCA7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בעיה כללית: משחק שיתופי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6912D-B45B-24F4-FAE1-08A58AD70150}"/>
              </a:ext>
            </a:extLst>
          </p:cNvPr>
          <p:cNvSpPr txBox="1"/>
          <p:nvPr/>
        </p:nvSpPr>
        <p:spPr>
          <a:xfrm>
            <a:off x="304800" y="1033199"/>
            <a:ext cx="9662160" cy="60005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נתונים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קבוצה של שחקנים –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lvl="0" algn="r" rtl="1" hangingPunct="0">
              <a:buSzPct val="45000"/>
              <a:buFont typeface="StarSymbol"/>
              <a:buChar char="●"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לכל תת-קבוצה </a:t>
            </a:r>
            <a:r>
              <a:rPr lang="en-US" sz="4000" i="1">
                <a:latin typeface="Times New Roman" pitchFamily="18"/>
                <a:ea typeface="Noto Sans CJK SC Regular" pitchFamily="2"/>
                <a:cs typeface="Liberation Sans" pitchFamily="34"/>
              </a:rPr>
              <a:t>S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 - ה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עלות של מתן שירות רק לתת-הקבוצה הזאת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S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המטרה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לגבות מכל שחקן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תשלום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כך שסכום התשלומים הכללי הוא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התשלומים מכסים את העלות של כל קבוצה.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solidFill>
                  <a:srgbClr val="6633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מהו כלל תשלום הוגן?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04947-024F-248F-F091-9B0A19F86B1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60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עלות שולית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BD29A0-E314-FB72-D750-BF0593C72FAD}"/>
              </a:ext>
            </a:extLst>
          </p:cNvPr>
          <p:cNvSpPr txBox="1"/>
          <p:nvPr/>
        </p:nvSpPr>
        <p:spPr>
          <a:xfrm>
            <a:off x="91440" y="1189080"/>
            <a:ext cx="9875520" cy="599602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הגדרה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העלות השולית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של שחקן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ביחס לקבוצת שחקנים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S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היא התוספת שהוא מוסיף לעלות כשהוא מצטרף לקבוצה: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                   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(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S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U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{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} ) -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S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עקרון ההוגנות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כלל תשלום נקרא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סימטרי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הוא תלוי רק בעלויות השוליות: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לשני שחקנים יש עלויות שוליות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זהות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ביחס לכל הקבוצות, אז הם צריכים לשלם אותו הדבר.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עקרון האפס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(null player)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שחקן שעבורו כל העלויות השוליות הן אפס </a:t>
            </a:r>
            <a:r>
              <a:rPr lang="he-IL" sz="4000" b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("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</a:t>
            </a:r>
            <a:r>
              <a:rPr lang="he-IL" sz="4000" i="1"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ציץ</a:t>
            </a:r>
            <a:r>
              <a:rPr lang="he-IL" sz="4000"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")</a:t>
            </a:r>
            <a:r>
              <a:rPr lang="en-US" sz="4000" i="1"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משלם 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223AD-6971-7B51-2F3F-AD5615B1B4B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60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ליניאריות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3E6D57-13B1-6E63-28B1-19AFD6F6AEB7}"/>
              </a:ext>
            </a:extLst>
          </p:cNvPr>
          <p:cNvSpPr txBox="1"/>
          <p:nvPr/>
        </p:nvSpPr>
        <p:spPr>
          <a:xfrm>
            <a:off x="91440" y="1033559"/>
            <a:ext cx="9875520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עקרון הליניאריות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b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מכפילים את העלויות בקבוע – כל התשלומים נכפלים באותו קבוע.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דוגמה: המרה משקלים לאגורות.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מחברים שתי טבלאות-עלויות – כל התשלומים מתחברים.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דוגמה: חישוב עלות דלק בנפרד ועלות אגרת-כביש בנפרד אמור לתת תוצאה זהה לחישוב העלויות יחד.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193A-BF15-9589-A34B-A8C628F570E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ליניאריות - דוגמה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B73238C-C7BD-5122-97CD-799172817D30}"/>
              </a:ext>
            </a:extLst>
          </p:cNvPr>
          <p:cNvSpPr/>
          <p:nvPr/>
        </p:nvSpPr>
        <p:spPr>
          <a:xfrm flipH="1">
            <a:off x="709920" y="2926079"/>
            <a:ext cx="8321040" cy="0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2"/>
            </a:endParaRP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F2E8EB-BCE8-D1BA-1E27-A8FF778FFFD6}"/>
              </a:ext>
            </a:extLst>
          </p:cNvPr>
          <p:cNvSpPr/>
          <p:nvPr/>
        </p:nvSpPr>
        <p:spPr>
          <a:xfrm>
            <a:off x="5281920" y="2011680"/>
            <a:ext cx="0" cy="914399"/>
          </a:xfrm>
          <a:prstGeom prst="line">
            <a:avLst/>
          </a:prstGeom>
          <a:noFill/>
          <a:ln w="0">
            <a:solidFill>
              <a:srgbClr val="3465A4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Liberation Sans" pitchFamily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9B62D4-1B0F-400E-7664-6168F524D2AD}"/>
              </a:ext>
            </a:extLst>
          </p:cNvPr>
          <p:cNvSpPr txBox="1"/>
          <p:nvPr/>
        </p:nvSpPr>
        <p:spPr>
          <a:xfrm>
            <a:off x="8570160" y="3017520"/>
            <a:ext cx="130536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מוצא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2C36A-C560-8467-BA61-EA8E7744605F}"/>
              </a:ext>
            </a:extLst>
          </p:cNvPr>
          <p:cNvSpPr txBox="1"/>
          <p:nvPr/>
        </p:nvSpPr>
        <p:spPr>
          <a:xfrm>
            <a:off x="4641840" y="1188719"/>
            <a:ext cx="1389239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יעד א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A0A18-7088-5306-C2BB-C460B218D2AE}"/>
              </a:ext>
            </a:extLst>
          </p:cNvPr>
          <p:cNvSpPr txBox="1"/>
          <p:nvPr/>
        </p:nvSpPr>
        <p:spPr>
          <a:xfrm>
            <a:off x="6480" y="3108959"/>
            <a:ext cx="134352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יעד 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5EACA-6683-4CAD-66E6-A592FF44053D}"/>
              </a:ext>
            </a:extLst>
          </p:cNvPr>
          <p:cNvSpPr txBox="1"/>
          <p:nvPr/>
        </p:nvSpPr>
        <p:spPr>
          <a:xfrm>
            <a:off x="7019279" y="2634480"/>
            <a:ext cx="1040039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CE181E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4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+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DCEAC6-DCF6-8FF9-4F34-0654344B1C68}"/>
              </a:ext>
            </a:extLst>
          </p:cNvPr>
          <p:cNvSpPr txBox="1"/>
          <p:nvPr/>
        </p:nvSpPr>
        <p:spPr>
          <a:xfrm>
            <a:off x="2721600" y="2634480"/>
            <a:ext cx="1040039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CE181E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3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+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787601-9E18-1382-6B7C-0041F39CAB21}"/>
              </a:ext>
            </a:extLst>
          </p:cNvPr>
          <p:cNvSpPr txBox="1"/>
          <p:nvPr/>
        </p:nvSpPr>
        <p:spPr>
          <a:xfrm>
            <a:off x="5007600" y="2194560"/>
            <a:ext cx="1040399" cy="8229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CE181E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Liberation Sans" pitchFamily="2"/>
              </a:rPr>
              <a:t>+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071F4E-CD54-C1DC-86FD-475A76DF7EA1}"/>
              </a:ext>
            </a:extLst>
          </p:cNvPr>
          <p:cNvSpPr txBox="1"/>
          <p:nvPr/>
        </p:nvSpPr>
        <p:spPr>
          <a:xfrm>
            <a:off x="731519" y="4389120"/>
            <a:ext cx="8503920" cy="24562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התשלומים באדום – על הדלק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18"/>
                <a:ea typeface="Noto Sans CJK SC Regular" pitchFamily="2"/>
                <a:cs typeface="Liberation Sans" pitchFamily="2"/>
              </a:rPr>
              <a:t>התשלומים בכחול – אגרת כביש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11C0-1DB2-372A-0301-A768BEE1154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משפט שאפלי (</a:t>
            </a:r>
            <a:r>
              <a:rPr lang="en-US" sz="5400" b="1">
                <a:cs typeface="Liberation Sans" pitchFamily="34"/>
              </a:rPr>
              <a:t>Shapley</a:t>
            </a:r>
            <a:r>
              <a:rPr lang="he-IL" sz="5400" b="1">
                <a:cs typeface="Liberation Sans" pitchFamily="34"/>
              </a:rPr>
              <a:t>)</a:t>
            </a:r>
            <a:endParaRPr lang="en-US" sz="5400" b="1">
              <a:cs typeface="Liberation Sans" pitchFamily="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1E42A1-01FA-6D84-B357-13B4DF985D09}"/>
              </a:ext>
            </a:extLst>
          </p:cNvPr>
          <p:cNvSpPr txBox="1"/>
          <p:nvPr/>
        </p:nvSpPr>
        <p:spPr>
          <a:xfrm>
            <a:off x="91440" y="1307519"/>
            <a:ext cx="9875520" cy="4219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ישנו כלל-תשלומים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אחד ויחיד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המקיים את כל שלושת העקרונות: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א. עקרון הסימטריה,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ב. עקרון האפס,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ג. עקרון הליניאריות.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כלל-התשלומים הזה נקרא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ערך שאפלי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03FA-4860-B27A-A440-79FE818BE72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ערך שאפלי </a:t>
            </a:r>
            <a:r>
              <a:rPr lang="en-US" sz="5400" b="1">
                <a:cs typeface="Liberation Sans" pitchFamily="34"/>
              </a:rPr>
              <a:t>Shapley Value)</a:t>
            </a:r>
            <a:r>
              <a:rPr lang="he-IL" sz="5400" b="1">
                <a:cs typeface="Liberation Sans" pitchFamily="34"/>
              </a:rPr>
              <a:t>)</a:t>
            </a:r>
            <a:endParaRPr lang="en-US" sz="5400" b="1">
              <a:cs typeface="Liberation Sans" pitchFamily="3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823411-D369-359B-E3C7-E13A3F443D43}"/>
              </a:ext>
            </a:extLst>
          </p:cNvPr>
          <p:cNvSpPr txBox="1"/>
          <p:nvPr/>
        </p:nvSpPr>
        <p:spPr>
          <a:xfrm>
            <a:off x="238160" y="1463039"/>
            <a:ext cx="9637360" cy="628872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אלגוריתם לחישוב ערך שאפלי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b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אחד מ-!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סדרים האפשריים:</a:t>
            </a:r>
          </a:p>
          <a:p>
            <a:pPr marL="457200" lvl="2" algn="r" rtl="1" hangingPunct="0">
              <a:buSzPct val="45000"/>
              <a:buFont typeface="StarSymbol"/>
              <a:buChar char="●"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שחקן:</a:t>
            </a:r>
          </a:p>
          <a:p>
            <a:pPr marL="914400" lvl="4" algn="r" rtl="1" hangingPunct="0">
              <a:buSzPct val="45000"/>
              <a:buFont typeface="StarSymbol"/>
              <a:buChar char="●"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חשב את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העלות השולית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שלו בסידור זה.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6600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שחקן:</a:t>
            </a:r>
          </a:p>
          <a:p>
            <a:pPr marL="457200" lvl="2" algn="r" rtl="1" hangingPunct="0">
              <a:buSzPct val="45000"/>
              <a:buFont typeface="StarSymbol"/>
              <a:buChar char="●"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6600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חשב את הממוצע של !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6600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6600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00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6600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עלויות השוליות.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6600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2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דוגמה: </a:t>
            </a:r>
            <a:r>
              <a:rPr lang="en-US" sz="2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code/shapley.ods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6600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6600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6711-444D-BAF4-0779-EF8D9FBF01B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משפט שאפלי – הוכחת נכונות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361BB7-63EE-3A3C-7E3B-5EA77F079A39}"/>
              </a:ext>
            </a:extLst>
          </p:cNvPr>
          <p:cNvSpPr txBox="1"/>
          <p:nvPr/>
        </p:nvSpPr>
        <p:spPr>
          <a:xfrm>
            <a:off x="0" y="1307519"/>
            <a:ext cx="9875520" cy="640222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כיסוי מלא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נכון לכל סדר בנפרד</a:t>
            </a:r>
            <a:r>
              <a:rPr lang="en-US" sz="54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←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נכון גם לממוצע על כל הסדרים. 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א.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סימטריה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ערך שאפלי של כל שחקן נקבע רק לפי העלויות השוליות שלו.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lvl="0" algn="r" rtl="1" hangingPunct="0"/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ב.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אפס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העלויות השוליות 0</a:t>
            </a:r>
            <a:r>
              <a:rPr lang="en-US" sz="54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he-IL" sz="54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 </a:t>
            </a:r>
            <a:r>
              <a:rPr lang="en-US" sz="4000"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>
                <a:solidFill>
                  <a:srgbClr val="009900"/>
                </a:solidFill>
                <a:latin typeface="Liberation Sans" pitchFamily="34"/>
                <a:ea typeface="Liberation Sans" pitchFamily="34"/>
                <a:cs typeface="Liberation Sans" pitchFamily="34"/>
              </a:rPr>
              <a:t>←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הממוצע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ג.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ליניאריות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ערך שאפלי הוא פונקציה ליניארית של הערכים בטבלה.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CA947-B626-B2E8-4BE2-E3880AAC6A5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משפט שאפלי – יחידות </a:t>
            </a:r>
            <a:r>
              <a:rPr lang="en-US" sz="4000" b="1">
                <a:cs typeface="Liberation Sans" pitchFamily="34"/>
              </a:rPr>
              <a:t> 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05C82B-0132-8864-1812-9355A3CB6278}"/>
              </a:ext>
            </a:extLst>
          </p:cNvPr>
          <p:cNvSpPr txBox="1"/>
          <p:nvPr/>
        </p:nvSpPr>
        <p:spPr>
          <a:xfrm>
            <a:off x="0" y="1307880"/>
            <a:ext cx="9875520" cy="480960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66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נוכיח יחידות לשני שחקנים. ההוכחה לשלושה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66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ומעלה מסובכת יותר טכנית, אבל דומה.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פונקציית-עלות כללית לשני שחקנים נראית כך: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(0,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ערכי שאפלי הם: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= 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  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))/2 =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1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/2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  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)/2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= 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  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))/2 =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1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/2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  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)/2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49E2-959D-EC6D-54BB-3190B9CE339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משפט שאפלי – יחידות </a:t>
            </a:r>
            <a:r>
              <a:rPr lang="en-US" sz="4000" b="1">
                <a:cs typeface="Liberation Sans" pitchFamily="34"/>
              </a:rPr>
              <a:t>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55CDA-5791-4A9E-0997-46DD5BD626BC}"/>
              </a:ext>
            </a:extLst>
          </p:cNvPr>
          <p:cNvSpPr txBox="1"/>
          <p:nvPr/>
        </p:nvSpPr>
        <p:spPr>
          <a:xfrm>
            <a:off x="1" y="1307880"/>
            <a:ext cx="9875520" cy="590311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פונקציית העלות היא סכום של שלוש פונקציות:</a:t>
            </a:r>
          </a:p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4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(0, </a:t>
            </a:r>
            <a:r>
              <a:rPr lang="en-US" sz="34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34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, </a:t>
            </a:r>
            <a:r>
              <a:rPr lang="en-US" sz="34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34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, </a:t>
            </a:r>
            <a:r>
              <a:rPr lang="en-US" sz="34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34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= 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(0,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,0,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)+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(0,0,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en-US" sz="34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(0,0,0,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בכחולה, ב הוא "אפס" ולכן א משלם הכל – 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he-IL" sz="34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.</a:t>
            </a:r>
            <a:endParaRPr lang="en-US" sz="3400" b="0" i="1" u="none" strike="noStrike" kern="1200" cap="none">
              <a:ln>
                <a:noFill/>
              </a:ln>
              <a:solidFill>
                <a:srgbClr val="0000FF"/>
              </a:solidFill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בירוקה,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 הוא "אפס" ולכן ב משלם הכל – 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1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באדומה, א+ב סימטריים ולכן כל אחד משלם בדיוק חצי מהעלות הכוללת –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34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3400" b="0" i="1" u="none" strike="noStrike" kern="1200" cap="none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3400" b="0" i="1" u="none" strike="noStrike" kern="1200" cap="none" baseline="-33000">
                <a:ln>
                  <a:noFill/>
                </a:ln>
                <a:solidFill>
                  <a:srgbClr val="FF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)/2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FF33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לפי ליניאריות, התשלומים חייבים להיות: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 </a:t>
            </a:r>
            <a:r>
              <a:rPr lang="en-US" sz="4000" b="0" i="1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=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)/2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=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/2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 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)/2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 </a:t>
            </a:r>
            <a:r>
              <a:rPr lang="en-US" sz="4000" b="0" i="1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=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)/2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= 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b</a:t>
            </a:r>
            <a:r>
              <a:rPr lang="en-US" sz="40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/2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+ (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ab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1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a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)/2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    =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בדיוק ערכי שאפלי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49A3-0158-661C-D1B2-4475B230BFB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5400" b="1">
                <a:cs typeface="Liberation Sans" pitchFamily="34"/>
              </a:rPr>
              <a:t>חישוב ערך שאפלי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72C59C-66A7-4C14-5892-30F5905D1614}"/>
              </a:ext>
            </a:extLst>
          </p:cNvPr>
          <p:cNvSpPr txBox="1"/>
          <p:nvPr/>
        </p:nvSpPr>
        <p:spPr>
          <a:xfrm>
            <a:off x="0" y="1307880"/>
            <a:ext cx="9875520" cy="42220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במקרה הכללי, חישוב ערך שאפלי הוא בעיה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NP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-ק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שה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צריך לעבור על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!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סדרים.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במקרים פרטיים, ניתן לנצל את מבנה הבעיה כדי לחשב את ערך שאפלי ביעילות.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דוגמה: חלוקת עלויות של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מסלול המראה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06CE6EA-090D-C946-5C47-B5C374A463B1}"/>
              </a:ext>
            </a:extLst>
          </p:cNvPr>
          <p:cNvSpPr txBox="1"/>
          <p:nvPr/>
        </p:nvSpPr>
        <p:spPr>
          <a:xfrm>
            <a:off x="925512" y="359428"/>
            <a:ext cx="82295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en-US" sz="3600" b="0" i="0" u="none" strike="noStrike">
                <a:solidFill>
                  <a:srgbClr val="212121"/>
                </a:solidFill>
                <a:latin typeface="inherit"/>
              </a:rPr>
              <a:t>Airport problem</a:t>
            </a:r>
            <a:br>
              <a:rPr lang="en-US" sz="1400" b="0" i="0" u="none" strike="noStrike">
                <a:solidFill>
                  <a:srgbClr val="000000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he-IL" sz="3600" b="0" i="0" u="none" strike="noStrike">
                <a:solidFill>
                  <a:srgbClr val="212121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חלוקת עלות של בניית </a:t>
            </a:r>
            <a:r>
              <a:rPr lang="he-IL" sz="3600" b="1" i="0" u="none" strike="noStrike">
                <a:solidFill>
                  <a:srgbClr val="212121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מסלול-המראה</a:t>
            </a:r>
            <a:r>
              <a:rPr lang="he-IL" sz="3600" b="0" i="0" u="none" strike="noStrike">
                <a:solidFill>
                  <a:srgbClr val="212121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br>
              <a:rPr lang="he-IL" sz="1400" b="0" i="0" u="none" strike="noStrike">
                <a:solidFill>
                  <a:srgbClr val="000000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he-IL" sz="3600" b="0" i="0" u="none" strike="noStrike">
                <a:solidFill>
                  <a:srgbClr val="212121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בין חברות-תעופה הצריכות אורכים שונים</a:t>
            </a:r>
            <a:endParaRPr lang="he-IL" sz="1400" b="0" i="0" u="none" strike="noStrike">
              <a:solidFill>
                <a:srgbClr val="000000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16247AF0-96D0-A922-2903-4F534E099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211" y="2634698"/>
            <a:ext cx="845820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ED6F4-4CB7-92BB-EC10-D9254C309F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2065" y="-259035"/>
            <a:ext cx="9988560" cy="1347480"/>
          </a:xfrm>
        </p:spPr>
        <p:txBody>
          <a:bodyPr vert="horz"/>
          <a:lstStyle/>
          <a:p>
            <a:pPr lvl="0" rtl="1"/>
            <a:r>
              <a:rPr lang="he-IL" sz="4400" b="1">
                <a:cs typeface="Liberation Sans" pitchFamily="34"/>
              </a:rPr>
              <a:t>ערכי שאפלי בבעיית מסלול ההמראה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F6E5D-58DD-7DB4-79CE-D480517AB9E5}"/>
              </a:ext>
            </a:extLst>
          </p:cNvPr>
          <p:cNvSpPr txBox="1"/>
          <p:nvPr/>
        </p:nvSpPr>
        <p:spPr>
          <a:xfrm>
            <a:off x="-8508920" y="869730"/>
            <a:ext cx="18365390" cy="659035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העלות של כל תת-קבוצה = 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העלות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הגדולה ביותר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בתת-הקבוצה.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ניתן לחשב</a:t>
            </a:r>
            <a:r>
              <a:rPr lang="he-IL" sz="4000"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ערך שאפלי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ישירות – ראו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airport.py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ניתן גם לחשב לפי 3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העקרונות של שאפלי: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נפרק את הבעיה לסכום ליניארי של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בעיות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 תת-בעיה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עלות רק לקטע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[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-1,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]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 תת-בעיה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שחקנים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1,...,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-1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הם "שחקני אפס", 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	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ולכן לא משלמים כלום.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שחקנים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,…,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ם סימטריים,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ולכן עלות הקטע מתחלקת ביניהם בשווה.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F8FD679-9CFC-00AC-1088-D94B467D4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874" y="2644029"/>
            <a:ext cx="9286875" cy="43243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B4590D-7BC3-290E-F214-F74C283598BE}"/>
              </a:ext>
            </a:extLst>
          </p:cNvPr>
          <p:cNvSpPr txBox="1"/>
          <p:nvPr/>
        </p:nvSpPr>
        <p:spPr>
          <a:xfrm>
            <a:off x="1532001" y="739064"/>
            <a:ext cx="78172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4800" b="0" i="0" u="none" strike="noStrike">
                <a:solidFill>
                  <a:srgbClr val="212121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פתרון בעיית מסלול ההמראה</a:t>
            </a:r>
            <a:endParaRPr lang="he-IL" sz="2000" b="0" i="0" u="none" strike="noStrike">
              <a:solidFill>
                <a:srgbClr val="000000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91FF444-7038-7C32-8A96-D4F1C393847D}"/>
              </a:ext>
            </a:extLst>
          </p:cNvPr>
          <p:cNvSpPr txBox="1"/>
          <p:nvPr/>
        </p:nvSpPr>
        <p:spPr>
          <a:xfrm>
            <a:off x="1863238" y="496469"/>
            <a:ext cx="635414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4000" b="1" i="0" u="none" strike="noStrike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חישוב יעיל של ערך שאפלי</a:t>
            </a:r>
            <a:endParaRPr lang="he-IL" sz="3200" b="0" i="0" u="none" strike="noStrike">
              <a:solidFill>
                <a:prstClr val="black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D4ACC-30EC-1F3F-700E-F8D11F84D3B5}"/>
              </a:ext>
            </a:extLst>
          </p:cNvPr>
          <p:cNvSpPr txBox="1"/>
          <p:nvPr/>
        </p:nvSpPr>
        <p:spPr>
          <a:xfrm>
            <a:off x="625151" y="1453791"/>
            <a:ext cx="863081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3600" b="0" i="0" u="none" strike="noStrike">
                <a:solidFill>
                  <a:srgbClr val="990099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דוגמה נוספת: חלוקת </a:t>
            </a:r>
            <a:r>
              <a:rPr lang="he-IL" sz="3600" b="0" i="1" u="none" strike="noStrike">
                <a:solidFill>
                  <a:srgbClr val="990099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עלויות נסיעה</a:t>
            </a:r>
            <a:r>
              <a:rPr lang="he-IL" sz="3600" b="0" i="0" u="none" strike="noStrike">
                <a:solidFill>
                  <a:srgbClr val="990099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 כאשר סדר הורדת הנוסעים </a:t>
            </a:r>
            <a:r>
              <a:rPr lang="he-IL" sz="3600" b="0" i="1" u="none" strike="noStrike">
                <a:solidFill>
                  <a:srgbClr val="990099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קבוע מראש</a:t>
            </a:r>
            <a:r>
              <a:rPr lang="he-IL" sz="3600" b="0" i="0" u="none" strike="noStrike">
                <a:solidFill>
                  <a:srgbClr val="990099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.</a:t>
            </a:r>
            <a:endParaRPr lang="he-IL" sz="1600" b="0" i="0" u="none" strike="noStrike">
              <a:solidFill>
                <a:prstClr val="black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US" sz="3600" b="0" i="0" u="none" strike="noStrike" baseline="0">
                <a:solidFill>
                  <a:srgbClr val="990099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Levinger, Hazon, Azaria (2019)</a:t>
            </a:r>
            <a:endParaRPr lang="en-US" sz="1600" b="0" i="0" u="none" strike="noStrike" baseline="0">
              <a:solidFill>
                <a:prstClr val="black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3600" b="0" i="0" u="none" strike="noStrike" baseline="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הכללה של בעיית מסלול ההמראה.</a:t>
            </a:r>
            <a:endParaRPr lang="he-IL" sz="1600" b="0" i="0" u="none" strike="noStrike" baseline="0">
              <a:solidFill>
                <a:prstClr val="black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21EF705-024A-F050-DB26-F9582385D1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948" y="3762115"/>
            <a:ext cx="5038725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63B0DF-E8CD-6D4D-87E0-AA047659BE7D}"/>
              </a:ext>
            </a:extLst>
          </p:cNvPr>
          <p:cNvSpPr txBox="1"/>
          <p:nvPr/>
        </p:nvSpPr>
        <p:spPr>
          <a:xfrm>
            <a:off x="776222" y="459147"/>
            <a:ext cx="86943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4800" b="0" i="0" u="none" strike="noStrike">
                <a:solidFill>
                  <a:srgbClr val="212121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המבנה של בעיית שיתוף הנסיעות</a:t>
            </a:r>
            <a:endParaRPr lang="he-IL" sz="2000" b="0" i="0" u="none" strike="noStrike">
              <a:solidFill>
                <a:srgbClr val="000000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E269E1-4AAE-2F3A-FC1B-C772A760F1A7}"/>
              </a:ext>
            </a:extLst>
          </p:cNvPr>
          <p:cNvSpPr txBox="1"/>
          <p:nvPr/>
        </p:nvSpPr>
        <p:spPr>
          <a:xfrm>
            <a:off x="494522" y="1940768"/>
            <a:ext cx="879876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4000" b="0" i="0" u="none" strike="noStrike">
                <a:solidFill>
                  <a:srgbClr val="262626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סדר הורדת הנוסעים: </a:t>
            </a:r>
            <a:r>
              <a:rPr lang="en-US" sz="4000" b="0" i="0" u="none" strike="noStrike">
                <a:solidFill>
                  <a:srgbClr val="262626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a – b – i – c – d</a:t>
            </a:r>
            <a:r>
              <a:rPr lang="en-US" sz="4000" b="0" i="0" u="none" strike="noStrike">
                <a:solidFill>
                  <a:srgbClr val="262626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 </a:t>
            </a: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4000" b="0" i="0" u="none" strike="noStrike" baseline="0">
                <a:solidFill>
                  <a:srgbClr val="262626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פרמוטציה נוכחית:  </a:t>
            </a:r>
            <a:r>
              <a:rPr lang="en-US" sz="4000" b="0" i="0" u="none" strike="noStrike" baseline="0">
                <a:solidFill>
                  <a:srgbClr val="262626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b, d, c, a, i</a:t>
            </a:r>
            <a:endParaRPr lang="en-US" sz="4000" b="0" i="0" u="none" strike="noStrike" baseline="0">
              <a:solidFill>
                <a:srgbClr val="262626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4000" b="0" i="0" u="none" strike="noStrike" baseline="0">
                <a:solidFill>
                  <a:srgbClr val="006600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העלות בלי </a:t>
            </a:r>
            <a:r>
              <a:rPr lang="en-US" sz="4000" b="0" i="0" u="none" strike="noStrike" baseline="0">
                <a:solidFill>
                  <a:srgbClr val="006600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i</a:t>
            </a:r>
            <a:r>
              <a:rPr lang="he-IL" sz="4000">
                <a:solidFill>
                  <a:srgbClr val="006600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: </a:t>
            </a:r>
            <a:r>
              <a:rPr lang="he-IL" sz="4000" b="0" i="0" u="none" strike="noStrike" baseline="0">
                <a:solidFill>
                  <a:srgbClr val="006600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הנוסעים </a:t>
            </a:r>
            <a:r>
              <a:rPr lang="en-US" sz="4000" b="0" i="0" u="none" strike="noStrike" baseline="0">
                <a:solidFill>
                  <a:srgbClr val="006600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a,b,c,d</a:t>
            </a:r>
            <a:r>
              <a:rPr lang="he-IL" sz="4000" b="0" i="0" u="none" strike="noStrike" baseline="0">
                <a:solidFill>
                  <a:srgbClr val="006600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.</a:t>
            </a:r>
            <a:endParaRPr lang="en-US" sz="4000" b="0" i="0" u="none" strike="noStrike" baseline="0">
              <a:solidFill>
                <a:srgbClr val="262626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4000" b="0" i="0" u="none" strike="noStrike" baseline="0">
                <a:solidFill>
                  <a:srgbClr val="A23C33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העלות עם </a:t>
            </a:r>
            <a:r>
              <a:rPr lang="en-US" sz="4000" b="0" i="0" u="none" strike="noStrike" baseline="0">
                <a:solidFill>
                  <a:srgbClr val="A23C33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i</a:t>
            </a:r>
            <a:r>
              <a:rPr lang="he-IL" sz="4000" b="0" i="0" u="none" strike="noStrike" baseline="0">
                <a:solidFill>
                  <a:srgbClr val="A23C33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:</a:t>
            </a:r>
            <a:r>
              <a:rPr lang="en-US" sz="4000" b="0" i="0" u="none" strike="noStrike" baseline="0">
                <a:solidFill>
                  <a:srgbClr val="A23C33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he-IL" sz="4000" b="0" i="0" u="none" strike="noStrike" baseline="0">
                <a:solidFill>
                  <a:srgbClr val="A23C33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הנוסעים </a:t>
            </a:r>
            <a:r>
              <a:rPr lang="en-US" sz="4000" b="0" i="0" u="none" strike="noStrike" baseline="0">
                <a:solidFill>
                  <a:srgbClr val="A23C33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a,b,i,c,d</a:t>
            </a:r>
            <a:r>
              <a:rPr lang="he-IL" sz="4000" b="0" i="0" u="none" strike="noStrike" baseline="0">
                <a:solidFill>
                  <a:srgbClr val="A23C33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.</a:t>
            </a:r>
            <a:endParaRPr lang="en-US" sz="4000" b="0" i="0" u="none" strike="noStrike" baseline="0">
              <a:solidFill>
                <a:srgbClr val="262626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  <a:p>
            <a:pPr marL="285750" marR="0" indent="-285750" algn="r" rtl="1">
              <a:buFont typeface="Arial" panose="020B0604020202020204" pitchFamily="34" charset="0"/>
              <a:buChar char="•"/>
            </a:pPr>
            <a:r>
              <a:rPr lang="he-IL" sz="4000" b="0" i="0" u="none" strike="noStrike" baseline="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מסקנה: כש-</a:t>
            </a:r>
            <a:r>
              <a:rPr lang="en-US" sz="4000" b="0" i="0" u="none" strike="noStrike" baseline="0">
                <a:solidFill>
                  <a:prstClr val="black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i</a:t>
            </a:r>
            <a:r>
              <a:rPr lang="he-IL" sz="4000" b="0" i="0" u="none" strike="noStrike" baseline="0">
                <a:solidFill>
                  <a:prstClr val="black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 </a:t>
            </a:r>
            <a:r>
              <a:rPr lang="he-IL" sz="4000" b="0" i="0" u="none" strike="noStrike" baseline="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מצטרף לסדרה, הוא </a:t>
            </a:r>
            <a:br>
              <a:rPr lang="he-IL" sz="4000" b="0" i="0" u="none" strike="noStrike" baseline="0">
                <a:solidFill>
                  <a:srgbClr val="262626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he-IL" sz="4000" b="1" i="0" u="none" strike="noStrike" baseline="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מפחית </a:t>
            </a:r>
            <a:r>
              <a:rPr lang="he-IL" sz="4000" b="0" i="0" u="none" strike="noStrike" baseline="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את העלות של הקטע </a:t>
            </a:r>
            <a:r>
              <a:rPr lang="en-US" sz="4000" b="0" i="0" u="none" strike="noStrike" baseline="0">
                <a:solidFill>
                  <a:prstClr val="black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b-c</a:t>
            </a:r>
            <a:r>
              <a:rPr lang="he-IL" sz="4000" b="0" i="0" u="none" strike="noStrike" baseline="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,</a:t>
            </a:r>
            <a:br>
              <a:rPr lang="en-US" sz="4000" b="0" i="0" u="none" strike="noStrike" baseline="0">
                <a:solidFill>
                  <a:srgbClr val="262626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</a:br>
            <a:r>
              <a:rPr lang="he-IL" sz="4000" b="1" i="0" u="none" strike="noStrike" baseline="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ומוסיף </a:t>
            </a:r>
            <a:r>
              <a:rPr lang="he-IL" sz="4000" b="0" i="0" u="none" strike="noStrike" baseline="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את העלות של הקטעים </a:t>
            </a:r>
            <a:r>
              <a:rPr lang="en-US" sz="4000" b="0" i="0" u="none" strike="noStrike" baseline="0">
                <a:solidFill>
                  <a:prstClr val="black"/>
                </a:solidFill>
                <a:latin typeface="Garamond" panose="02020404030301010803" pitchFamily="18" charset="0"/>
                <a:cs typeface="Liberation Sans" panose="020B0604020202020204" pitchFamily="34" charset="0"/>
              </a:rPr>
              <a:t>b-i, i-c</a:t>
            </a:r>
            <a:r>
              <a:rPr lang="he-IL" sz="4000">
                <a:solidFill>
                  <a:prstClr val="black"/>
                </a:solidFill>
                <a:latin typeface="Liberation Sans" panose="020B0604020202020204" pitchFamily="34" charset="0"/>
                <a:cs typeface="Liberation Sans" panose="020B0604020202020204" pitchFamily="34" charset="0"/>
              </a:rPr>
              <a:t>.</a:t>
            </a:r>
            <a:endParaRPr lang="en-US" sz="4000" b="0" i="0" u="none" strike="noStrike" baseline="0">
              <a:solidFill>
                <a:srgbClr val="262626"/>
              </a:solidFill>
              <a:latin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09F8C-760A-D214-0482-B267E496DF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91440" y="-39960"/>
            <a:ext cx="9988560" cy="1347480"/>
          </a:xfrm>
        </p:spPr>
        <p:txBody>
          <a:bodyPr vert="horz"/>
          <a:lstStyle/>
          <a:p>
            <a:pPr lvl="0" rtl="1"/>
            <a:r>
              <a:rPr lang="he-IL" sz="4400" b="1">
                <a:cs typeface="Liberation Sans" pitchFamily="34"/>
              </a:rPr>
              <a:t>ערכי שאפלי בבעיית שיתוף הנסיעות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C017E-071E-2F32-4D7E-7D3030F6BADD}"/>
              </a:ext>
            </a:extLst>
          </p:cNvPr>
          <p:cNvSpPr txBox="1"/>
          <p:nvPr/>
        </p:nvSpPr>
        <p:spPr>
          <a:xfrm>
            <a:off x="56832" y="971617"/>
            <a:ext cx="9966960" cy="671148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ניתן לחשב ישירות – ראו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ridesharing.py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ניתן גם לחשב לפי 3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העקרונות של שאפלי: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נפרק את הבעיה לסכום של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O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en-US" sz="3600" b="0" i="1" u="none" strike="noStrike" kern="1200" cap="none" baseline="33000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2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בעיות: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תת-בעיה שבה משלמים רק את 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d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[0,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]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solidFill>
                <a:srgbClr val="00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457200" lvl="3" algn="r" rtl="1" hangingPunct="0">
              <a:buSzPct val="45000"/>
              <a:buFont typeface="StarSymbol"/>
              <a:buChar char="●"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שחקן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מוסיף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כשהוא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הראשון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מבין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1..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מצטרף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ז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 קורה באחד מכל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סדרים</a:t>
            </a:r>
            <a:r>
              <a:rPr lang="he-IL" sz="3200"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שאפלי שלו 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Times New Roman" pitchFamily="18"/>
                <a:ea typeface="Noto Sans CJK SC Regular" pitchFamily="2"/>
                <a:cs typeface="Liberation Sans" pitchFamily="34"/>
              </a:rPr>
              <a:t>d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Times New Roman" pitchFamily="18"/>
                <a:ea typeface="Noto Sans CJK SC Regular" pitchFamily="2"/>
                <a:cs typeface="Liberation Sans" pitchFamily="34"/>
              </a:rPr>
              <a:t>[0,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Times New Roman" pitchFamily="18"/>
                <a:ea typeface="Noto Sans CJK SC Regular" pitchFamily="2"/>
                <a:cs typeface="Liberation Sans" pitchFamily="34"/>
              </a:rPr>
              <a:t>]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/k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rgbClr val="00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457200" lvl="3" algn="r" rtl="1" hangingPunct="0">
              <a:buSzPct val="45000"/>
              <a:buFont typeface="StarSymbol"/>
              <a:buChar char="●"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שחקן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j&lt;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מפחית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כשהוא הראשון מבין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1..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-1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שמצטרף אחרי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באחד מכל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00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-1)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סדרים</a:t>
            </a:r>
            <a:r>
              <a:rPr lang="he-IL" sz="3200"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Times New Roman" pitchFamily="18"/>
                <a:ea typeface="Noto Sans CJK SC Regular" pitchFamily="2"/>
                <a:cs typeface="Liberation Sans" pitchFamily="34"/>
              </a:rPr>
              <a:t>d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Times New Roman" pitchFamily="18"/>
                <a:ea typeface="Noto Sans CJK SC Regular" pitchFamily="2"/>
                <a:cs typeface="Liberation Sans" pitchFamily="34"/>
              </a:rPr>
              <a:t>[0,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Times New Roman" pitchFamily="18"/>
                <a:ea typeface="Noto Sans CJK SC Regular" pitchFamily="2"/>
                <a:cs typeface="Liberation Sans" pitchFamily="34"/>
              </a:rPr>
              <a:t>]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99"/>
                </a:solidFill>
                <a:highlight>
                  <a:srgbClr val="FFFF00"/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/k(k-1)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00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rgbClr val="00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&lt;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תת-בעיה שבה משלמים רק את 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d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[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</a:t>
            </a:r>
            <a:r>
              <a:rPr lang="en-US" sz="3600" b="1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]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solidFill>
                <a:srgbClr val="66006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457200" lvl="3" algn="r" rtl="1" hangingPunct="0">
              <a:buSzPct val="45000"/>
              <a:buFont typeface="StarSymbol"/>
              <a:buChar char="●"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שחקן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מוסיף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כאשר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מצטרף ראשון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ו-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מצטרף שני– באחד מכל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+1)(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)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סדרים. אותו הדבר לשחקן </a:t>
            </a:r>
            <a:r>
              <a:rPr lang="en-US" sz="3200" i="1"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rgbClr val="66006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457200" lvl="3" algn="r" rtl="1" hangingPunct="0">
              <a:buSzPct val="45000"/>
              <a:buFont typeface="StarSymbol"/>
              <a:buChar char="●"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שחקן 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i&lt;</a:t>
            </a:r>
            <a:r>
              <a:rPr lang="en-US" sz="3200" b="1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&lt;k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מפחית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כאשר </a:t>
            </a:r>
            <a:r>
              <a:rPr lang="en-US" sz="3200" i="1"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3200" i="1"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k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מצטרפים ראשונים והוא מצטרף שלישי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-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בשניים מכל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+1)(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)(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</a:t>
            </a:r>
            <a:r>
              <a:rPr lang="en-US" sz="3200" b="0" i="1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i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-1)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66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סדרים.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22ED2-176D-9A2B-7600-71D4282767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198720"/>
            <a:ext cx="10080000" cy="990000"/>
          </a:xfrm>
        </p:spPr>
        <p:txBody>
          <a:bodyPr vert="horz"/>
          <a:lstStyle/>
          <a:p>
            <a:pPr lvl="0" rtl="1"/>
            <a:r>
              <a:rPr lang="he-IL" sz="5400">
                <a:latin typeface="Liberation Sans" pitchFamily="34"/>
                <a:cs typeface="Liberation Sans" pitchFamily="34"/>
              </a:rPr>
              <a:t>שאלה פתוחה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0AC28-1CCD-3AF4-7157-97DA5B26DDD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1080" y="1371599"/>
            <a:ext cx="9874800" cy="6035399"/>
          </a:xfrm>
        </p:spPr>
        <p:txBody>
          <a:bodyPr vert="horz">
            <a:noAutofit/>
          </a:bodyPr>
          <a:lstStyle/>
          <a:p>
            <a:pPr lvl="0" algn="ctr" rtl="1"/>
            <a:r>
              <a:rPr lang="he-IL" sz="5400">
                <a:solidFill>
                  <a:srgbClr val="6666FF"/>
                </a:solidFill>
                <a:latin typeface="Liberation Sans" pitchFamily="34"/>
                <a:cs typeface="Liberation Sans" pitchFamily="34"/>
              </a:rPr>
              <a:t>איך לחשב את ערך שאפלי</a:t>
            </a:r>
            <a:br>
              <a:rPr lang="en-US" sz="5400">
                <a:solidFill>
                  <a:srgbClr val="6666FF"/>
                </a:solidFill>
                <a:latin typeface="Liberation Sans" pitchFamily="34"/>
                <a:cs typeface="Liberation Sans" pitchFamily="34"/>
              </a:rPr>
            </a:br>
            <a:r>
              <a:rPr lang="he-IL" sz="5400">
                <a:solidFill>
                  <a:srgbClr val="6666FF"/>
                </a:solidFill>
                <a:latin typeface="Liberation Sans" pitchFamily="34"/>
                <a:cs typeface="Liberation Sans" pitchFamily="34"/>
              </a:rPr>
              <a:t>כאשר סדר ההורדה </a:t>
            </a:r>
            <a:br>
              <a:rPr lang="en-US" sz="5400">
                <a:solidFill>
                  <a:srgbClr val="6666FF"/>
                </a:solidFill>
                <a:latin typeface="Liberation Sans" pitchFamily="34"/>
                <a:cs typeface="Liberation Sans" pitchFamily="34"/>
              </a:rPr>
            </a:br>
            <a:r>
              <a:rPr lang="he-IL" sz="5400" b="1">
                <a:solidFill>
                  <a:srgbClr val="6666FF"/>
                </a:solidFill>
                <a:latin typeface="Liberation Sans" pitchFamily="34"/>
                <a:cs typeface="Liberation Sans" pitchFamily="34"/>
              </a:rPr>
              <a:t>לא קבוע מראש?</a:t>
            </a:r>
            <a:br>
              <a:rPr lang="en-US" sz="5400" b="1">
                <a:solidFill>
                  <a:srgbClr val="6666FF"/>
                </a:solidFill>
                <a:latin typeface="Liberation Sans" pitchFamily="34"/>
                <a:cs typeface="Liberation Sans" pitchFamily="34"/>
              </a:rPr>
            </a:br>
            <a:br>
              <a:rPr lang="en-US" sz="5400" b="1">
                <a:solidFill>
                  <a:srgbClr val="6666FF"/>
                </a:solidFill>
                <a:latin typeface="Liberation Sans" pitchFamily="34"/>
                <a:cs typeface="Liberation Sans" pitchFamily="34"/>
              </a:rPr>
            </a:br>
            <a:endParaRPr lang="en-US" sz="5400" b="1">
              <a:solidFill>
                <a:srgbClr val="6666FF"/>
              </a:solidFill>
              <a:latin typeface="Liberation Sans" pitchFamily="34"/>
              <a:cs typeface="Liberation Sans" pitchFamily="3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1191</Words>
  <Application>Microsoft Office PowerPoint</Application>
  <PresentationFormat>Custom</PresentationFormat>
  <Paragraphs>138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Aptos</vt:lpstr>
      <vt:lpstr>Aptos Display</vt:lpstr>
      <vt:lpstr>Arial</vt:lpstr>
      <vt:lpstr>Garamond</vt:lpstr>
      <vt:lpstr>inherit</vt:lpstr>
      <vt:lpstr>Liberation Sans</vt:lpstr>
      <vt:lpstr>Liberation Serif</vt:lpstr>
      <vt:lpstr>StarSymbol</vt:lpstr>
      <vt:lpstr>Times New Roman</vt:lpstr>
      <vt:lpstr>Default</vt:lpstr>
      <vt:lpstr>Office Theme</vt:lpstr>
      <vt:lpstr>PowerPoint Presentation</vt:lpstr>
      <vt:lpstr>שיתוף נסיעה במונית</vt:lpstr>
      <vt:lpstr>דוגמה – חלוקה הוגנת של עלויות</vt:lpstr>
      <vt:lpstr>בעיה כללית: משחק שיתופי</vt:lpstr>
      <vt:lpstr>עלות שולית</vt:lpstr>
      <vt:lpstr>ליניאריות</vt:lpstr>
      <vt:lpstr>ליניאריות - דוגמה</vt:lpstr>
      <vt:lpstr>משפט שאפלי (Shapley)</vt:lpstr>
      <vt:lpstr>ערך שאפלי Shapley Value))</vt:lpstr>
      <vt:lpstr>משפט שאפלי – הוכחת נכונות</vt:lpstr>
      <vt:lpstr>משפט שאפלי – יחידות  (1)</vt:lpstr>
      <vt:lpstr>משפט שאפלי – יחידות (2)</vt:lpstr>
      <vt:lpstr>חישוב ערך שאפלי</vt:lpstr>
      <vt:lpstr>PowerPoint Presentation</vt:lpstr>
      <vt:lpstr>ערכי שאפלי בבעיית מסלול ההמראה</vt:lpstr>
      <vt:lpstr>PowerPoint Presentation</vt:lpstr>
      <vt:lpstr>PowerPoint Presentation</vt:lpstr>
      <vt:lpstr>PowerPoint Presentation</vt:lpstr>
      <vt:lpstr>ערכי שאפלי בבעיית שיתוף הנסיעות</vt:lpstr>
      <vt:lpstr>שאלה פתוחה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Erel Segal-Halevi</dc:creator>
  <cp:lastModifiedBy>Erel Segal-Halevi</cp:lastModifiedBy>
  <cp:revision>88</cp:revision>
  <dcterms:created xsi:type="dcterms:W3CDTF">2019-12-14T20:16:58Z</dcterms:created>
  <dcterms:modified xsi:type="dcterms:W3CDTF">2025-12-21T17:55:03Z</dcterms:modified>
</cp:coreProperties>
</file>