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9"/>
  </p:notesMasterIdLst>
  <p:handoutMasterIdLst>
    <p:handoutMasterId r:id="rId3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6858000" type="screen4x3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58AD31-E35F-4353-9558-AC228DECBD9C}" v="192" dt="2026-01-04T19:54:47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1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5BAA88-D404-10EC-3855-77C69FB91C4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5760" cy="4568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1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57DC6-BFB8-ED72-776A-97B33AA304C1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1880" y="0"/>
            <a:ext cx="2975760" cy="4568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1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E349B-AD21-14F8-A79D-2B83F467A2D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6800"/>
            <a:ext cx="2975760" cy="4568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1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AA531-9160-0111-8068-D2A75562D56D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1880" y="8686800"/>
            <a:ext cx="2975760" cy="4568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1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fld id="{D311EC93-279B-46CD-ADC2-D41BD5931392}" type="slidenum">
              <a:t>‹#›</a:t>
            </a:fld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2921878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74175F-3D45-7A0C-4EC4-4BF683F64CC2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cap="sq">
            <a:noFill/>
            <a:prstDash val="solid"/>
          </a:ln>
        </p:spPr>
        <p:txBody>
          <a:bodyPr vert="horz" wrap="none" lIns="90000" tIns="45000" rIns="90000" bIns="45000" anchor="ctr" anchorCtr="1" compatLnSpc="1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3" name="Free-form: Shape 2">
            <a:extLst>
              <a:ext uri="{FF2B5EF4-FFF2-40B4-BE49-F238E27FC236}">
                <a16:creationId xmlns:a16="http://schemas.microsoft.com/office/drawing/2014/main" id="{A1D96FD2-EEF0-3F2B-31A9-62B24434E5C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custGeom>
            <a:avLst>
              <a:gd name="f0" fmla="val 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BC9051B-071E-DA5D-09CB-E0CCEDB0E4D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3885839" y="0"/>
            <a:ext cx="2970360" cy="455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t" anchorCtr="0" compatLnSpc="1">
            <a:noAutofit/>
          </a:bodyPr>
          <a:lstStyle>
            <a:lvl1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he-IL" sz="12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 lvl="0"/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66636-47DE-1C90-66B3-D7324B11EC4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1080" y="0"/>
            <a:ext cx="2970360" cy="455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t" anchorCtr="0" compatLnSpc="1">
            <a:noAutofit/>
          </a:bodyPr>
          <a:lstStyle>
            <a:lvl1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he-IL" sz="12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 lvl="0"/>
            <a:endParaRPr lang="he-IL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68086FD9-79B8-E948-3F3C-9C685DE87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440"/>
            <a:ext cx="4570560" cy="34275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D5CB8DDA-74B6-253C-8C7D-E884621F111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799" y="4343400"/>
            <a:ext cx="5484960" cy="41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compatLnSpc="1"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678238-F945-39C1-1703-28C4879B096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3885839" y="8685000"/>
            <a:ext cx="2970360" cy="45539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lvl1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he-IL" sz="12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 lvl="0"/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FF583C-4951-246D-464B-5FE473794E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1080" y="8685000"/>
            <a:ext cx="2970360" cy="45539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lvl1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he-IL" sz="12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 lvl="0"/>
            <a:fld id="{6776F765-3206-487F-9D4B-F8E486788E6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7825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0" algn="l" hangingPunct="0">
      <a:lnSpc>
        <a:spcPct val="100000"/>
      </a:lnSpc>
      <a:spcBef>
        <a:spcPts val="448"/>
      </a:spcBef>
      <a:spcAft>
        <a:spcPts val="0"/>
      </a:spcAft>
      <a:tabLst>
        <a:tab pos="0" algn="l"/>
        <a:tab pos="457200" algn="l"/>
        <a:tab pos="914400" algn="l"/>
        <a:tab pos="1371599" algn="l"/>
        <a:tab pos="1828800" algn="l"/>
        <a:tab pos="2286000" algn="l"/>
        <a:tab pos="2743199" algn="l"/>
        <a:tab pos="3200400" algn="l"/>
        <a:tab pos="3657600" algn="l"/>
        <a:tab pos="4114800" algn="l"/>
        <a:tab pos="4572000" algn="l"/>
        <a:tab pos="5029200" algn="l"/>
        <a:tab pos="5486399" algn="l"/>
        <a:tab pos="5943600" algn="l"/>
        <a:tab pos="6400799" algn="l"/>
        <a:tab pos="6858000" algn="l"/>
        <a:tab pos="7315200" algn="l"/>
        <a:tab pos="7772400" algn="l"/>
        <a:tab pos="8229600" algn="l"/>
        <a:tab pos="8686800" algn="l"/>
        <a:tab pos="9144000" algn="l"/>
      </a:tabLst>
      <a:defRPr lang="en-US" sz="1200" b="0" i="0" u="none" strike="noStrike" cap="none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Times New Roman" pitchFamily="18"/>
        <a:cs typeface="Nachlieli CLM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D0B94673-5BC2-D9BC-B53E-5D587D443F3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06A7AAFC-205E-46D4-BEC9-4ED92204AD45}" type="slidenum">
              <a:t>1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E6B01-E113-7635-9C62-8FF94CDD98A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A072A-8D6F-F52B-6169-99BEA671FBC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89FB5ED-9D34-706D-F640-2D67E5AFF72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4F09A086-C8E9-4756-AA55-B9811E450164}" type="slidenum">
              <a:t>2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BA2A7-9A1F-70AC-3159-16790D941FE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F07B0-9AFF-2831-22BF-B5A3316809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5426E041-0C1A-56DD-D2D9-BC260978EFC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786A888D-4287-401A-9FCE-C14B900A2B66}" type="slidenum">
              <a:t>3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EEEEE-92A5-F537-7F0A-667D9159E66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77A14-18C2-6EF3-4834-378473D0937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3FDD43BF-1730-A1F2-6A89-BB1BA2B8909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EC7AA113-A905-4912-8E31-AD24CCC32FA8}" type="slidenum">
              <a:t>4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F64C4-883B-AFBE-B355-F0109D06F4C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747EB6-8808-6B03-5EA9-B14336DC47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9234AE20-5CFB-A108-73C4-3B6597F4D9C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65335E55-2C0B-43FA-998C-DA67954D7727}" type="slidenum">
              <a:t>5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EF2520-EA4B-AA16-4C77-DAB44B27A1B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02751-FCC0-91DC-A4E4-6FFDE97C9045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9C587603-EA83-4E55-4F2B-F180C8BB6FD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4CBD5332-C61C-40FA-B220-1B6910D065E7}" type="slidenum">
              <a:t>6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AABD5-12CC-1F94-D879-5A026FFCE99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EDEFA-19CB-4087-CABD-143078FD9566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A1170E32-66FE-7675-FA34-788933BAD95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CD78F8A3-7D0E-4E02-A297-9DE2497EB5F9}" type="slidenum">
              <a:t>7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91C44-0528-E4C3-BCC8-6A3EC8747F7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71079-01B5-7DFD-E05B-A5197F4DB451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46C2D1A2-D449-4006-EBAB-456C7E7B812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A3F47FEE-8807-42F9-9224-C678A0FA2DB5}" type="slidenum">
              <a:t>8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0BBF3-CC65-76CD-2AA7-082E0D4B0DE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F218D9-16C7-81CD-066C-0F215D9873BB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95A8FE3A-BBAC-1C6C-6B6D-7C21E9773F1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30A160FF-4B78-497A-BB11-4DF53BE07422}" type="slidenum">
              <a:t>9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D26822-0D79-1010-1D8E-F6D728EB351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1D072-AAF0-C5C4-58E3-2DFE76BB474E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90D27613-600A-F4BA-F4CD-DC043C4E9BD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A7085F3D-4C3A-4930-98D0-0D39BC7BDAAB}" type="slidenum">
              <a:t>10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46A9B-35B8-DECC-90AF-B44704CC487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C7554A-330E-87D4-7691-81ED5B36D4A7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9F7EB8DD-7238-117D-8FBD-836E0017290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1AD49F72-B700-4536-90A5-DF976A98D4AF}" type="slidenum">
              <a:t>11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453C0-1FD6-0F1B-7CFE-B72F6A6D95A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7A745-1D13-20CD-3B72-AFE00D4F9E92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AED8A529-D6C4-4DEE-9F64-EF52F8CD9C7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F415E829-5591-4EB4-B223-37D322829ED5}" type="slidenum">
              <a:t>12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27EA8-308A-D118-7662-1CB1FED231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39BB67-DAEF-2F4F-8071-170E9C0505B6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D83CD58-73FA-2831-FBCD-602E6143848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D64C82BB-7F70-485C-84F4-AC8B4D7CF8C7}" type="slidenum">
              <a:t>13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B1F8E-9AD0-1D8E-8B36-BD4DE3EF221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799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7392A-99FF-FD84-0288-7EDCB241926D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32114465-DBC1-50E6-585A-577B732F052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C77E0C9C-1270-4F12-934B-86627884D07C}" type="slidenum">
              <a:t>14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FEBAF-94A5-33AB-91A0-CB58F2E6FC5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799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2EEF97-80C1-55A8-E9F5-7C28238434BE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40ED9D2E-41D6-EE0C-5456-B59290A9FB0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B1DD640A-ACB1-451C-83F7-EE5E0E7CC810}" type="slidenum">
              <a:t>15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E75FF0-4E5B-EC70-E4AC-67772603E45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67F79-6CCF-DF7B-58F3-D9C40DB1FD11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AB194294-1AD1-3BCB-E2F7-85F10D9B2E0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D183919F-9A19-4E51-88C3-19EC2022F14E}" type="slidenum">
              <a:t>16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0E995-27F5-8021-E554-773B972D726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51D8E-7356-54B9-E076-434EA3F9A3E2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59EC83F2-192D-83F4-B1C2-F8B17981934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CF7F836D-6F33-49C9-B3F7-8B0500F2D7EF}" type="slidenum">
              <a:t>17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72F53-D732-B2E5-3243-2C5894FE5CA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382596-35C0-611A-5850-A75A17C8CF7D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5C6D91C2-10A9-4F7B-E822-97BF8FDF62F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29CE80F6-EC39-4499-A62D-BD11C997329B}" type="slidenum">
              <a:t>18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48520-3684-C71C-2282-0ABA643D391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F7994-F2FD-5CFF-B2E3-3491E112CEE1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10B2FC5C-5A13-6172-56D3-DA8905CA796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18044994-5FC6-4A93-B02B-E50A746BA880}" type="slidenum">
              <a:t>19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76EBC-B20E-61E7-06FF-0FDE64D1E67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7D4D8-3073-A49C-4841-AB967C7A9C86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092D8C89-2BED-A5A2-7D29-B9DCDD345F2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AD8A46E0-2C7C-4126-B67D-531FEA55D36F}" type="slidenum">
              <a:t>20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4CE29-7524-007A-C239-0230B969D9E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F3829-5FD9-A97C-93EA-A14B8B8D9979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476F9CAA-BAAD-07C9-09D2-7E015AB047E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65B975A1-ECCB-417A-A283-5ECCEDC572DF}" type="slidenum">
              <a:t>21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5F4F0-EC89-469D-3ECD-C3D27BB65A2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58229C-4718-2766-B50F-97D024A75BD9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E79AC44-DABF-4F76-F546-E269663E81B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06FE9AB4-EADC-427B-A88E-E33BB169C6EA}" type="slidenum">
              <a:t>22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B6E4B-CD8D-F3CC-E9F7-F13332EBCB3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6776D-323D-73B0-6C0A-A9B6A4EB176C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C29A80C7-F288-2221-B3C6-966C39E42D8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97A68646-5BF2-4EC4-9CC5-76BDEAF27E81}" type="slidenum">
              <a:t>23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90644-9AA3-D963-813F-13903B32E4C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8FC68A-4A84-C438-6F71-2A537ADDF570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FCB45203-1EA5-242B-3EDD-508F3617252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906BE1BB-EFA4-4208-A569-9D0DAACA0AB1}" type="slidenum">
              <a:t>24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C2DEB-B308-6C6C-4026-ECCB641966F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085B6F-DDB5-83A8-91C0-D802D4CF79D9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EA49F621-F50D-68F0-76E3-226EE2003C3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8705BCBC-253B-42D1-BDC3-72C5BA1390E3}" type="slidenum">
              <a:t>25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4699C-256C-EF9A-D04E-81978AEBB40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CCD76-112B-CD1A-0966-060FC04DAE5D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3CC31653-D6EB-2358-7DA7-AFF8EB04C00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>
            <a:noAutofit/>
          </a:bodyPr>
          <a:lstStyle/>
          <a:p>
            <a:pPr lvl="0"/>
            <a:fld id="{EA544673-1D4A-4747-976E-F74DC73B1262}" type="slidenum">
              <a:t>26</a:t>
            </a:fld>
            <a:endParaRPr lang="he-IL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EFA7F-2FE4-F176-FDED-E7FEA5F9224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0036A-71E4-BAB5-DD52-150E098011B8}"/>
              </a:ext>
            </a:extLst>
          </p:cNvPr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Times New Roman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0D733-D3A3-DE71-772C-1B99906A3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3ED84-6817-D3CC-21B8-036CA94F1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C74DA-8C3B-14DE-2AAF-F3ADFBC8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440B9-8C00-B130-4BB4-ADD28B05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848DA-84E6-9286-F06B-E21D36AEF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DDD99B-6142-4337-9966-7AA95A9B220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0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4713-972A-9F8C-1AAF-FE1E0704B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8B010-98E4-B2B7-0117-816456542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07264-AD40-12D5-8AF4-E108452F4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D10D7-BA67-435F-EA1D-40A525E47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6FA91-7635-5A68-C664-ECDA2CFB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7E867EB-5E02-4F43-BBB0-942417CA21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2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0D9D6-D787-DC5A-16A4-579D19216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FAB82-0539-3E98-59F6-BC9D39BCE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71096-FFCC-925E-B61F-2247A1CC2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07D50-4E96-8470-6ABD-EEA190245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8DB92-8B80-BCA3-D851-F751D4C8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D8304DF-7EEF-400E-A199-E04BD97E9DF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25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EDDEC-891E-7AC4-36D1-FBA61759D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E2925-304D-701A-CA93-AD52C673D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458B8-88DA-7093-DD42-A827B9C9A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FD733-FACE-F52F-1FC0-D874EF036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4BDE5-6B9D-3157-F1F2-C3D4460E3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AA30F-2726-DE7C-2721-DEF1216C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F285B04-54B4-408E-B533-3E4E141787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7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174C-095B-9368-02CE-0D6AF2A97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F1150-883A-AE8C-FFB9-04A610D74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F0F40-7BB2-4DD1-CF0C-B23865D4B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84BD2-CF0F-ADE9-117D-DB5B79C7F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D91B35-DBD8-4937-54D2-E8F1695BF1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7CFA2-E432-4DCC-BB21-2E6485D8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CD4A9C-B9A0-1878-0E26-5C71C5C50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B3702-16D5-6D9D-1A0B-23B48E02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3674B3-BD67-4B56-AC7A-90D764FD77D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6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43F9A-A03D-7139-E75E-FD9DCBB5A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D50207-CD89-7AC8-1E0B-F6E9BF9A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1B762-AD85-18DC-188B-F5F858581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6ADD4-C566-CB3D-8536-2B34B30ED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E64F915-C2C5-40B9-881B-6BB3203669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20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4DE4F8-846B-82BC-28C1-7661E9A4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A105D-0750-316B-B7D8-81DBA218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BEDC6-FE7C-4936-7644-D0DFC3E2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A838761-44F1-43D8-9BF8-69ABE7A26DA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19783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2E7D3-207B-0BED-A17A-78F59A210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74460-BC4A-123D-F038-CCE50BEAD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0E7A0-0E72-D69D-38AE-1D9A3B52E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432AB-696B-C33C-75F3-94EE4E576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B36B8-9058-2A84-6536-9232A733D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D9826-058C-AF80-F504-124ABBBD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5024006-ABEB-47B6-8FDD-EEB235240DC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20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8948D-2598-C3D8-45D6-BC1BDF5F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7DEC39-F643-5205-615C-2540660EFF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67066-3A32-ADC8-3E3C-9C51F04AE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3EEC4-BCFE-42AD-108D-C1298B78D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0AE50-959D-E1E9-6EEC-978AD678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26CC3-7A9D-0AF7-3B45-73405EBED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B9C4714-58F5-4D5C-8045-E377CD53244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84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A34A9-3682-F6F7-603E-6CF560C9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5AE19-2FF7-26DA-881D-C8C9A654E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75E4-1683-E241-E254-0821E3980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13135-5A4D-F846-36C4-19955F9F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FFF01-333C-B88E-15C6-C91139335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C46DA01-C1D8-4474-BF5C-C2AEE2559F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7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B5D200-AC8C-A3D2-96FD-150C83A9D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5813" cy="589597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71884-403E-EE45-6856-13D7133FC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8959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AF038-90F1-C936-CD37-F8BAB99FB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99A69-EF0A-51EF-6B16-0F98008A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A7CF0-3869-B41F-F0BF-10B6337ED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E48ADBE-6EFD-48C7-ABA9-BEE53978D2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58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20882-A650-9307-20A5-72841715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6EC98-5957-E572-43F8-9E08BDA60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70B89-A2F9-EF6F-ECF5-6371AAC4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1F184-E249-7CCA-6C2C-C3A60CF1B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E2B24-CC8A-6997-06EB-90A0783A9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B6DC20-470F-4033-BB35-A3C8982631E1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3A0C-98D2-771A-C5D5-DF8D5C5FC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D0932-8D3E-2FE1-DB5E-03927A038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C5C21-31DE-107F-C88A-2DF8EABE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7272-00B4-A962-588E-F604780E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94006-A20D-6F9C-09E8-AD3CB07B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B6DC20-470F-4033-BB35-A3C8982631E1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D9584-F049-097F-C728-9A380DC31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D6748-6B36-4515-255C-BB664872A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07D2D-2AC2-D6E3-75EC-C01A081C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EBEF7-A23F-C202-0120-4E228AA8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B5D6E-2626-8C65-AAA9-253C3657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B6DC20-470F-4033-BB35-A3C8982631E1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F82F5-9164-05CF-CD52-1A68E2E0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C41B1-FB37-BED5-FDA1-2A36F792F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1F087-4F94-A7EC-9C43-00049CBEA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194FE-7B04-823C-8047-82732A72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D37E6-F74F-F9BE-A940-6B766D71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B6DC20-470F-4033-BB35-A3C8982631E1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CEC1F-E9E1-0C0A-0742-BBCC1AABD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85A0A-77CF-F3CA-1D11-70F6A2E4A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8274C-D43A-D9D3-2212-A556BCE10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7317D-6680-053F-B376-51711880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2700E-CB2E-E810-3567-9036CFD2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B6DC20-470F-4033-BB35-A3C8982631E1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FB49-00FF-1C04-FB42-7D5F5284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96E67-821C-725C-E3DE-657DDFFAA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C63A4-AFFC-8080-6751-D6F13BA02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4F208-48FD-7AD5-D778-D48632F5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48D0-6BE4-7DAC-563A-E927B5DB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B6DC20-470F-4033-BB35-A3C8982631E1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74909-9FA0-3046-794D-8A780EFD6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74D5B-C7F4-0296-2788-005A062F7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AEEA2-89BA-FB64-5AAF-56C0A261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14544-ABEB-C712-7ECE-B361C881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50CBA-CFD6-C1C9-6DF6-89C3A515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B6DC20-470F-4033-BB35-A3C8982631E1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2AE4A-9CE3-ACF0-90D3-3D4998A8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CBEAB-0E48-0B5F-4C48-C2ABD6320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3F13C-AB15-1F36-6A29-4BE7F2464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5AA9B-220D-40AD-8631-6DBF08964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81CF8-9869-B01C-6DC1-CC83AD01D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B6DC20-470F-4033-BB35-A3C8982631E1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24576-9798-6EC1-7037-41286F125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186CB-6A2D-1737-F214-917CC2B02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D7CA7-F0D2-3243-EE21-1F3831297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2D7A6-5B85-2CE7-2339-30AA09753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5A826-FE19-5E2C-1F2F-68DB602D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B6DC20-470F-4033-BB35-A3C8982631E1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4F59-D5B1-B652-3BCE-94254674C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E105A-1929-C6DC-8FC3-E19A09FAD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93228-B227-2F2F-D313-DA9AC9754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972A8-C804-51FF-3C6E-FB21FF2C9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C231E-CCB8-F07B-16E5-870194986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B6DC20-470F-4033-BB35-A3C8982631E1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AE10-4496-BE41-4010-E8B614C6A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E3FE1-E8D4-2CCE-B409-6312053BB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68855-92B3-ED6F-ADC9-D2EB7FFD8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D78ED-D1FB-6EAA-AB9E-0FC636E6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B71C4-31EA-5AFF-92A6-69DE6242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B6DC20-470F-4033-BB35-A3C8982631E1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81F8A3-C967-E85A-8179-08D8D1CD54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6839" y="228600"/>
            <a:ext cx="7923240" cy="912959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anchor="ctr" anchorCtr="0" compatLnSpc="1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E6FDE-B595-1EC7-5E9F-AEBB4CFE8C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anchor="t" anchorCtr="0" compatLnSpc="1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AAEBB-8E3E-9F6C-70A9-242554BA31A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552719" y="6245280"/>
            <a:ext cx="2132280" cy="4744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t" anchorCtr="0" compatLnSpc="1">
            <a:noAutofit/>
          </a:bodyPr>
          <a:lstStyle>
            <a:lvl1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800" b="0" i="0" u="none" strike="noStrike" baseline="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BF48D-68F1-ABEC-778A-116DFDDF766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3720" y="6245280"/>
            <a:ext cx="2894040" cy="4744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t" anchorCtr="0" compatLnSpc="1">
            <a:noAutofit/>
          </a:bodyPr>
          <a:lstStyle>
            <a:lvl1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he-IL" sz="1800" b="0" i="0" u="none" strike="noStrike" baseline="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 lvl="0"/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6982C-8AB6-D8BB-D141-0E3050F50C4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80"/>
            <a:ext cx="2131920" cy="4744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t" anchorCtr="0" compatLnSpc="1">
            <a:noAutofit/>
          </a:bodyPr>
          <a:lstStyle>
            <a:lvl1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800" b="0" i="0" u="none" strike="noStrike" baseline="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 lvl="0"/>
            <a:fld id="{87B6DC20-470F-4033-BB35-A3C8982631E1}" type="slidenum">
              <a:t>‹#›</a:t>
            </a:fld>
            <a:endParaRPr lang="en-US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8C407805-832A-BB0D-4C77-E9B695545F20}"/>
              </a:ext>
            </a:extLst>
          </p:cNvPr>
          <p:cNvSpPr/>
          <p:nvPr/>
        </p:nvSpPr>
        <p:spPr>
          <a:xfrm>
            <a:off x="1828800" y="1143000"/>
            <a:ext cx="7010280" cy="1522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00000">
                <a:srgbClr val="FFBF00"/>
              </a:gs>
            </a:gsLst>
            <a:lin ang="3780000"/>
          </a:gradFill>
          <a:ln>
            <a:noFill/>
            <a:prstDash val="solid"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87755464-341A-F1AE-8D02-E9B2C161B51A}"/>
              </a:ext>
            </a:extLst>
          </p:cNvPr>
          <p:cNvSpPr/>
          <p:nvPr/>
        </p:nvSpPr>
        <p:spPr>
          <a:xfrm>
            <a:off x="1828800" y="1143000"/>
            <a:ext cx="7010280" cy="1522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00000">
                <a:srgbClr val="FFBF00"/>
              </a:gs>
            </a:gsLst>
            <a:lin ang="3780000"/>
          </a:gradFill>
          <a:ln>
            <a:noFill/>
            <a:prstDash val="solid"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indent="0" algn="r" rtl="1" hangingPunct="1">
        <a:lnSpc>
          <a:spcPct val="100000"/>
        </a:lnSpc>
        <a:spcBef>
          <a:spcPts val="0"/>
        </a:spcBef>
        <a:spcAft>
          <a:spcPts val="0"/>
        </a:spcAft>
        <a:tabLst>
          <a:tab pos="0" algn="l"/>
          <a:tab pos="457200" algn="l"/>
          <a:tab pos="914400" algn="l"/>
          <a:tab pos="1371599" algn="l"/>
          <a:tab pos="1828800" algn="l"/>
          <a:tab pos="2286000" algn="l"/>
          <a:tab pos="2743199" algn="l"/>
          <a:tab pos="3200400" algn="l"/>
          <a:tab pos="3657600" algn="l"/>
          <a:tab pos="4114800" algn="l"/>
          <a:tab pos="4572000" algn="l"/>
          <a:tab pos="5029200" algn="l"/>
          <a:tab pos="5486399" algn="l"/>
          <a:tab pos="5943600" algn="l"/>
          <a:tab pos="6400799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lang="en-US" sz="6000" b="0" i="0" u="none" strike="noStrike" cap="none" baseline="0">
          <a:ln>
            <a:noFill/>
          </a:ln>
          <a:solidFill>
            <a:srgbClr val="1D0066"/>
          </a:solidFill>
          <a:effectLst>
            <a:outerShdw dist="17961" dir="2700000">
              <a:scrgbClr r="0" g="0" b="0"/>
            </a:outerShdw>
          </a:effectLst>
          <a:highlight>
            <a:scrgbClr r="0" g="0" b="0">
              <a:alpha val="0"/>
            </a:scrgbClr>
          </a:highlight>
          <a:latin typeface="Arial" pitchFamily="34"/>
          <a:cs typeface="David" pitchFamily="2"/>
        </a:defRPr>
      </a:lvl1pPr>
    </p:titleStyle>
    <p:bodyStyle>
      <a:lvl1pPr marL="342720" marR="0" indent="-342720" algn="r" rtl="1" hangingPunct="1">
        <a:lnSpc>
          <a:spcPct val="100000"/>
        </a:lnSpc>
        <a:spcBef>
          <a:spcPts val="799"/>
        </a:spcBef>
        <a:spcAft>
          <a:spcPts val="0"/>
        </a:spcAft>
        <a:tabLst>
          <a:tab pos="342720" algn="l"/>
          <a:tab pos="456840" algn="l"/>
          <a:tab pos="914040" algn="l"/>
          <a:tab pos="1371239" algn="l"/>
          <a:tab pos="1828439" algn="l"/>
          <a:tab pos="2285639" algn="l"/>
          <a:tab pos="2742839" algn="l"/>
          <a:tab pos="3200040" algn="l"/>
          <a:tab pos="3657239" algn="l"/>
          <a:tab pos="4114440" algn="l"/>
          <a:tab pos="4571639" algn="l"/>
          <a:tab pos="5028840" algn="l"/>
          <a:tab pos="5486040" algn="l"/>
          <a:tab pos="5943240" algn="l"/>
          <a:tab pos="6400440" algn="l"/>
          <a:tab pos="6857640" algn="l"/>
          <a:tab pos="7314840" algn="l"/>
          <a:tab pos="7772040" algn="l"/>
          <a:tab pos="8229240" algn="l"/>
          <a:tab pos="8686440" algn="l"/>
          <a:tab pos="9143640" algn="l"/>
        </a:tabLst>
        <a:defRPr lang="en-US" sz="3200" b="0" i="0" u="none" strike="noStrike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34"/>
          <a:cs typeface="Arial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66F583-B601-D082-6349-C69B850A7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4DC6D-7521-B1B5-4B2D-4B0812FFB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390C9-CF0E-6F21-5ED8-CCB23F6E2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88B83-721B-442C-894C-1EC1E1456E81}" type="datetimeFigureOut">
              <a:rPr lang="he-IL" smtClean="0"/>
              <a:t>כ"ב/טבת/תשפ"ו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F0730-6E25-E397-9E1E-9A03D88B0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0192-8D54-80F6-EFED-5F2ED7D84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23177A-B92C-4A58-91B8-BA202985378E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sychologymatch.org/students/FAQ.aspx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youtu.be/xt4B2Xu3FvE" TargetMode="External"/><Relationship Id="rId4" Type="http://schemas.openxmlformats.org/officeDocument/2006/relationships/hyperlink" Target="https://lsp.ekmd.huji.ac.i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C4E7C-789B-2F82-EBA6-57EDBC046AA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235440" cy="6860160"/>
          </a:xfrm>
        </p:spPr>
        <p:txBody>
          <a:bodyPr/>
          <a:lstStyle/>
          <a:p>
            <a:pPr lvl="0" algn="ctr"/>
            <a:br>
              <a:rPr lang="en-US" sz="2800" b="1">
                <a:latin typeface="David CLM" pitchFamily="34"/>
              </a:rPr>
            </a:br>
            <a:br>
              <a:rPr lang="en-US" sz="2800" b="1">
                <a:latin typeface="David CLM" pitchFamily="34"/>
              </a:rPr>
            </a:br>
            <a:br>
              <a:rPr lang="en-US" sz="2800">
                <a:latin typeface="David CLM" pitchFamily="34"/>
              </a:rPr>
            </a:br>
            <a:r>
              <a:rPr lang="en-US" sz="2800">
                <a:solidFill>
                  <a:srgbClr val="009933"/>
                </a:solidFill>
                <a:latin typeface="David CLM" pitchFamily="34"/>
              </a:rPr>
              <a:t>"</a:t>
            </a:r>
            <a:r>
              <a:rPr lang="he-IL" sz="2800">
                <a:solidFill>
                  <a:srgbClr val="009933"/>
                </a:solidFill>
                <a:cs typeface="David CLM" pitchFamily="2"/>
              </a:rPr>
              <a:t>מטרוניתא שאלה את ר' יוסי בר חלפתא, </a:t>
            </a:r>
            <a:br>
              <a:rPr lang="en-US" sz="2800">
                <a:solidFill>
                  <a:srgbClr val="009933"/>
                </a:solidFill>
                <a:cs typeface="David CLM" pitchFamily="2"/>
              </a:rPr>
            </a:br>
            <a:r>
              <a:rPr lang="he-IL" sz="2800">
                <a:solidFill>
                  <a:srgbClr val="009933"/>
                </a:solidFill>
                <a:cs typeface="David CLM" pitchFamily="2"/>
              </a:rPr>
              <a:t>אמרה לו: בכמה ימים ברא הקב"ה את עולמו? </a:t>
            </a:r>
            <a:br>
              <a:rPr lang="en-US" sz="2800">
                <a:solidFill>
                  <a:srgbClr val="009933"/>
                </a:solidFill>
                <a:cs typeface="David CLM" pitchFamily="2"/>
              </a:rPr>
            </a:br>
            <a:r>
              <a:rPr lang="he-IL" sz="2800">
                <a:solidFill>
                  <a:srgbClr val="009933"/>
                </a:solidFill>
                <a:cs typeface="David CLM" pitchFamily="2"/>
              </a:rPr>
              <a:t>אמר לה: לששת ימים...</a:t>
            </a:r>
            <a:br>
              <a:rPr lang="en-US" sz="2800">
                <a:solidFill>
                  <a:srgbClr val="009933"/>
                </a:solidFill>
                <a:cs typeface="David CLM" pitchFamily="2"/>
              </a:rPr>
            </a:br>
            <a:r>
              <a:rPr lang="he-IL" sz="2800">
                <a:solidFill>
                  <a:srgbClr val="009933"/>
                </a:solidFill>
                <a:cs typeface="David CLM" pitchFamily="2"/>
              </a:rPr>
              <a:t>אמרה לו: ומאותה שעה עד עכשיו מהו יושב ועושה? </a:t>
            </a:r>
            <a:br>
              <a:rPr lang="en-US" sz="2800">
                <a:solidFill>
                  <a:srgbClr val="009933"/>
                </a:solidFill>
                <a:cs typeface="David CLM" pitchFamily="2"/>
              </a:rPr>
            </a:br>
            <a:r>
              <a:rPr lang="he-IL" sz="2800">
                <a:solidFill>
                  <a:srgbClr val="009933"/>
                </a:solidFill>
                <a:cs typeface="David CLM" pitchFamily="2"/>
              </a:rPr>
              <a:t>אמר לה: </a:t>
            </a:r>
            <a:r>
              <a:rPr lang="he-IL" sz="2800" b="1">
                <a:solidFill>
                  <a:srgbClr val="009933"/>
                </a:solidFill>
                <a:cs typeface="David CLM" pitchFamily="2"/>
              </a:rPr>
              <a:t>מזווג זיווגים</a:t>
            </a:r>
            <a:r>
              <a:rPr lang="he-IL" sz="2800">
                <a:solidFill>
                  <a:srgbClr val="009933"/>
                </a:solidFill>
                <a:cs typeface="David CLM" pitchFamily="2"/>
              </a:rPr>
              <a:t>... </a:t>
            </a:r>
            <a:r>
              <a:rPr lang="en-US" sz="2800">
                <a:solidFill>
                  <a:srgbClr val="009933"/>
                </a:solidFill>
                <a:cs typeface="David CLM" pitchFamily="2"/>
              </a:rPr>
              <a:t>ואם קלה היא בעינייך</a:t>
            </a:r>
            <a:r>
              <a:rPr lang="he-IL" sz="2800">
                <a:solidFill>
                  <a:srgbClr val="009933"/>
                </a:solidFill>
                <a:cs typeface="David CLM" pitchFamily="2"/>
              </a:rPr>
              <a:t>, </a:t>
            </a:r>
            <a:r>
              <a:rPr lang="en-US" sz="2800">
                <a:solidFill>
                  <a:srgbClr val="009933"/>
                </a:solidFill>
                <a:cs typeface="David CLM" pitchFamily="2"/>
              </a:rPr>
              <a:t>קשה היא לפני הקדוש ברוך הוא כקריעת ים סו</a:t>
            </a:r>
            <a:r>
              <a:rPr lang="he-IL" sz="2800">
                <a:solidFill>
                  <a:srgbClr val="009933"/>
                </a:solidFill>
                <a:cs typeface="David CLM" pitchFamily="2"/>
              </a:rPr>
              <a:t>ף"</a:t>
            </a:r>
            <a:r>
              <a:rPr lang="en-US" sz="2800">
                <a:solidFill>
                  <a:srgbClr val="009933"/>
                </a:solidFill>
                <a:cs typeface="David CLM" pitchFamily="2"/>
              </a:rPr>
              <a:t> </a:t>
            </a:r>
            <a:r>
              <a:rPr lang="he-IL" sz="2800">
                <a:solidFill>
                  <a:srgbClr val="009933"/>
                </a:solidFill>
                <a:cs typeface="David CLM" pitchFamily="2"/>
              </a:rPr>
              <a:t>(</a:t>
            </a:r>
            <a:r>
              <a:rPr lang="en-US" sz="2800">
                <a:solidFill>
                  <a:srgbClr val="009933"/>
                </a:solidFill>
                <a:cs typeface="David CLM" pitchFamily="2"/>
              </a:rPr>
              <a:t>ויקרא רבה ח א</a:t>
            </a:r>
            <a:r>
              <a:rPr lang="he-IL" sz="2800">
                <a:solidFill>
                  <a:srgbClr val="009933"/>
                </a:solidFill>
                <a:cs typeface="David CLM" pitchFamily="2"/>
              </a:rPr>
              <a:t>).</a:t>
            </a:r>
            <a:br>
              <a:rPr lang="en-US" sz="2800" b="1">
                <a:latin typeface="David CLM" pitchFamily="34"/>
              </a:rPr>
            </a:br>
            <a:r>
              <a:rPr lang="he-IL" sz="8000" b="1"/>
              <a:t>אלגוריתמי שידוך</a:t>
            </a:r>
            <a:br>
              <a:rPr lang="en-US" sz="8000" b="1"/>
            </a:br>
            <a:r>
              <a:rPr lang="he-IL" sz="4000" b="1"/>
              <a:t>אראל סגל-הלוי,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E065-877A-B1F3-5C05-11E5ABFE98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6839" y="181080"/>
            <a:ext cx="7923240" cy="1008359"/>
          </a:xfrm>
        </p:spPr>
        <p:txBody>
          <a:bodyPr/>
          <a:lstStyle/>
          <a:p>
            <a:pPr lvl="0" algn="r"/>
            <a:r>
              <a:rPr lang="he-IL"/>
              <a:t>שיבוצים ושידוכים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8F974-E525-A4DC-4D2A-FFEAF3362C6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 algn="r"/>
            <a:r>
              <a:rPr lang="he-IL" b="1">
                <a:solidFill>
                  <a:srgbClr val="009900"/>
                </a:solidFill>
              </a:rPr>
              <a:t>שאלה</a:t>
            </a:r>
            <a:r>
              <a:rPr lang="en-US">
                <a:solidFill>
                  <a:srgbClr val="009900"/>
                </a:solidFill>
              </a:rPr>
              <a:t>: מה ההבדל בין הבעיות הבאות:</a:t>
            </a:r>
          </a:p>
          <a:p>
            <a:pPr lvl="0" algn="r"/>
            <a:r>
              <a:rPr lang="he-IL">
                <a:solidFill>
                  <a:srgbClr val="009900"/>
                </a:solidFill>
              </a:rPr>
              <a:t>א. שיבוץ סטודנטים לחדרים בדירה שכורה;</a:t>
            </a:r>
          </a:p>
          <a:p>
            <a:pPr lvl="0" algn="r"/>
            <a:r>
              <a:rPr lang="he-IL">
                <a:solidFill>
                  <a:srgbClr val="009900"/>
                </a:solidFill>
              </a:rPr>
              <a:t>ב. שיבוץ סטודנטים למחלקות באוניברסיטה?</a:t>
            </a:r>
          </a:p>
          <a:p>
            <a:pPr lvl="0" algn="r"/>
            <a:endParaRPr lang="en-US"/>
          </a:p>
          <a:p>
            <a:pPr lvl="0" algn="r"/>
            <a:r>
              <a:rPr lang="he-IL" b="1">
                <a:solidFill>
                  <a:srgbClr val="0000FF"/>
                </a:solidFill>
              </a:rPr>
              <a:t>תשובה</a:t>
            </a:r>
            <a:r>
              <a:rPr lang="en-US">
                <a:solidFill>
                  <a:srgbClr val="0000FF"/>
                </a:solidFill>
              </a:rPr>
              <a:t>:</a:t>
            </a:r>
          </a:p>
          <a:p>
            <a:pPr lvl="0" algn="r"/>
            <a:r>
              <a:rPr lang="he-IL">
                <a:solidFill>
                  <a:srgbClr val="0000FF"/>
                </a:solidFill>
              </a:rPr>
              <a:t>בעיה א </a:t>
            </a:r>
            <a:r>
              <a:rPr lang="he-IL" i="1">
                <a:solidFill>
                  <a:srgbClr val="0000FF"/>
                </a:solidFill>
              </a:rPr>
              <a:t>חד צדדית</a:t>
            </a:r>
            <a:r>
              <a:rPr lang="en-US">
                <a:solidFill>
                  <a:srgbClr val="0000FF"/>
                </a:solidFill>
              </a:rPr>
              <a:t> – רק לסטודנטים יש העדפות.</a:t>
            </a:r>
          </a:p>
          <a:p>
            <a:pPr lvl="0" algn="r"/>
            <a:r>
              <a:rPr lang="he-IL">
                <a:solidFill>
                  <a:srgbClr val="0000FF"/>
                </a:solidFill>
              </a:rPr>
              <a:t>בעיה ב </a:t>
            </a:r>
            <a:r>
              <a:rPr lang="he-IL" i="1">
                <a:solidFill>
                  <a:srgbClr val="0000FF"/>
                </a:solidFill>
              </a:rPr>
              <a:t>דו צדדית</a:t>
            </a:r>
            <a:r>
              <a:rPr lang="en-US">
                <a:solidFill>
                  <a:srgbClr val="0000FF"/>
                </a:solidFill>
              </a:rPr>
              <a:t> – גם למחלקות יש העדפות.</a:t>
            </a:r>
          </a:p>
          <a:p>
            <a:pPr lvl="0" algn="r"/>
            <a:endParaRPr lang="en-US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A2BE6-1028-C613-7F11-2A37B7A9CBF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6839" y="181080"/>
            <a:ext cx="7923240" cy="1008359"/>
          </a:xfrm>
        </p:spPr>
        <p:txBody>
          <a:bodyPr/>
          <a:lstStyle/>
          <a:p>
            <a:pPr lvl="0" algn="r"/>
            <a:r>
              <a:rPr lang="he-IL"/>
              <a:t>שוק דו-צדדי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9B82A-A793-AB0D-54F4-9C19E88C4E4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8640" y="1645920"/>
            <a:ext cx="8228160" cy="5074920"/>
          </a:xfrm>
        </p:spPr>
        <p:txBody>
          <a:bodyPr/>
          <a:lstStyle/>
          <a:p>
            <a:pPr lvl="0" algn="r"/>
            <a:r>
              <a:rPr lang="he-IL" b="1"/>
              <a:t>הגדרה:</a:t>
            </a:r>
            <a:r>
              <a:rPr lang="he-IL"/>
              <a:t> </a:t>
            </a:r>
            <a:r>
              <a:rPr lang="he-IL" i="1"/>
              <a:t>שוק דו-צדדי</a:t>
            </a:r>
            <a:r>
              <a:rPr lang="en-US"/>
              <a:t> הוא שוק שבו צריך להתאים בין משתתפים משתי קבוצות</a:t>
            </a:r>
            <a:r>
              <a:rPr lang="he-IL"/>
              <a:t>, </a:t>
            </a:r>
            <a:r>
              <a:rPr lang="en-US"/>
              <a:t>כאשר לכל משתתף מכל אחת מהקבוצות יש העדפות שונות.</a:t>
            </a:r>
          </a:p>
          <a:p>
            <a:pPr lvl="0" algn="r"/>
            <a:r>
              <a:rPr lang="he-IL">
                <a:solidFill>
                  <a:srgbClr val="CE181E"/>
                </a:solidFill>
              </a:rPr>
              <a:t>בשוק דו-צדדי אי-אפשר לצפות שלא תהיה קנאה.</a:t>
            </a:r>
          </a:p>
          <a:p>
            <a:pPr lvl="0" algn="r"/>
            <a:r>
              <a:rPr lang="he-IL">
                <a:solidFill>
                  <a:srgbClr val="00CC00"/>
                </a:solidFill>
              </a:rPr>
              <a:t>מה כן?</a:t>
            </a:r>
          </a:p>
          <a:p>
            <a:pPr lvl="0" algn="r"/>
            <a:r>
              <a:rPr lang="he-IL">
                <a:solidFill>
                  <a:srgbClr val="00CC00"/>
                </a:solidFill>
              </a:rPr>
              <a:t>1. </a:t>
            </a:r>
            <a:r>
              <a:rPr lang="en-US">
                <a:solidFill>
                  <a:srgbClr val="00CC00"/>
                </a:solidFill>
              </a:rPr>
              <a:t>יעילות פארטו;</a:t>
            </a:r>
          </a:p>
          <a:p>
            <a:pPr lvl="0" algn="r"/>
            <a:r>
              <a:rPr lang="he-IL" i="1">
                <a:solidFill>
                  <a:srgbClr val="00CC00"/>
                </a:solidFill>
              </a:rPr>
              <a:t>2. </a:t>
            </a:r>
            <a:r>
              <a:rPr lang="en-US" i="1">
                <a:solidFill>
                  <a:srgbClr val="00CC00"/>
                </a:solidFill>
              </a:rPr>
              <a:t>יציבות – ראו בשקף הבא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6708E-78E0-F054-6375-EBFA5801438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6839" y="181080"/>
            <a:ext cx="7923240" cy="1008359"/>
          </a:xfrm>
        </p:spPr>
        <p:txBody>
          <a:bodyPr/>
          <a:lstStyle/>
          <a:p>
            <a:pPr lvl="0" algn="r"/>
            <a:r>
              <a:rPr lang="he-IL"/>
              <a:t>שוק דו-צדדי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ADD35-5D6B-8F0E-2E73-0B16B3CFC91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371599"/>
            <a:ext cx="8228160" cy="5486399"/>
          </a:xfrm>
        </p:spPr>
        <p:txBody>
          <a:bodyPr>
            <a:normAutofit fontScale="92500" lnSpcReduction="10000"/>
          </a:bodyPr>
          <a:lstStyle/>
          <a:p>
            <a:pPr lvl="0" algn="r"/>
            <a:r>
              <a:rPr lang="he-IL" b="1">
                <a:solidFill>
                  <a:srgbClr val="0000FF"/>
                </a:solidFill>
              </a:rPr>
              <a:t>דוגמה</a:t>
            </a:r>
            <a:r>
              <a:rPr lang="he-IL">
                <a:solidFill>
                  <a:srgbClr val="0000FF"/>
                </a:solidFill>
              </a:rPr>
              <a:t>: </a:t>
            </a:r>
            <a:r>
              <a:rPr lang="en-US">
                <a:solidFill>
                  <a:srgbClr val="0000FF"/>
                </a:solidFill>
              </a:rPr>
              <a:t>שני סטודנטים </a:t>
            </a:r>
            <a:r>
              <a:rPr lang="he-IL">
                <a:solidFill>
                  <a:srgbClr val="0000FF"/>
                </a:solidFill>
              </a:rPr>
              <a:t>ס1, ס2 ושתי מחלקות מ1, מ2.</a:t>
            </a:r>
          </a:p>
          <a:p>
            <a:pPr lvl="0" algn="r"/>
            <a:r>
              <a:rPr lang="he-IL">
                <a:solidFill>
                  <a:srgbClr val="0000FF"/>
                </a:solidFill>
              </a:rPr>
              <a:t>הסטודנטים מדרגים: מ1 &gt; מ2.</a:t>
            </a:r>
          </a:p>
          <a:p>
            <a:pPr lvl="0" algn="r"/>
            <a:r>
              <a:rPr lang="he-IL">
                <a:solidFill>
                  <a:srgbClr val="0000FF"/>
                </a:solidFill>
              </a:rPr>
              <a:t>המחלקות מדרגות ס1 &gt;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he-IL">
                <a:solidFill>
                  <a:srgbClr val="0000FF"/>
                </a:solidFill>
              </a:rPr>
              <a:t>ס2.</a:t>
            </a:r>
            <a:endParaRPr lang="en-US">
              <a:solidFill>
                <a:srgbClr val="0000FF"/>
              </a:solidFill>
            </a:endParaRPr>
          </a:p>
          <a:p>
            <a:pPr lvl="0" algn="r"/>
            <a:r>
              <a:rPr lang="he-IL">
                <a:solidFill>
                  <a:srgbClr val="0000FF"/>
                </a:solidFill>
              </a:rPr>
              <a:t>נתבונן בשידוך:</a:t>
            </a:r>
          </a:p>
          <a:p>
            <a:pPr lvl="0" algn="r"/>
            <a:r>
              <a:rPr lang="en-US">
                <a:solidFill>
                  <a:srgbClr val="0000FF"/>
                </a:solidFill>
              </a:rPr>
              <a:t>        </a:t>
            </a:r>
            <a:r>
              <a:rPr lang="he-IL">
                <a:solidFill>
                  <a:srgbClr val="0000FF"/>
                </a:solidFill>
              </a:rPr>
              <a:t>ס1 – מ2,             ס2 – מ1.</a:t>
            </a:r>
            <a:endParaRPr lang="en-US" baseline="-33000">
              <a:solidFill>
                <a:srgbClr val="0000FF"/>
              </a:solidFill>
            </a:endParaRPr>
          </a:p>
          <a:p>
            <a:pPr lvl="0" algn="r"/>
            <a:r>
              <a:rPr lang="he-IL">
                <a:solidFill>
                  <a:srgbClr val="009900"/>
                </a:solidFill>
              </a:rPr>
              <a:t>האם השידוך יעיל פארטו?</a:t>
            </a:r>
          </a:p>
          <a:p>
            <a:pPr lvl="0" algn="r"/>
            <a:r>
              <a:rPr lang="en-US">
                <a:solidFill>
                  <a:srgbClr val="0000FF"/>
                </a:solidFill>
              </a:rPr>
              <a:t>- כן.</a:t>
            </a:r>
          </a:p>
          <a:p>
            <a:pPr lvl="0" algn="r"/>
            <a:r>
              <a:rPr lang="he-IL">
                <a:solidFill>
                  <a:srgbClr val="009900"/>
                </a:solidFill>
              </a:rPr>
              <a:t>אבל מה יקרה אם מחלקה מ1 </a:t>
            </a:r>
            <a:r>
              <a:rPr lang="en-US">
                <a:solidFill>
                  <a:srgbClr val="009900"/>
                </a:solidFill>
              </a:rPr>
              <a:t>תפנה לסטודנט </a:t>
            </a:r>
            <a:r>
              <a:rPr lang="he-IL">
                <a:solidFill>
                  <a:srgbClr val="009900"/>
                </a:solidFill>
              </a:rPr>
              <a:t>ס1?</a:t>
            </a:r>
            <a:endParaRPr lang="en-US">
              <a:solidFill>
                <a:srgbClr val="009900"/>
              </a:solidFill>
            </a:endParaRPr>
          </a:p>
          <a:p>
            <a:pPr lvl="0" algn="r"/>
            <a:r>
              <a:rPr lang="en-US">
                <a:solidFill>
                  <a:srgbClr val="FF3333"/>
                </a:solidFill>
              </a:rPr>
              <a:t>- השידוך יתפרק</a:t>
            </a:r>
            <a:r>
              <a:rPr lang="he-IL">
                <a:solidFill>
                  <a:srgbClr val="FF3333"/>
                </a:solidFill>
              </a:rPr>
              <a:t>! </a:t>
            </a:r>
            <a:r>
              <a:rPr lang="en-US">
                <a:solidFill>
                  <a:srgbClr val="FF3333"/>
                </a:solidFill>
              </a:rPr>
              <a:t>אנשים לא ישתפו פעולה</a:t>
            </a:r>
            <a:r>
              <a:rPr lang="he-IL">
                <a:solidFill>
                  <a:srgbClr val="FF3333"/>
                </a:solidFill>
              </a:rPr>
              <a:t>.</a:t>
            </a:r>
            <a:endParaRPr lang="en-US">
              <a:solidFill>
                <a:srgbClr val="FF3333"/>
              </a:solidFill>
            </a:endParaRPr>
          </a:p>
          <a:p>
            <a:pPr lvl="0" algn="r"/>
            <a:r>
              <a:rPr lang="en-US" i="1">
                <a:solidFill>
                  <a:srgbClr val="FF3333"/>
                </a:solidFill>
              </a:rPr>
              <a:t>                                   </a:t>
            </a:r>
            <a:r>
              <a:rPr lang="he-IL" i="1">
                <a:solidFill>
                  <a:srgbClr val="FF3333"/>
                </a:solidFill>
              </a:rPr>
              <a:t>השוק ייפרם </a:t>
            </a:r>
            <a:r>
              <a:rPr lang="he-IL">
                <a:solidFill>
                  <a:srgbClr val="FF3333"/>
                </a:solidFill>
              </a:rPr>
              <a:t>(</a:t>
            </a:r>
            <a:r>
              <a:rPr lang="en-US" i="1">
                <a:solidFill>
                  <a:srgbClr val="FF3333"/>
                </a:solidFill>
              </a:rPr>
              <a:t>unravel</a:t>
            </a:r>
            <a:r>
              <a:rPr lang="he-IL">
                <a:solidFill>
                  <a:srgbClr val="FF3333"/>
                </a:solidFill>
              </a:rPr>
              <a:t>)</a:t>
            </a:r>
            <a:r>
              <a:rPr lang="he-IL" i="1">
                <a:solidFill>
                  <a:srgbClr val="FF3333"/>
                </a:solidFill>
              </a:rPr>
              <a:t>.</a:t>
            </a:r>
            <a:endParaRPr lang="en-US" i="1">
              <a:solidFill>
                <a:srgbClr val="FF33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D7DF-5460-A6D6-00ED-005EE86DEAB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6839" y="228600"/>
            <a:ext cx="7924680" cy="914400"/>
          </a:xfrm>
        </p:spPr>
        <p:txBody>
          <a:bodyPr wrap="square">
            <a:noAutofit/>
          </a:bodyPr>
          <a:lstStyle/>
          <a:p>
            <a:pPr lvl="0" algn="l" rtl="0"/>
            <a:r>
              <a:rPr lang="he-IL"/>
              <a:t>שידוכים יציבים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783C9-28BC-F0D2-139B-B81818828C8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9360" y="1646280"/>
            <a:ext cx="8229600" cy="4525920"/>
          </a:xfrm>
        </p:spPr>
        <p:txBody>
          <a:bodyPr wrap="square">
            <a:normAutofit lnSpcReduction="10000"/>
          </a:bodyPr>
          <a:lstStyle/>
          <a:p>
            <a:pPr lvl="0" indent="-341280" algn="r">
              <a:lnSpc>
                <a:spcPct val="90000"/>
              </a:lnSpc>
            </a:pPr>
            <a:r>
              <a:rPr lang="he-IL" b="1">
                <a:effectLst>
                  <a:outerShdw dist="17961" dir="2700000">
                    <a:scrgbClr r="0" g="0" b="0"/>
                  </a:outerShdw>
                </a:effectLst>
              </a:rPr>
              <a:t>הגדרה: </a:t>
            </a:r>
            <a:r>
              <a:rPr lang="he-IL" b="1">
                <a:solidFill>
                  <a:srgbClr val="FF0000"/>
                </a:solidFill>
                <a:effectLst>
                  <a:outerShdw dist="17961" dir="2700000">
                    <a:scrgbClr r="0" g="0" b="0"/>
                  </a:outerShdw>
                </a:effectLst>
              </a:rPr>
              <a:t>זוג מערער</a:t>
            </a:r>
            <a:r>
              <a:rPr lang="he-IL">
                <a:effectLst>
                  <a:outerShdw dist="17961" dir="2700000">
                    <a:scrgbClr r="0" g="0" b="0"/>
                  </a:outerShdw>
                </a:effectLst>
              </a:rPr>
              <a:t>:</a:t>
            </a:r>
          </a:p>
          <a:p>
            <a:pPr marL="0" lvl="0" indent="0" algn="r">
              <a:lnSpc>
                <a:spcPct val="90000"/>
              </a:lnSpc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114120" algn="l"/>
                <a:tab pos="571320" algn="l"/>
                <a:tab pos="1028519" algn="l"/>
                <a:tab pos="1485719" algn="l"/>
                <a:tab pos="1942919" algn="l"/>
                <a:tab pos="2400119" algn="l"/>
                <a:tab pos="2857320" algn="l"/>
                <a:tab pos="3314519" algn="l"/>
                <a:tab pos="3771720" algn="l"/>
                <a:tab pos="4228919" algn="l"/>
                <a:tab pos="4686120" algn="l"/>
                <a:tab pos="5143320" algn="l"/>
                <a:tab pos="5600520" algn="l"/>
                <a:tab pos="6057720" algn="l"/>
                <a:tab pos="6514920" algn="l"/>
                <a:tab pos="6972120" algn="l"/>
                <a:tab pos="7429320" algn="l"/>
                <a:tab pos="7886520" algn="l"/>
                <a:tab pos="8343720" algn="l"/>
                <a:tab pos="8800920" algn="l"/>
              </a:tabLst>
            </a:pPr>
            <a:r>
              <a:rPr lang="he-IL"/>
              <a:t>סטודנט ומחלקה שאינם משודכים, והם מעדיפים זה את זו על פני ה"שידוכים" הנוכחיים שלהם.</a:t>
            </a:r>
          </a:p>
          <a:p>
            <a:pPr marL="341280" lvl="0" indent="-341280" algn="r">
              <a:lnSpc>
                <a:spcPct val="90000"/>
              </a:lnSpc>
              <a:tabLst>
                <a:tab pos="341280" algn="l"/>
                <a:tab pos="455400" algn="l"/>
                <a:tab pos="912600" algn="l"/>
                <a:tab pos="1369799" algn="l"/>
                <a:tab pos="1826999" algn="l"/>
                <a:tab pos="2284199" algn="l"/>
                <a:tab pos="2741399" algn="l"/>
                <a:tab pos="3198600" algn="l"/>
                <a:tab pos="3655799" algn="l"/>
                <a:tab pos="4113000" algn="l"/>
                <a:tab pos="4570199" algn="l"/>
                <a:tab pos="5027400" algn="l"/>
                <a:tab pos="5484600" algn="l"/>
                <a:tab pos="5941800" algn="l"/>
                <a:tab pos="6399000" algn="l"/>
                <a:tab pos="6856200" algn="l"/>
                <a:tab pos="7313400" algn="l"/>
                <a:tab pos="7770600" algn="l"/>
                <a:tab pos="8227800" algn="l"/>
                <a:tab pos="8685000" algn="l"/>
                <a:tab pos="9142200" algn="l"/>
              </a:tabLst>
            </a:pPr>
            <a:endParaRPr lang="he-IL"/>
          </a:p>
          <a:p>
            <a:pPr lvl="0" indent="-341280" algn="r">
              <a:lnSpc>
                <a:spcPct val="90000"/>
              </a:lnSpc>
            </a:pPr>
            <a:r>
              <a:rPr lang="he-IL" b="1"/>
              <a:t>הגדרה:</a:t>
            </a:r>
            <a:r>
              <a:rPr lang="he-IL"/>
              <a:t> </a:t>
            </a:r>
            <a:r>
              <a:rPr lang="he-IL" b="1">
                <a:solidFill>
                  <a:srgbClr val="0000CC"/>
                </a:solidFill>
              </a:rPr>
              <a:t>שידוך </a:t>
            </a:r>
            <a:r>
              <a:rPr lang="he-IL" b="1">
                <a:solidFill>
                  <a:srgbClr val="0000CC"/>
                </a:solidFill>
                <a:effectLst>
                  <a:outerShdw dist="17961" dir="2700000">
                    <a:scrgbClr r="0" g="0" b="0"/>
                  </a:outerShdw>
                </a:effectLst>
              </a:rPr>
              <a:t>יציב</a:t>
            </a:r>
            <a:r>
              <a:rPr lang="he-IL">
                <a:solidFill>
                  <a:srgbClr val="0033CC"/>
                </a:solidFill>
                <a:effectLst>
                  <a:outerShdw dist="17961" dir="2700000">
                    <a:scrgbClr r="0" g="0" b="0"/>
                  </a:outerShdw>
                </a:effectLst>
              </a:rPr>
              <a:t>:</a:t>
            </a:r>
          </a:p>
          <a:p>
            <a:pPr marL="0" lvl="0" indent="0" algn="r">
              <a:lnSpc>
                <a:spcPct val="90000"/>
              </a:lnSpc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114120" algn="l"/>
                <a:tab pos="571320" algn="l"/>
                <a:tab pos="1028519" algn="l"/>
                <a:tab pos="1485719" algn="l"/>
                <a:tab pos="1942919" algn="l"/>
                <a:tab pos="2400119" algn="l"/>
                <a:tab pos="2857320" algn="l"/>
                <a:tab pos="3314519" algn="l"/>
                <a:tab pos="3771720" algn="l"/>
                <a:tab pos="4228919" algn="l"/>
                <a:tab pos="4686120" algn="l"/>
                <a:tab pos="5143320" algn="l"/>
                <a:tab pos="5600520" algn="l"/>
                <a:tab pos="6057720" algn="l"/>
                <a:tab pos="6514920" algn="l"/>
                <a:tab pos="6972120" algn="l"/>
                <a:tab pos="7429320" algn="l"/>
                <a:tab pos="7886520" algn="l"/>
                <a:tab pos="8343720" algn="l"/>
                <a:tab pos="8800920" algn="l"/>
              </a:tabLst>
            </a:pPr>
            <a:r>
              <a:rPr lang="he-IL"/>
              <a:t>שידוך בלי זוגות מערערים.</a:t>
            </a:r>
          </a:p>
          <a:p>
            <a:pPr marL="0" lvl="0" indent="0" algn="r">
              <a:lnSpc>
                <a:spcPct val="90000"/>
              </a:lnSpc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114120" algn="l"/>
                <a:tab pos="571320" algn="l"/>
                <a:tab pos="1028519" algn="l"/>
                <a:tab pos="1485719" algn="l"/>
                <a:tab pos="1942919" algn="l"/>
                <a:tab pos="2400119" algn="l"/>
                <a:tab pos="2857320" algn="l"/>
                <a:tab pos="3314519" algn="l"/>
                <a:tab pos="3771720" algn="l"/>
                <a:tab pos="4228919" algn="l"/>
                <a:tab pos="4686120" algn="l"/>
                <a:tab pos="5143320" algn="l"/>
                <a:tab pos="5600520" algn="l"/>
                <a:tab pos="6057720" algn="l"/>
                <a:tab pos="6514920" algn="l"/>
                <a:tab pos="6972120" algn="l"/>
                <a:tab pos="7429320" algn="l"/>
                <a:tab pos="7886520" algn="l"/>
                <a:tab pos="8343720" algn="l"/>
                <a:tab pos="8800920" algn="l"/>
              </a:tabLst>
            </a:pPr>
            <a:endParaRPr lang="he-IL"/>
          </a:p>
          <a:p>
            <a:pPr lvl="0" indent="-341280" algn="r">
              <a:spcBef>
                <a:spcPts val="400"/>
              </a:spcBef>
            </a:pPr>
            <a:r>
              <a:rPr lang="he-IL" sz="2800"/>
              <a:t> </a:t>
            </a:r>
            <a:r>
              <a:rPr lang="he-IL" sz="1800"/>
              <a:t>השקפים הבאים מבוססים על מצגת של פרופ’ סרג'יו הרט בהרצאת "מדוע" בעיצובה של עינב הרט. לינק להרצאה </a:t>
            </a:r>
            <a:r>
              <a:rPr lang="en-US" sz="1600"/>
              <a:t>http://community-youth.huji.ac.il/program1.asp?id=116&amp;cat=117</a:t>
            </a:r>
          </a:p>
          <a:p>
            <a:pPr marL="341280" lvl="0" indent="-341280" algn="r">
              <a:lnSpc>
                <a:spcPct val="90000"/>
              </a:lnSpc>
              <a:tabLst>
                <a:tab pos="341280" algn="l"/>
                <a:tab pos="455400" algn="l"/>
                <a:tab pos="912600" algn="l"/>
                <a:tab pos="1369799" algn="l"/>
                <a:tab pos="1826999" algn="l"/>
                <a:tab pos="2284199" algn="l"/>
                <a:tab pos="2741399" algn="l"/>
                <a:tab pos="3198600" algn="l"/>
                <a:tab pos="3655799" algn="l"/>
                <a:tab pos="4113000" algn="l"/>
                <a:tab pos="4570199" algn="l"/>
                <a:tab pos="5027400" algn="l"/>
                <a:tab pos="5484600" algn="l"/>
                <a:tab pos="5941800" algn="l"/>
                <a:tab pos="6399000" algn="l"/>
                <a:tab pos="6856200" algn="l"/>
                <a:tab pos="7313400" algn="l"/>
                <a:tab pos="7770600" algn="l"/>
                <a:tab pos="8227800" algn="l"/>
                <a:tab pos="8685000" algn="l"/>
                <a:tab pos="9142200" algn="l"/>
              </a:tabLst>
            </a:pPr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3E0EE-7369-724D-5731-E1C5D8576B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6839" y="228600"/>
            <a:ext cx="7924680" cy="914400"/>
          </a:xfrm>
        </p:spPr>
        <p:txBody>
          <a:bodyPr wrap="square">
            <a:noAutofit/>
          </a:bodyPr>
          <a:lstStyle/>
          <a:p>
            <a:pPr lvl="0" algn="l" rtl="0"/>
            <a:r>
              <a:rPr lang="he-IL"/>
              <a:t>שידוכים יציבים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1C8A4-3473-4B59-21FA-0959A37AD3E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20"/>
          </a:xfrm>
        </p:spPr>
        <p:txBody>
          <a:bodyPr wrap="square"/>
          <a:lstStyle/>
          <a:p>
            <a:pPr lvl="0" indent="-341280" algn="r">
              <a:spcBef>
                <a:spcPts val="998"/>
              </a:spcBef>
            </a:pPr>
            <a:r>
              <a:rPr lang="he-IL" sz="4000" b="1">
                <a:effectLst>
                  <a:outerShdw dist="17961" dir="2700000">
                    <a:scrgbClr r="0" g="0" b="0"/>
                  </a:outerShdw>
                </a:effectLst>
              </a:rPr>
              <a:t>הגדרת הבעיה:</a:t>
            </a:r>
          </a:p>
          <a:p>
            <a:pPr marL="0" lvl="0" indent="0" algn="r"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114120" algn="l"/>
                <a:tab pos="571320" algn="l"/>
                <a:tab pos="1028519" algn="l"/>
                <a:tab pos="1485719" algn="l"/>
                <a:tab pos="1942919" algn="l"/>
                <a:tab pos="2400119" algn="l"/>
                <a:tab pos="2857320" algn="l"/>
                <a:tab pos="3314519" algn="l"/>
                <a:tab pos="3771720" algn="l"/>
                <a:tab pos="4228919" algn="l"/>
                <a:tab pos="4686120" algn="l"/>
                <a:tab pos="5143320" algn="l"/>
                <a:tab pos="5600520" algn="l"/>
                <a:tab pos="6057720" algn="l"/>
                <a:tab pos="6514920" algn="l"/>
                <a:tab pos="6972120" algn="l"/>
                <a:tab pos="7429320" algn="l"/>
                <a:tab pos="7886520" algn="l"/>
                <a:tab pos="8343720" algn="l"/>
                <a:tab pos="8800920" algn="l"/>
              </a:tabLst>
            </a:pPr>
            <a:r>
              <a:rPr lang="he-IL"/>
              <a:t>סטודנטים ומחלקות במספר שווה.</a:t>
            </a:r>
          </a:p>
          <a:p>
            <a:pPr marL="0" lvl="0" indent="0" algn="r"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114120" algn="l"/>
                <a:tab pos="571320" algn="l"/>
                <a:tab pos="1028519" algn="l"/>
                <a:tab pos="1485719" algn="l"/>
                <a:tab pos="1942919" algn="l"/>
                <a:tab pos="2400119" algn="l"/>
                <a:tab pos="2857320" algn="l"/>
                <a:tab pos="3314519" algn="l"/>
                <a:tab pos="3771720" algn="l"/>
                <a:tab pos="4228919" algn="l"/>
                <a:tab pos="4686120" algn="l"/>
                <a:tab pos="5143320" algn="l"/>
                <a:tab pos="5600520" algn="l"/>
                <a:tab pos="6057720" algn="l"/>
                <a:tab pos="6514920" algn="l"/>
                <a:tab pos="6972120" algn="l"/>
                <a:tab pos="7429320" algn="l"/>
                <a:tab pos="7886520" algn="l"/>
                <a:tab pos="8343720" algn="l"/>
                <a:tab pos="8800920" algn="l"/>
              </a:tabLst>
            </a:pPr>
            <a:r>
              <a:rPr lang="he-IL"/>
              <a:t>בכל מחלקה יש מקום לסטודנט אחד.</a:t>
            </a:r>
          </a:p>
          <a:p>
            <a:pPr marL="0" lvl="0" indent="0" algn="r"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114120" algn="l"/>
                <a:tab pos="571320" algn="l"/>
                <a:tab pos="1028519" algn="l"/>
                <a:tab pos="1485719" algn="l"/>
                <a:tab pos="1942919" algn="l"/>
                <a:tab pos="2400119" algn="l"/>
                <a:tab pos="2857320" algn="l"/>
                <a:tab pos="3314519" algn="l"/>
                <a:tab pos="3771720" algn="l"/>
                <a:tab pos="4228919" algn="l"/>
                <a:tab pos="4686120" algn="l"/>
                <a:tab pos="5143320" algn="l"/>
                <a:tab pos="5600520" algn="l"/>
                <a:tab pos="6057720" algn="l"/>
                <a:tab pos="6514920" algn="l"/>
                <a:tab pos="6972120" algn="l"/>
                <a:tab pos="7429320" algn="l"/>
                <a:tab pos="7886520" algn="l"/>
                <a:tab pos="8343720" algn="l"/>
                <a:tab pos="8800920" algn="l"/>
              </a:tabLst>
            </a:pPr>
            <a:r>
              <a:rPr lang="he-IL"/>
              <a:t>כל סטודנט לומד במחלקה אחת.</a:t>
            </a:r>
          </a:p>
          <a:p>
            <a:pPr marL="0" lvl="0" indent="0" algn="r"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114120" algn="l"/>
                <a:tab pos="571320" algn="l"/>
                <a:tab pos="1028519" algn="l"/>
                <a:tab pos="1485719" algn="l"/>
                <a:tab pos="1942919" algn="l"/>
                <a:tab pos="2400119" algn="l"/>
                <a:tab pos="2857320" algn="l"/>
                <a:tab pos="3314519" algn="l"/>
                <a:tab pos="3771720" algn="l"/>
                <a:tab pos="4228919" algn="l"/>
                <a:tab pos="4686120" algn="l"/>
                <a:tab pos="5143320" algn="l"/>
                <a:tab pos="5600520" algn="l"/>
                <a:tab pos="6057720" algn="l"/>
                <a:tab pos="6514920" algn="l"/>
                <a:tab pos="6972120" algn="l"/>
                <a:tab pos="7429320" algn="l"/>
                <a:tab pos="7886520" algn="l"/>
                <a:tab pos="8343720" algn="l"/>
                <a:tab pos="8800920" algn="l"/>
              </a:tabLst>
            </a:pPr>
            <a:r>
              <a:rPr lang="he-IL"/>
              <a:t>לכל מחלקה יש סדר העדפות על הסטודנטים.</a:t>
            </a:r>
          </a:p>
          <a:p>
            <a:pPr marL="0" lvl="0" indent="0" algn="r"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114120" algn="l"/>
                <a:tab pos="571320" algn="l"/>
                <a:tab pos="1028519" algn="l"/>
                <a:tab pos="1485719" algn="l"/>
                <a:tab pos="1942919" algn="l"/>
                <a:tab pos="2400119" algn="l"/>
                <a:tab pos="2857320" algn="l"/>
                <a:tab pos="3314519" algn="l"/>
                <a:tab pos="3771720" algn="l"/>
                <a:tab pos="4228919" algn="l"/>
                <a:tab pos="4686120" algn="l"/>
                <a:tab pos="5143320" algn="l"/>
                <a:tab pos="5600520" algn="l"/>
                <a:tab pos="6057720" algn="l"/>
                <a:tab pos="6514920" algn="l"/>
                <a:tab pos="6972120" algn="l"/>
                <a:tab pos="7429320" algn="l"/>
                <a:tab pos="7886520" algn="l"/>
                <a:tab pos="8343720" algn="l"/>
                <a:tab pos="8800920" algn="l"/>
              </a:tabLst>
            </a:pPr>
            <a:r>
              <a:rPr lang="he-IL"/>
              <a:t>לכל סטודנט יש סדר העדפות על המחלקות.</a:t>
            </a:r>
          </a:p>
          <a:p>
            <a:pPr marL="0" lvl="0" indent="0" algn="r"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114120" algn="l"/>
                <a:tab pos="571320" algn="l"/>
                <a:tab pos="1028519" algn="l"/>
                <a:tab pos="1485719" algn="l"/>
                <a:tab pos="1942919" algn="l"/>
                <a:tab pos="2400119" algn="l"/>
                <a:tab pos="2857320" algn="l"/>
                <a:tab pos="3314519" algn="l"/>
                <a:tab pos="3771720" algn="l"/>
                <a:tab pos="4228919" algn="l"/>
                <a:tab pos="4686120" algn="l"/>
                <a:tab pos="5143320" algn="l"/>
                <a:tab pos="5600520" algn="l"/>
                <a:tab pos="6057720" algn="l"/>
                <a:tab pos="6514920" algn="l"/>
                <a:tab pos="6972120" algn="l"/>
                <a:tab pos="7429320" algn="l"/>
                <a:tab pos="7886520" algn="l"/>
                <a:tab pos="8343720" algn="l"/>
                <a:tab pos="8800920" algn="l"/>
              </a:tabLst>
            </a:pPr>
            <a:r>
              <a:rPr lang="he-IL" i="1"/>
              <a:t>האם תמיד קיים שידוך יציב?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321062-6172-C89C-5323-016FCD80D39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l="18332" t="-1716" r="69178" b="72675"/>
          <a:stretch>
            <a:fillRect/>
          </a:stretch>
        </p:blipFill>
        <p:spPr>
          <a:xfrm>
            <a:off x="4849920" y="819000"/>
            <a:ext cx="124596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2DC771-7942-86D2-8318-0123B179365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l="17498" t="32616" r="69178" b="39637"/>
          <a:stretch>
            <a:fillRect/>
          </a:stretch>
        </p:blipFill>
        <p:spPr>
          <a:xfrm rot="240000">
            <a:off x="7391411" y="905183"/>
            <a:ext cx="1334880" cy="175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46E36C-9C90-D4C6-4385-90807A1684B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l="34169" t="32616" r="52501" b="39637"/>
          <a:stretch>
            <a:fillRect/>
          </a:stretch>
        </p:blipFill>
        <p:spPr>
          <a:xfrm>
            <a:off x="5943600" y="828719"/>
            <a:ext cx="1393919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D31602-34C4-D024-7445-8A125BF596F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l="35402" t="32970" r="52217" b="38374"/>
          <a:stretch>
            <a:fillRect/>
          </a:stretch>
        </p:blipFill>
        <p:spPr>
          <a:xfrm>
            <a:off x="2695680" y="2886120"/>
            <a:ext cx="127944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D1F1DD-1782-A811-83AE-B04A3A13EC3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l="70273" t="32970" r="16998" b="39522"/>
          <a:stretch>
            <a:fillRect/>
          </a:stretch>
        </p:blipFill>
        <p:spPr>
          <a:xfrm>
            <a:off x="1476360" y="2809800"/>
            <a:ext cx="1371599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6B1CCC-0925-0F9E-B7DF-935DDF26DAB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l="1778" t="67087" r="85505" b="5404"/>
          <a:stretch>
            <a:fillRect/>
          </a:stretch>
        </p:blipFill>
        <p:spPr>
          <a:xfrm>
            <a:off x="181080" y="2838600"/>
            <a:ext cx="1371599" cy="1828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D71B94-F974-5BCD-5CA5-BA3170BAA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761110"/>
              </p:ext>
            </p:extLst>
          </p:nvPr>
        </p:nvGraphicFramePr>
        <p:xfrm>
          <a:off x="304920" y="4608360"/>
          <a:ext cx="3892747" cy="1028879"/>
        </p:xfrm>
        <a:graphic>
          <a:graphicData uri="http://schemas.openxmlformats.org/drawingml/2006/table">
            <a:tbl>
              <a:tblPr/>
              <a:tblGrid>
                <a:gridCol w="1190292">
                  <a:extLst>
                    <a:ext uri="{9D8B030D-6E8A-4147-A177-3AD203B41FA5}">
                      <a16:colId xmlns:a16="http://schemas.microsoft.com/office/drawing/2014/main" val="3292606619"/>
                    </a:ext>
                  </a:extLst>
                </a:gridCol>
                <a:gridCol w="1190995">
                  <a:extLst>
                    <a:ext uri="{9D8B030D-6E8A-4147-A177-3AD203B41FA5}">
                      <a16:colId xmlns:a16="http://schemas.microsoft.com/office/drawing/2014/main" val="1725600861"/>
                    </a:ext>
                  </a:extLst>
                </a:gridCol>
                <a:gridCol w="1190643">
                  <a:extLst>
                    <a:ext uri="{9D8B030D-6E8A-4147-A177-3AD203B41FA5}">
                      <a16:colId xmlns:a16="http://schemas.microsoft.com/office/drawing/2014/main" val="3541564959"/>
                    </a:ext>
                  </a:extLst>
                </a:gridCol>
                <a:gridCol w="320817">
                  <a:extLst>
                    <a:ext uri="{9D8B030D-6E8A-4147-A177-3AD203B41FA5}">
                      <a16:colId xmlns:a16="http://schemas.microsoft.com/office/drawing/2014/main" val="1918699419"/>
                    </a:ext>
                  </a:extLst>
                </a:gridCol>
              </a:tblGrid>
              <a:tr h="1028879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2484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CD3CF24-76EA-41A3-9ADA-F944C03415CD}"/>
              </a:ext>
            </a:extLst>
          </p:cNvPr>
          <p:cNvGraphicFramePr>
            <a:graphicFrameLocks noGrp="1"/>
          </p:cNvGraphicFramePr>
          <p:nvPr/>
        </p:nvGraphicFramePr>
        <p:xfrm>
          <a:off x="4952880" y="2590919"/>
          <a:ext cx="4116239" cy="578880"/>
        </p:xfrm>
        <a:graphic>
          <a:graphicData uri="http://schemas.openxmlformats.org/drawingml/2006/table">
            <a:tbl>
              <a:tblPr/>
              <a:tblGrid>
                <a:gridCol w="1219680">
                  <a:extLst>
                    <a:ext uri="{9D8B030D-6E8A-4147-A177-3AD203B41FA5}">
                      <a16:colId xmlns:a16="http://schemas.microsoft.com/office/drawing/2014/main" val="333185973"/>
                    </a:ext>
                  </a:extLst>
                </a:gridCol>
                <a:gridCol w="1219680">
                  <a:extLst>
                    <a:ext uri="{9D8B030D-6E8A-4147-A177-3AD203B41FA5}">
                      <a16:colId xmlns:a16="http://schemas.microsoft.com/office/drawing/2014/main" val="1894013170"/>
                    </a:ext>
                  </a:extLst>
                </a:gridCol>
                <a:gridCol w="1372319">
                  <a:extLst>
                    <a:ext uri="{9D8B030D-6E8A-4147-A177-3AD203B41FA5}">
                      <a16:colId xmlns:a16="http://schemas.microsoft.com/office/drawing/2014/main" val="564683457"/>
                    </a:ext>
                  </a:extLst>
                </a:gridCol>
                <a:gridCol w="304560">
                  <a:extLst>
                    <a:ext uri="{9D8B030D-6E8A-4147-A177-3AD203B41FA5}">
                      <a16:colId xmlns:a16="http://schemas.microsoft.com/office/drawing/2014/main" val="3708856155"/>
                    </a:ext>
                  </a:extLst>
                </a:gridCol>
              </a:tblGrid>
              <a:tr h="57888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723635"/>
                  </a:ext>
                </a:extLst>
              </a:tr>
            </a:tbl>
          </a:graphicData>
        </a:graphic>
      </p:graphicFrame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3DEE4670-2D4F-D5B3-2964-F312BDEADBDD}"/>
              </a:ext>
            </a:extLst>
          </p:cNvPr>
          <p:cNvSpPr/>
          <p:nvPr/>
        </p:nvSpPr>
        <p:spPr>
          <a:xfrm flipV="1">
            <a:off x="4495680" y="-1440"/>
            <a:ext cx="1800" cy="6860880"/>
          </a:xfrm>
          <a:prstGeom prst="line">
            <a:avLst/>
          </a:prstGeom>
          <a:noFill/>
          <a:ln w="152280" cap="sq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745EC78F-F5DE-E989-7CE2-18CCE6B4331F}"/>
              </a:ext>
            </a:extLst>
          </p:cNvPr>
          <p:cNvSpPr/>
          <p:nvPr/>
        </p:nvSpPr>
        <p:spPr>
          <a:xfrm>
            <a:off x="380880" y="2239920"/>
            <a:ext cx="3581640" cy="581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3200" b="1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הסטודנטים</a:t>
            </a:r>
          </a:p>
        </p:txBody>
      </p:sp>
      <p:sp>
        <p:nvSpPr>
          <p:cNvPr id="12" name="Free-form: Shape 11">
            <a:extLst>
              <a:ext uri="{FF2B5EF4-FFF2-40B4-BE49-F238E27FC236}">
                <a16:creationId xmlns:a16="http://schemas.microsoft.com/office/drawing/2014/main" id="{C32A271A-E8A5-E82A-5059-C5A1E1B576BC}"/>
              </a:ext>
            </a:extLst>
          </p:cNvPr>
          <p:cNvSpPr/>
          <p:nvPr/>
        </p:nvSpPr>
        <p:spPr>
          <a:xfrm>
            <a:off x="5493960" y="304920"/>
            <a:ext cx="2721240" cy="581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1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3200" b="1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ראשי המחלקות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C765AF-201F-B90B-C697-22F16E482B1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l="18332" t="-1716" r="69178" b="72675"/>
          <a:stretch>
            <a:fillRect/>
          </a:stretch>
        </p:blipFill>
        <p:spPr>
          <a:xfrm>
            <a:off x="4849920" y="819000"/>
            <a:ext cx="124596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8FAB22-A16E-D901-CF61-0AD629C97E9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l="17498" t="32616" r="69178" b="39637"/>
          <a:stretch>
            <a:fillRect/>
          </a:stretch>
        </p:blipFill>
        <p:spPr>
          <a:xfrm rot="240000">
            <a:off x="7391411" y="905183"/>
            <a:ext cx="1334880" cy="175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FF25C2-91F4-1E57-29EA-71491A61F85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l="34169" t="32616" r="52501" b="39637"/>
          <a:stretch>
            <a:fillRect/>
          </a:stretch>
        </p:blipFill>
        <p:spPr>
          <a:xfrm>
            <a:off x="5943600" y="828719"/>
            <a:ext cx="1393919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AA0018-0B29-BBED-2ADB-C01F96938A5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l="35402" t="32970" r="52217" b="38374"/>
          <a:stretch>
            <a:fillRect/>
          </a:stretch>
        </p:blipFill>
        <p:spPr>
          <a:xfrm>
            <a:off x="2834640" y="2194560"/>
            <a:ext cx="127944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65E968-216B-D968-C51D-0F7CBBD940A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l="70273" t="32970" r="16998" b="39522"/>
          <a:stretch>
            <a:fillRect/>
          </a:stretch>
        </p:blipFill>
        <p:spPr>
          <a:xfrm>
            <a:off x="1645920" y="2103120"/>
            <a:ext cx="1371599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89C946-79B3-67DC-E2DE-411331A56D1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l="1778" t="67087" r="85505" b="5404"/>
          <a:stretch>
            <a:fillRect/>
          </a:stretch>
        </p:blipFill>
        <p:spPr>
          <a:xfrm>
            <a:off x="274320" y="2103120"/>
            <a:ext cx="1371599" cy="1828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596977-3C4C-369B-C746-33098BD8C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380986"/>
              </p:ext>
            </p:extLst>
          </p:nvPr>
        </p:nvGraphicFramePr>
        <p:xfrm>
          <a:off x="195840" y="4265640"/>
          <a:ext cx="3954960" cy="1962360"/>
        </p:xfrm>
        <a:graphic>
          <a:graphicData uri="http://schemas.openxmlformats.org/drawingml/2006/table">
            <a:tbl>
              <a:tblPr/>
              <a:tblGrid>
                <a:gridCol w="1210680">
                  <a:extLst>
                    <a:ext uri="{9D8B030D-6E8A-4147-A177-3AD203B41FA5}">
                      <a16:colId xmlns:a16="http://schemas.microsoft.com/office/drawing/2014/main" val="3366090907"/>
                    </a:ext>
                  </a:extLst>
                </a:gridCol>
                <a:gridCol w="1220040">
                  <a:extLst>
                    <a:ext uri="{9D8B030D-6E8A-4147-A177-3AD203B41FA5}">
                      <a16:colId xmlns:a16="http://schemas.microsoft.com/office/drawing/2014/main" val="1979376049"/>
                    </a:ext>
                  </a:extLst>
                </a:gridCol>
                <a:gridCol w="1219680">
                  <a:extLst>
                    <a:ext uri="{9D8B030D-6E8A-4147-A177-3AD203B41FA5}">
                      <a16:colId xmlns:a16="http://schemas.microsoft.com/office/drawing/2014/main" val="1221598423"/>
                    </a:ext>
                  </a:extLst>
                </a:gridCol>
                <a:gridCol w="304560">
                  <a:extLst>
                    <a:ext uri="{9D8B030D-6E8A-4147-A177-3AD203B41FA5}">
                      <a16:colId xmlns:a16="http://schemas.microsoft.com/office/drawing/2014/main" val="1679282128"/>
                    </a:ext>
                  </a:extLst>
                </a:gridCol>
              </a:tblGrid>
              <a:tr h="5972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76816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167721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846183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8915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A267529-C144-85D0-D51A-E5BB19820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796187"/>
              </p:ext>
            </p:extLst>
          </p:nvPr>
        </p:nvGraphicFramePr>
        <p:xfrm>
          <a:off x="4952880" y="2590919"/>
          <a:ext cx="4116239" cy="2188280"/>
        </p:xfrm>
        <a:graphic>
          <a:graphicData uri="http://schemas.openxmlformats.org/drawingml/2006/table">
            <a:tbl>
              <a:tblPr/>
              <a:tblGrid>
                <a:gridCol w="1219680">
                  <a:extLst>
                    <a:ext uri="{9D8B030D-6E8A-4147-A177-3AD203B41FA5}">
                      <a16:colId xmlns:a16="http://schemas.microsoft.com/office/drawing/2014/main" val="655492358"/>
                    </a:ext>
                  </a:extLst>
                </a:gridCol>
                <a:gridCol w="1219680">
                  <a:extLst>
                    <a:ext uri="{9D8B030D-6E8A-4147-A177-3AD203B41FA5}">
                      <a16:colId xmlns:a16="http://schemas.microsoft.com/office/drawing/2014/main" val="1143914908"/>
                    </a:ext>
                  </a:extLst>
                </a:gridCol>
                <a:gridCol w="1372319">
                  <a:extLst>
                    <a:ext uri="{9D8B030D-6E8A-4147-A177-3AD203B41FA5}">
                      <a16:colId xmlns:a16="http://schemas.microsoft.com/office/drawing/2014/main" val="2272146842"/>
                    </a:ext>
                  </a:extLst>
                </a:gridCol>
                <a:gridCol w="304560">
                  <a:extLst>
                    <a:ext uri="{9D8B030D-6E8A-4147-A177-3AD203B41FA5}">
                      <a16:colId xmlns:a16="http://schemas.microsoft.com/office/drawing/2014/main" val="32655805"/>
                    </a:ext>
                  </a:extLst>
                </a:gridCol>
              </a:tblGrid>
              <a:tr h="54540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659766"/>
                  </a:ext>
                </a:extLst>
              </a:tr>
              <a:tr h="54540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293722"/>
                  </a:ext>
                </a:extLst>
              </a:tr>
              <a:tr h="480960">
                <a:tc rowSpan="2"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90374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837119"/>
                  </a:ext>
                </a:extLst>
              </a:tr>
              <a:tr h="54540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631064"/>
                  </a:ext>
                </a:extLst>
              </a:tr>
            </a:tbl>
          </a:graphicData>
        </a:graphic>
      </p:graphicFrame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5734CE0-5092-EBD7-8FCC-1A951C212DAD}"/>
              </a:ext>
            </a:extLst>
          </p:cNvPr>
          <p:cNvSpPr/>
          <p:nvPr/>
        </p:nvSpPr>
        <p:spPr>
          <a:xfrm flipV="1">
            <a:off x="4495680" y="-1440"/>
            <a:ext cx="1800" cy="6860880"/>
          </a:xfrm>
          <a:prstGeom prst="line">
            <a:avLst/>
          </a:prstGeom>
          <a:noFill/>
          <a:ln w="152280" cap="sq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57EB1748-20A5-6E73-3A21-9AC857A69261}"/>
              </a:ext>
            </a:extLst>
          </p:cNvPr>
          <p:cNvSpPr/>
          <p:nvPr/>
        </p:nvSpPr>
        <p:spPr>
          <a:xfrm>
            <a:off x="274320" y="1463039"/>
            <a:ext cx="3931920" cy="581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3200" b="1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העדפות הסטודנטים</a:t>
            </a:r>
          </a:p>
        </p:txBody>
      </p:sp>
      <p:sp>
        <p:nvSpPr>
          <p:cNvPr id="12" name="Free-form: Shape 11">
            <a:extLst>
              <a:ext uri="{FF2B5EF4-FFF2-40B4-BE49-F238E27FC236}">
                <a16:creationId xmlns:a16="http://schemas.microsoft.com/office/drawing/2014/main" id="{7BEFEC56-663F-555A-BF62-F45C08AA5569}"/>
              </a:ext>
            </a:extLst>
          </p:cNvPr>
          <p:cNvSpPr/>
          <p:nvPr/>
        </p:nvSpPr>
        <p:spPr>
          <a:xfrm>
            <a:off x="5204160" y="304920"/>
            <a:ext cx="3301920" cy="581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1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1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 העדפות המחלקות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-form: Shape 1">
            <a:extLst>
              <a:ext uri="{FF2B5EF4-FFF2-40B4-BE49-F238E27FC236}">
                <a16:creationId xmlns:a16="http://schemas.microsoft.com/office/drawing/2014/main" id="{165B51F5-F301-4840-630C-32DFA3D1B231}"/>
              </a:ext>
            </a:extLst>
          </p:cNvPr>
          <p:cNvSpPr/>
          <p:nvPr/>
        </p:nvSpPr>
        <p:spPr>
          <a:xfrm>
            <a:off x="3276720" y="2286000"/>
            <a:ext cx="2438280" cy="23623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69840" cap="sq">
            <a:solidFill>
              <a:srgbClr val="E61A4B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509997-9D72-0D6F-FB9C-7263FCEEF35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240000">
            <a:off x="7602660" y="341457"/>
            <a:ext cx="127656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1F6DFB-85B5-A9E9-B194-E361C9C6A19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553080" y="4876920"/>
            <a:ext cx="1330560" cy="190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7F3C62-EDC9-4459-52EB-FB9F801AAB0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6705720" y="228600"/>
            <a:ext cx="12762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B2C128-8BA8-6624-7440-FDBE2D73073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7581960" y="2666880"/>
            <a:ext cx="12762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7DE41B-CCCC-6DB4-ADE5-48893810C03B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6629400" y="2600280"/>
            <a:ext cx="1322280" cy="18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2BACD5-B87C-7643-6579-63B82A2224D5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7581960" y="4952880"/>
            <a:ext cx="1230120" cy="17621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23C8CE-9892-5AD0-C9C4-7005C059C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577869"/>
              </p:ext>
            </p:extLst>
          </p:nvPr>
        </p:nvGraphicFramePr>
        <p:xfrm>
          <a:off x="392760" y="4458240"/>
          <a:ext cx="3963600" cy="2393999"/>
        </p:xfrm>
        <a:graphic>
          <a:graphicData uri="http://schemas.openxmlformats.org/drawingml/2006/table">
            <a:tbl>
              <a:tblPr/>
              <a:tblGrid>
                <a:gridCol w="1219320">
                  <a:extLst>
                    <a:ext uri="{9D8B030D-6E8A-4147-A177-3AD203B41FA5}">
                      <a16:colId xmlns:a16="http://schemas.microsoft.com/office/drawing/2014/main" val="1566429379"/>
                    </a:ext>
                  </a:extLst>
                </a:gridCol>
                <a:gridCol w="1220040">
                  <a:extLst>
                    <a:ext uri="{9D8B030D-6E8A-4147-A177-3AD203B41FA5}">
                      <a16:colId xmlns:a16="http://schemas.microsoft.com/office/drawing/2014/main" val="1072532219"/>
                    </a:ext>
                  </a:extLst>
                </a:gridCol>
                <a:gridCol w="1219680">
                  <a:extLst>
                    <a:ext uri="{9D8B030D-6E8A-4147-A177-3AD203B41FA5}">
                      <a16:colId xmlns:a16="http://schemas.microsoft.com/office/drawing/2014/main" val="2540780514"/>
                    </a:ext>
                  </a:extLst>
                </a:gridCol>
                <a:gridCol w="304560">
                  <a:extLst>
                    <a:ext uri="{9D8B030D-6E8A-4147-A177-3AD203B41FA5}">
                      <a16:colId xmlns:a16="http://schemas.microsoft.com/office/drawing/2014/main" val="821292796"/>
                    </a:ext>
                  </a:extLst>
                </a:gridCol>
              </a:tblGrid>
              <a:tr h="1028879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549596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396253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726574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2952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4C4A95D-47C6-CB82-C95D-78727A90F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823317"/>
              </p:ext>
            </p:extLst>
          </p:nvPr>
        </p:nvGraphicFramePr>
        <p:xfrm>
          <a:off x="285840" y="231840"/>
          <a:ext cx="4039558" cy="2469439"/>
        </p:xfrm>
        <a:graphic>
          <a:graphicData uri="http://schemas.openxmlformats.org/drawingml/2006/table">
            <a:tbl>
              <a:tblPr/>
              <a:tblGrid>
                <a:gridCol w="1197359">
                  <a:extLst>
                    <a:ext uri="{9D8B030D-6E8A-4147-A177-3AD203B41FA5}">
                      <a16:colId xmlns:a16="http://schemas.microsoft.com/office/drawing/2014/main" val="3322729590"/>
                    </a:ext>
                  </a:extLst>
                </a:gridCol>
                <a:gridCol w="1197359">
                  <a:extLst>
                    <a:ext uri="{9D8B030D-6E8A-4147-A177-3AD203B41FA5}">
                      <a16:colId xmlns:a16="http://schemas.microsoft.com/office/drawing/2014/main" val="3505967006"/>
                    </a:ext>
                  </a:extLst>
                </a:gridCol>
                <a:gridCol w="1263960">
                  <a:extLst>
                    <a:ext uri="{9D8B030D-6E8A-4147-A177-3AD203B41FA5}">
                      <a16:colId xmlns:a16="http://schemas.microsoft.com/office/drawing/2014/main" val="3101009556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3471143663"/>
                    </a:ext>
                  </a:extLst>
                </a:gridCol>
              </a:tblGrid>
              <a:tr h="912239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579901"/>
                  </a:ext>
                </a:extLst>
              </a:tr>
              <a:tr h="51552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154313"/>
                  </a:ext>
                </a:extLst>
              </a:tr>
              <a:tr h="52616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242639"/>
                  </a:ext>
                </a:extLst>
              </a:tr>
              <a:tr h="51552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3</a:t>
                      </a:r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26259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path" accel="500" decel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1.11022E-16 L -0.35608 -0.35">
                                      <p:cBhvr>
                                        <p:cTn id="26" dur="2000" fill="hold"/>
                                        <p:tgtEl>
                                          <p:spTgt spid="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Class="path" accel="500" decel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33333E-6 L -0.36667 0.33333">
                                      <p:cBhvr>
                                        <p:cTn id="28" dur="2000" fill="hold"/>
                                        <p:tgtEl>
                                          <p:spTgt spid="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A59-7033-6072-BD02-4CF2F860BE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6839" y="228600"/>
            <a:ext cx="7924680" cy="914400"/>
          </a:xfrm>
        </p:spPr>
        <p:txBody>
          <a:bodyPr wrap="square">
            <a:noAutofit/>
          </a:bodyPr>
          <a:lstStyle/>
          <a:p>
            <a:pPr lvl="0" algn="ctr"/>
            <a:r>
              <a:rPr lang="he-IL"/>
              <a:t>שידוכים יציבים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BA8B6-A5D1-1E24-701D-72DF09E8CFB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5074920"/>
          </a:xfrm>
        </p:spPr>
        <p:txBody>
          <a:bodyPr wrap="square">
            <a:normAutofit lnSpcReduction="10000"/>
          </a:bodyPr>
          <a:lstStyle/>
          <a:p>
            <a:pPr marL="341280" lvl="0" indent="-341280" algn="r">
              <a:tabLst>
                <a:tab pos="341280" algn="l"/>
                <a:tab pos="455400" algn="l"/>
                <a:tab pos="912600" algn="l"/>
                <a:tab pos="1369799" algn="l"/>
                <a:tab pos="1826999" algn="l"/>
                <a:tab pos="2284199" algn="l"/>
                <a:tab pos="2741399" algn="l"/>
                <a:tab pos="3198600" algn="l"/>
                <a:tab pos="3655799" algn="l"/>
                <a:tab pos="4113000" algn="l"/>
                <a:tab pos="4570199" algn="l"/>
                <a:tab pos="5027400" algn="l"/>
                <a:tab pos="5484600" algn="l"/>
                <a:tab pos="5941800" algn="l"/>
                <a:tab pos="6399000" algn="l"/>
                <a:tab pos="6856200" algn="l"/>
                <a:tab pos="7313400" algn="l"/>
                <a:tab pos="7770600" algn="l"/>
                <a:tab pos="8227800" algn="l"/>
                <a:tab pos="8685000" algn="l"/>
                <a:tab pos="9142200" algn="l"/>
              </a:tabLst>
            </a:pPr>
            <a:r>
              <a:rPr lang="he-IL" sz="3600" b="1" u="sng">
                <a:solidFill>
                  <a:srgbClr val="333399"/>
                </a:solidFill>
                <a:effectLst>
                  <a:outerShdw dist="17961" dir="2700000">
                    <a:scrgbClr r="0" g="0" b="0"/>
                  </a:outerShdw>
                </a:effectLst>
              </a:rPr>
              <a:t>האם תמיד קיים</a:t>
            </a:r>
            <a:r>
              <a:rPr lang="he-IL" sz="3600"/>
              <a:t> שידוך יציב?</a:t>
            </a:r>
          </a:p>
          <a:p>
            <a:pPr marL="341280" lvl="0" indent="-341280" algn="r">
              <a:tabLst>
                <a:tab pos="341280" algn="l"/>
                <a:tab pos="455400" algn="l"/>
                <a:tab pos="912600" algn="l"/>
                <a:tab pos="1369799" algn="l"/>
                <a:tab pos="1826999" algn="l"/>
                <a:tab pos="2284199" algn="l"/>
                <a:tab pos="2741399" algn="l"/>
                <a:tab pos="3198600" algn="l"/>
                <a:tab pos="3655799" algn="l"/>
                <a:tab pos="4113000" algn="l"/>
                <a:tab pos="4570199" algn="l"/>
                <a:tab pos="5027400" algn="l"/>
                <a:tab pos="5484600" algn="l"/>
                <a:tab pos="5941800" algn="l"/>
                <a:tab pos="6399000" algn="l"/>
                <a:tab pos="6856200" algn="l"/>
                <a:tab pos="7313400" algn="l"/>
                <a:tab pos="7770600" algn="l"/>
                <a:tab pos="8227800" algn="l"/>
                <a:tab pos="8685000" algn="l"/>
                <a:tab pos="9142200" algn="l"/>
              </a:tabLst>
            </a:pPr>
            <a:endParaRPr lang="he-IL" sz="3600"/>
          </a:p>
          <a:p>
            <a:pPr marL="341280" lvl="0" indent="-341280" algn="r">
              <a:buSzPct val="45000"/>
              <a:buFont typeface="StarSymbol"/>
              <a:buChar char="●"/>
              <a:tabLst>
                <a:tab pos="341280" algn="l"/>
                <a:tab pos="455400" algn="l"/>
                <a:tab pos="912600" algn="l"/>
                <a:tab pos="1369799" algn="l"/>
                <a:tab pos="1826999" algn="l"/>
                <a:tab pos="2284199" algn="l"/>
                <a:tab pos="2741399" algn="l"/>
                <a:tab pos="3198600" algn="l"/>
                <a:tab pos="3655799" algn="l"/>
                <a:tab pos="4113000" algn="l"/>
                <a:tab pos="4570199" algn="l"/>
                <a:tab pos="5027400" algn="l"/>
                <a:tab pos="5484600" algn="l"/>
                <a:tab pos="5941800" algn="l"/>
                <a:tab pos="6399000" algn="l"/>
                <a:tab pos="6856200" algn="l"/>
                <a:tab pos="7313400" algn="l"/>
                <a:tab pos="7770600" algn="l"/>
                <a:tab pos="8227800" algn="l"/>
                <a:tab pos="8685000" algn="l"/>
                <a:tab pos="9142200" algn="l"/>
              </a:tabLst>
            </a:pPr>
            <a:r>
              <a:rPr lang="he-IL" sz="3600"/>
              <a:t>כן, ויש אלגוריתם יעיל שמוצא אחד כזה!</a:t>
            </a:r>
          </a:p>
          <a:p>
            <a:pPr marL="341280" lvl="0" indent="-341280" algn="r">
              <a:tabLst>
                <a:tab pos="341280" algn="l"/>
                <a:tab pos="455400" algn="l"/>
                <a:tab pos="912600" algn="l"/>
                <a:tab pos="1369799" algn="l"/>
                <a:tab pos="1826999" algn="l"/>
                <a:tab pos="2284199" algn="l"/>
                <a:tab pos="2741399" algn="l"/>
                <a:tab pos="3198600" algn="l"/>
                <a:tab pos="3655799" algn="l"/>
                <a:tab pos="4113000" algn="l"/>
                <a:tab pos="4570199" algn="l"/>
                <a:tab pos="5027400" algn="l"/>
                <a:tab pos="5484600" algn="l"/>
                <a:tab pos="5941800" algn="l"/>
                <a:tab pos="6399000" algn="l"/>
                <a:tab pos="6856200" algn="l"/>
                <a:tab pos="7313400" algn="l"/>
                <a:tab pos="7770600" algn="l"/>
                <a:tab pos="8227800" algn="l"/>
                <a:tab pos="8685000" algn="l"/>
                <a:tab pos="9142200" algn="l"/>
              </a:tabLst>
            </a:pPr>
            <a:endParaRPr lang="he-IL" sz="3600"/>
          </a:p>
          <a:p>
            <a:pPr marL="0" lvl="0" indent="0" algn="r">
              <a:spcBef>
                <a:spcPts val="899"/>
              </a:spcBef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114120" algn="l"/>
                <a:tab pos="571320" algn="l"/>
                <a:tab pos="1028519" algn="l"/>
                <a:tab pos="1485719" algn="l"/>
                <a:tab pos="1942919" algn="l"/>
                <a:tab pos="2400119" algn="l"/>
                <a:tab pos="2857320" algn="l"/>
                <a:tab pos="3314519" algn="l"/>
                <a:tab pos="3771720" algn="l"/>
                <a:tab pos="4228919" algn="l"/>
                <a:tab pos="4686120" algn="l"/>
                <a:tab pos="5143320" algn="l"/>
                <a:tab pos="5600520" algn="l"/>
                <a:tab pos="6057720" algn="l"/>
                <a:tab pos="6514920" algn="l"/>
                <a:tab pos="6972120" algn="l"/>
                <a:tab pos="7429320" algn="l"/>
                <a:tab pos="7886520" algn="l"/>
                <a:tab pos="8343720" algn="l"/>
                <a:tab pos="8800920" algn="l"/>
              </a:tabLst>
            </a:pPr>
            <a:r>
              <a:rPr lang="he-IL" sz="3600"/>
              <a:t>אלגוריתם </a:t>
            </a:r>
            <a:r>
              <a:rPr lang="he-IL" sz="3600" b="1" u="sng">
                <a:solidFill>
                  <a:srgbClr val="00FF00"/>
                </a:solidFill>
                <a:effectLst>
                  <a:outerShdw dist="17961" dir="2700000">
                    <a:scrgbClr r="0" g="0" b="0"/>
                  </a:outerShdw>
                </a:effectLst>
              </a:rPr>
              <a:t>הקבלה על-תנאי</a:t>
            </a:r>
            <a:br>
              <a:rPr lang="he-IL" sz="3600"/>
            </a:br>
            <a:r>
              <a:rPr lang="he-IL" sz="3600"/>
              <a:t>deferred acceptance</a:t>
            </a:r>
          </a:p>
          <a:p>
            <a:pPr marL="0" lvl="0" indent="0" algn="r">
              <a:spcBef>
                <a:spcPts val="899"/>
              </a:spcBef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114120" algn="l"/>
                <a:tab pos="571320" algn="l"/>
                <a:tab pos="1028519" algn="l"/>
                <a:tab pos="1485719" algn="l"/>
                <a:tab pos="1942919" algn="l"/>
                <a:tab pos="2400119" algn="l"/>
                <a:tab pos="2857320" algn="l"/>
                <a:tab pos="3314519" algn="l"/>
                <a:tab pos="3771720" algn="l"/>
                <a:tab pos="4228919" algn="l"/>
                <a:tab pos="4686120" algn="l"/>
                <a:tab pos="5143320" algn="l"/>
                <a:tab pos="5600520" algn="l"/>
                <a:tab pos="6057720" algn="l"/>
                <a:tab pos="6514920" algn="l"/>
                <a:tab pos="6972120" algn="l"/>
                <a:tab pos="7429320" algn="l"/>
                <a:tab pos="7886520" algn="l"/>
                <a:tab pos="8343720" algn="l"/>
                <a:tab pos="8800920" algn="l"/>
              </a:tabLst>
            </a:pPr>
            <a:r>
              <a:rPr lang="he-IL" sz="3600"/>
              <a:t>פותח ע"י    </a:t>
            </a:r>
            <a:r>
              <a:rPr lang="en-US" sz="3600">
                <a:latin typeface="Brush Script MT" pitchFamily="66"/>
              </a:rPr>
              <a:t>Gale &amp; Shapley (1962)</a:t>
            </a:r>
          </a:p>
          <a:p>
            <a:pPr marL="0" lvl="0" indent="0" algn="r">
              <a:spcBef>
                <a:spcPts val="899"/>
              </a:spcBef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114120" algn="l"/>
                <a:tab pos="571320" algn="l"/>
                <a:tab pos="1028519" algn="l"/>
                <a:tab pos="1485719" algn="l"/>
                <a:tab pos="1942919" algn="l"/>
                <a:tab pos="2400119" algn="l"/>
                <a:tab pos="2857320" algn="l"/>
                <a:tab pos="3314519" algn="l"/>
                <a:tab pos="3771720" algn="l"/>
                <a:tab pos="4228919" algn="l"/>
                <a:tab pos="4686120" algn="l"/>
                <a:tab pos="5143320" algn="l"/>
                <a:tab pos="5600520" algn="l"/>
                <a:tab pos="6057720" algn="l"/>
                <a:tab pos="6514920" algn="l"/>
                <a:tab pos="6972120" algn="l"/>
                <a:tab pos="7429320" algn="l"/>
                <a:tab pos="7886520" algn="l"/>
                <a:tab pos="8343720" algn="l"/>
                <a:tab pos="8800920" algn="l"/>
              </a:tabLst>
            </a:pPr>
            <a:r>
              <a:rPr lang="en-US" sz="3600">
                <a:latin typeface="Brush Script MT" pitchFamily="66"/>
              </a:rPr>
              <a:t>זכה בפרס נובל בשנת 2012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BB6E-5C2E-4B71-A51C-E82071F3F8C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548640"/>
            <a:ext cx="8504280" cy="914400"/>
          </a:xfrm>
        </p:spPr>
        <p:txBody>
          <a:bodyPr wrap="square">
            <a:noAutofit/>
          </a:bodyPr>
          <a:lstStyle/>
          <a:p>
            <a:pPr lvl="0" algn="ctr"/>
            <a:r>
              <a:rPr lang="he-IL"/>
              <a:t>אלגוריתם "קבלה על-תנאי”</a:t>
            </a:r>
            <a:br>
              <a:rPr lang="he-IL"/>
            </a:br>
            <a:r>
              <a:rPr lang="he-IL" sz="3600"/>
              <a:t>deferred acceptance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3580A-85E9-EF08-CBDC-350E6B21588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2011680"/>
            <a:ext cx="8229600" cy="4525920"/>
          </a:xfrm>
        </p:spPr>
        <p:txBody>
          <a:bodyPr wrap="square"/>
          <a:lstStyle/>
          <a:p>
            <a:pPr lvl="0" algn="r"/>
            <a:r>
              <a:rPr lang="he-IL" sz="3600"/>
              <a:t>א. כל סטודנט הולך למחלקה שהוא הכי רוצה, מבין המחלקות שעדיין לא דחו אותו.</a:t>
            </a:r>
          </a:p>
          <a:p>
            <a:pPr lvl="0" algn="r"/>
            <a:r>
              <a:rPr lang="he-IL" sz="3600"/>
              <a:t>ב. כל מחלקה "מקבלת על תנאי" את הסטודנט שהיא הכי רוצה, מבין אלה שנמצאים בה, ודוחה את כל השאר.</a:t>
            </a:r>
          </a:p>
          <a:p>
            <a:pPr lvl="0" algn="r"/>
            <a:r>
              <a:rPr lang="he-IL" sz="3600"/>
              <a:t>ג. חוזרים על שלבים א ו-ב עד שכולם משודכים.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B03346-81FD-521F-42F5-C69C44C43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39222"/>
              </p:ext>
            </p:extLst>
          </p:nvPr>
        </p:nvGraphicFramePr>
        <p:xfrm>
          <a:off x="290160" y="4518001"/>
          <a:ext cx="3963600" cy="2393999"/>
        </p:xfrm>
        <a:graphic>
          <a:graphicData uri="http://schemas.openxmlformats.org/drawingml/2006/table">
            <a:tbl>
              <a:tblPr/>
              <a:tblGrid>
                <a:gridCol w="1219320">
                  <a:extLst>
                    <a:ext uri="{9D8B030D-6E8A-4147-A177-3AD203B41FA5}">
                      <a16:colId xmlns:a16="http://schemas.microsoft.com/office/drawing/2014/main" val="3689857470"/>
                    </a:ext>
                  </a:extLst>
                </a:gridCol>
                <a:gridCol w="1220040">
                  <a:extLst>
                    <a:ext uri="{9D8B030D-6E8A-4147-A177-3AD203B41FA5}">
                      <a16:colId xmlns:a16="http://schemas.microsoft.com/office/drawing/2014/main" val="2534084703"/>
                    </a:ext>
                  </a:extLst>
                </a:gridCol>
                <a:gridCol w="1219680">
                  <a:extLst>
                    <a:ext uri="{9D8B030D-6E8A-4147-A177-3AD203B41FA5}">
                      <a16:colId xmlns:a16="http://schemas.microsoft.com/office/drawing/2014/main" val="1691960008"/>
                    </a:ext>
                  </a:extLst>
                </a:gridCol>
                <a:gridCol w="304560">
                  <a:extLst>
                    <a:ext uri="{9D8B030D-6E8A-4147-A177-3AD203B41FA5}">
                      <a16:colId xmlns:a16="http://schemas.microsoft.com/office/drawing/2014/main" val="1572534992"/>
                    </a:ext>
                  </a:extLst>
                </a:gridCol>
              </a:tblGrid>
              <a:tr h="1028879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6876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496411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652638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210753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6AB0A76C-46DE-E04F-CAFC-DB4CF6A3A13C}"/>
              </a:ext>
            </a:extLst>
          </p:cNvPr>
          <p:cNvGrpSpPr/>
          <p:nvPr/>
        </p:nvGrpSpPr>
        <p:grpSpPr>
          <a:xfrm>
            <a:off x="4191120" y="0"/>
            <a:ext cx="3579839" cy="6856560"/>
            <a:chOff x="4191120" y="0"/>
            <a:chExt cx="3579839" cy="6856560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181D301B-9C0D-8838-8421-91594610C441}"/>
                </a:ext>
              </a:extLst>
            </p:cNvPr>
            <p:cNvSpPr/>
            <p:nvPr/>
          </p:nvSpPr>
          <p:spPr>
            <a:xfrm rot="16200000">
              <a:off x="2552579" y="1714500"/>
              <a:ext cx="6856560" cy="3427559"/>
            </a:xfrm>
            <a:custGeom>
              <a:avLst>
                <a:gd name="f0" fmla="val 1400"/>
                <a:gd name="f1" fmla="val 1080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0"/>
                <a:gd name="f8" fmla="val -2147483647"/>
                <a:gd name="f9" fmla="val 2147483647"/>
                <a:gd name="f10" fmla="val 2230"/>
                <a:gd name="f11" fmla="val 8640"/>
                <a:gd name="f12" fmla="val 12960"/>
                <a:gd name="f13" fmla="+- 0 0 0"/>
                <a:gd name="f14" fmla="*/ f5 1 21600"/>
                <a:gd name="f15" fmla="*/ f6 1 21600"/>
                <a:gd name="f16" fmla="pin 0 f0 2230"/>
                <a:gd name="f17" fmla="pin 8640 f1 12960"/>
                <a:gd name="f18" fmla="*/ f13 f2 1"/>
                <a:gd name="f19" fmla="val f16"/>
                <a:gd name="f20" fmla="val f17"/>
                <a:gd name="f21" fmla="*/ f7 f14 1"/>
                <a:gd name="f22" fmla="*/ f16 f15 1"/>
                <a:gd name="f23" fmla="*/ f17 f14 1"/>
                <a:gd name="f24" fmla="*/ 21600 f15 1"/>
                <a:gd name="f25" fmla="*/ f18 1 f4"/>
                <a:gd name="f26" fmla="*/ 10800 f15 1"/>
                <a:gd name="f27" fmla="+- 21600 0 f19"/>
                <a:gd name="f28" fmla="+- f20 0 10800"/>
                <a:gd name="f29" fmla="*/ 7900 f19 1"/>
                <a:gd name="f30" fmla="*/ f19 2 1"/>
                <a:gd name="f31" fmla="*/ f19 f15 1"/>
                <a:gd name="f32" fmla="+- f25 0 f3"/>
                <a:gd name="f33" fmla="*/ f28 2 1"/>
                <a:gd name="f34" fmla="*/ f29 1 2230"/>
                <a:gd name="f35" fmla="+- 21600 0 f30"/>
                <a:gd name="f36" fmla="*/ f30 f15 1"/>
                <a:gd name="f37" fmla="*/ f27 f15 1"/>
                <a:gd name="f38" fmla="abs f33"/>
                <a:gd name="f39" fmla="+- f19 0 f34"/>
                <a:gd name="f40" fmla="+- f19 f34 0"/>
                <a:gd name="f41" fmla="+- 21600 0 f33"/>
                <a:gd name="f42" fmla="+- f27 f34 0"/>
                <a:gd name="f43" fmla="+- f27 0 f34"/>
                <a:gd name="f44" fmla="*/ f35 f15 1"/>
                <a:gd name="f45" fmla="?: f28 0 f38"/>
                <a:gd name="f46" fmla="?: f28 f41 21600"/>
                <a:gd name="f47" fmla="*/ f38 1 2"/>
                <a:gd name="f48" fmla="*/ f38 f14 1"/>
                <a:gd name="f49" fmla="*/ f41 f14 1"/>
                <a:gd name="f50" fmla="+- f46 0 f45"/>
                <a:gd name="f51" fmla="+- f45 3600 0"/>
                <a:gd name="f52" fmla="+- f46 f47 0"/>
                <a:gd name="f53" fmla="+- 21600 0 f47"/>
                <a:gd name="f54" fmla="+- 21600 0 f45"/>
                <a:gd name="f55" fmla="+- 21600 0 f46"/>
                <a:gd name="f56" fmla="*/ f47 f14 1"/>
                <a:gd name="f57" fmla="+- f51 0 f47"/>
                <a:gd name="f58" fmla="+- f52 0 3600"/>
                <a:gd name="f59" fmla="*/ f50 1 2"/>
                <a:gd name="f60" fmla="*/ f53 f14 1"/>
                <a:gd name="f61" fmla="+- f45 f59 0"/>
                <a:gd name="f62" fmla="+- 21600 0 f57"/>
                <a:gd name="f63" fmla="+- 21600 0 f58"/>
                <a:gd name="f64" fmla="+- 21600 0 f61"/>
                <a:gd name="f65" fmla="+- f61 0 f47"/>
                <a:gd name="f66" fmla="+- f61 f47 0"/>
                <a:gd name="f67" fmla="*/ f61 f14 1"/>
                <a:gd name="f68" fmla="+- f64 0 f47"/>
                <a:gd name="f69" fmla="+- f64 f47 0"/>
                <a:gd name="f70" fmla="*/ f64 f14 1"/>
              </a:gdLst>
              <a:ahLst>
                <a:ahXY gdRefY="f0" minY="f7" maxY="f10">
                  <a:pos x="f21" y="f22"/>
                </a:ahXY>
                <a:ahXY gdRefX="f1" minX="f11" maxX="f12">
                  <a:pos x="f23" y="f24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67" y="f31"/>
                </a:cxn>
                <a:cxn ang="f32">
                  <a:pos x="f56" y="f26"/>
                </a:cxn>
                <a:cxn ang="f32">
                  <a:pos x="f70" y="f37"/>
                </a:cxn>
                <a:cxn ang="f32">
                  <a:pos x="f60" y="f26"/>
                </a:cxn>
              </a:cxnLst>
              <a:rect l="f48" t="f36" r="f49" b="f44"/>
              <a:pathLst>
                <a:path w="21600" h="21600">
                  <a:moveTo>
                    <a:pt x="f45" y="f19"/>
                  </a:moveTo>
                  <a:cubicBezTo>
                    <a:pt x="f57" y="f39"/>
                    <a:pt x="f65" y="f40"/>
                    <a:pt x="f61" y="f19"/>
                  </a:cubicBezTo>
                  <a:cubicBezTo>
                    <a:pt x="f66" y="f39"/>
                    <a:pt x="f58" y="f40"/>
                    <a:pt x="f46" y="f19"/>
                  </a:cubicBezTo>
                  <a:lnTo>
                    <a:pt x="f54" y="f27"/>
                  </a:lnTo>
                  <a:cubicBezTo>
                    <a:pt x="f62" y="f42"/>
                    <a:pt x="f69" y="f43"/>
                    <a:pt x="f64" y="f27"/>
                  </a:cubicBezTo>
                  <a:cubicBezTo>
                    <a:pt x="f68" y="f42"/>
                    <a:pt x="f63" y="f43"/>
                    <a:pt x="f55" y="f27"/>
                  </a:cubicBezTo>
                  <a:close/>
                </a:path>
              </a:pathLst>
            </a:custGeom>
            <a:gradFill>
              <a:gsLst>
                <a:gs pos="0">
                  <a:srgbClr val="650092"/>
                </a:gs>
                <a:gs pos="100000">
                  <a:srgbClr val="FF9933"/>
                </a:gs>
              </a:gsLst>
              <a:lin ang="3240600"/>
            </a:gradFill>
            <a:ln>
              <a:noFill/>
              <a:prstDash val="solid"/>
            </a:ln>
          </p:spPr>
          <p:txBody>
            <a:bodyPr vert="horz" wrap="none" lIns="90000" tIns="46800" rIns="90000" bIns="46800" anchor="ctr" anchorCtr="0" compatLnSpc="1">
              <a:noAutofit/>
            </a:bodyPr>
            <a:lstStyle/>
            <a:p>
              <a:pPr marL="0" marR="0" lvl="0" indent="0" algn="r" rtl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endParaRPr>
            </a:p>
          </p:txBody>
        </p:sp>
        <p:sp>
          <p:nvSpPr>
            <p:cNvPr id="5" name="Straight Connector 4">
              <a:extLst>
                <a:ext uri="{FF2B5EF4-FFF2-40B4-BE49-F238E27FC236}">
                  <a16:creationId xmlns:a16="http://schemas.microsoft.com/office/drawing/2014/main" id="{23618210-4161-CB5A-6879-501585C21199}"/>
                </a:ext>
              </a:extLst>
            </p:cNvPr>
            <p:cNvSpPr/>
            <p:nvPr/>
          </p:nvSpPr>
          <p:spPr>
            <a:xfrm>
              <a:off x="4495680" y="4800600"/>
              <a:ext cx="3275279" cy="0"/>
            </a:xfrm>
            <a:prstGeom prst="line">
              <a:avLst/>
            </a:prstGeom>
            <a:noFill/>
            <a:ln w="95400" cap="sq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1">
              <a:noAutofit/>
            </a:bodyPr>
            <a:lstStyle/>
            <a:p>
              <a:pPr marL="0" marR="0" lvl="0" indent="0" algn="r" rtl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endParaRPr>
            </a:p>
          </p:txBody>
        </p:sp>
        <p:sp>
          <p:nvSpPr>
            <p:cNvPr id="6" name="Straight Connector 5">
              <a:extLst>
                <a:ext uri="{FF2B5EF4-FFF2-40B4-BE49-F238E27FC236}">
                  <a16:creationId xmlns:a16="http://schemas.microsoft.com/office/drawing/2014/main" id="{07669485-DE34-542A-AF43-4C1D92B14425}"/>
                </a:ext>
              </a:extLst>
            </p:cNvPr>
            <p:cNvSpPr/>
            <p:nvPr/>
          </p:nvSpPr>
          <p:spPr>
            <a:xfrm>
              <a:off x="4191120" y="2286000"/>
              <a:ext cx="3274920" cy="0"/>
            </a:xfrm>
            <a:prstGeom prst="line">
              <a:avLst/>
            </a:prstGeom>
            <a:noFill/>
            <a:ln w="95400" cap="sq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1">
              <a:noAutofit/>
            </a:bodyPr>
            <a:lstStyle/>
            <a:p>
              <a:pPr marL="0" marR="0" lvl="0" indent="0" algn="r" rtl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B9C4A6D-5D92-BC95-D848-B809E6D622D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85939" y="2676600"/>
            <a:ext cx="127656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817C75-A194-366C-DC69-65618B68E3A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10259" y="2666880"/>
            <a:ext cx="1322280" cy="18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7D80F7-62AF-9A5E-ED6C-7F1891ED6C5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471858" y="2638440"/>
            <a:ext cx="1276560" cy="182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BF6CFC9-D39A-D901-51A4-5112597DE349}"/>
              </a:ext>
            </a:extLst>
          </p:cNvPr>
          <p:cNvGrpSpPr/>
          <p:nvPr/>
        </p:nvGrpSpPr>
        <p:grpSpPr>
          <a:xfrm>
            <a:off x="5807880" y="399240"/>
            <a:ext cx="1598760" cy="1522440"/>
            <a:chOff x="5807880" y="399240"/>
            <a:chExt cx="1598760" cy="1522440"/>
          </a:xfrm>
        </p:grpSpPr>
        <p:sp>
          <p:nvSpPr>
            <p:cNvPr id="11" name="Straight Connector 10">
              <a:extLst>
                <a:ext uri="{FF2B5EF4-FFF2-40B4-BE49-F238E27FC236}">
                  <a16:creationId xmlns:a16="http://schemas.microsoft.com/office/drawing/2014/main" id="{3B735635-E3D7-B541-E7F2-23543DAEA0D2}"/>
                </a:ext>
              </a:extLst>
            </p:cNvPr>
            <p:cNvSpPr/>
            <p:nvPr/>
          </p:nvSpPr>
          <p:spPr>
            <a:xfrm>
              <a:off x="5941440" y="400680"/>
              <a:ext cx="1465200" cy="1519559"/>
            </a:xfrm>
            <a:prstGeom prst="line">
              <a:avLst/>
            </a:prstGeom>
            <a:noFill/>
            <a:ln w="127080" cap="sq">
              <a:solidFill>
                <a:srgbClr val="CC0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1">
              <a:noAutofit/>
            </a:bodyPr>
            <a:lstStyle/>
            <a:p>
              <a:pPr marL="0" marR="0" lvl="0" indent="0" algn="r" rtl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endParaRPr>
            </a:p>
          </p:txBody>
        </p:sp>
        <p:sp>
          <p:nvSpPr>
            <p:cNvPr id="12" name="Straight Connector 11">
              <a:extLst>
                <a:ext uri="{FF2B5EF4-FFF2-40B4-BE49-F238E27FC236}">
                  <a16:creationId xmlns:a16="http://schemas.microsoft.com/office/drawing/2014/main" id="{38593C76-649C-8906-7261-FC196919F847}"/>
                </a:ext>
              </a:extLst>
            </p:cNvPr>
            <p:cNvSpPr/>
            <p:nvPr/>
          </p:nvSpPr>
          <p:spPr>
            <a:xfrm flipV="1">
              <a:off x="5807880" y="399240"/>
              <a:ext cx="1598760" cy="1522440"/>
            </a:xfrm>
            <a:prstGeom prst="line">
              <a:avLst/>
            </a:prstGeom>
            <a:noFill/>
            <a:ln w="127080" cap="sq">
              <a:solidFill>
                <a:srgbClr val="CC0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1">
              <a:noAutofit/>
            </a:bodyPr>
            <a:lstStyle/>
            <a:p>
              <a:pPr marL="0" marR="0" lvl="0" indent="0" algn="r" rtl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0C3CA07-048A-B3FA-B9EA-3CF36A7585A2}"/>
              </a:ext>
            </a:extLst>
          </p:cNvPr>
          <p:cNvGrpSpPr/>
          <p:nvPr/>
        </p:nvGrpSpPr>
        <p:grpSpPr>
          <a:xfrm>
            <a:off x="5716440" y="2866680"/>
            <a:ext cx="1598760" cy="1522440"/>
            <a:chOff x="5716440" y="2866680"/>
            <a:chExt cx="1598760" cy="1522440"/>
          </a:xfrm>
        </p:grpSpPr>
        <p:sp>
          <p:nvSpPr>
            <p:cNvPr id="14" name="Straight Connector 13">
              <a:extLst>
                <a:ext uri="{FF2B5EF4-FFF2-40B4-BE49-F238E27FC236}">
                  <a16:creationId xmlns:a16="http://schemas.microsoft.com/office/drawing/2014/main" id="{14F206BF-6555-6BC0-D76A-1F0044819E60}"/>
                </a:ext>
              </a:extLst>
            </p:cNvPr>
            <p:cNvSpPr/>
            <p:nvPr/>
          </p:nvSpPr>
          <p:spPr>
            <a:xfrm>
              <a:off x="5849640" y="2868480"/>
              <a:ext cx="1465560" cy="1519200"/>
            </a:xfrm>
            <a:prstGeom prst="line">
              <a:avLst/>
            </a:prstGeom>
            <a:noFill/>
            <a:ln w="127080" cap="sq">
              <a:solidFill>
                <a:srgbClr val="CC0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1">
              <a:noAutofit/>
            </a:bodyPr>
            <a:lstStyle/>
            <a:p>
              <a:pPr marL="0" marR="0" lvl="0" indent="0" algn="r" rtl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endParaRPr>
            </a:p>
          </p:txBody>
        </p:sp>
        <p:sp>
          <p:nvSpPr>
            <p:cNvPr id="15" name="Straight Connector 14">
              <a:extLst>
                <a:ext uri="{FF2B5EF4-FFF2-40B4-BE49-F238E27FC236}">
                  <a16:creationId xmlns:a16="http://schemas.microsoft.com/office/drawing/2014/main" id="{085AF6C0-871B-BC14-D663-B0A1DA28DD60}"/>
                </a:ext>
              </a:extLst>
            </p:cNvPr>
            <p:cNvSpPr/>
            <p:nvPr/>
          </p:nvSpPr>
          <p:spPr>
            <a:xfrm flipV="1">
              <a:off x="5716440" y="2866680"/>
              <a:ext cx="1598760" cy="1522440"/>
            </a:xfrm>
            <a:prstGeom prst="line">
              <a:avLst/>
            </a:prstGeom>
            <a:noFill/>
            <a:ln w="127080" cap="sq">
              <a:solidFill>
                <a:srgbClr val="CC0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1">
              <a:noAutofit/>
            </a:bodyPr>
            <a:lstStyle/>
            <a:p>
              <a:pPr marL="0" marR="0" lvl="0" indent="0" algn="r" rtl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DFE12E45-C7A7-9BEF-1B83-C264C1B6CB65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 rot="240000">
            <a:off x="7573860" y="322364"/>
            <a:ext cx="12762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962D0E-0623-F87C-B0B9-5316F535C9C2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7581960" y="2666880"/>
            <a:ext cx="12762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3330599-05CA-8258-93BE-9AED505EC805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7581960" y="4952880"/>
            <a:ext cx="1230120" cy="1762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874384D-38A1-6947-F92F-F7CA43042292}"/>
              </a:ext>
            </a:extLst>
          </p:cNvPr>
          <p:cNvGrpSpPr/>
          <p:nvPr/>
        </p:nvGrpSpPr>
        <p:grpSpPr>
          <a:xfrm>
            <a:off x="2742841" y="5604299"/>
            <a:ext cx="1217520" cy="455760"/>
            <a:chOff x="629640" y="5579280"/>
            <a:chExt cx="1217520" cy="455760"/>
          </a:xfrm>
        </p:grpSpPr>
        <p:sp>
          <p:nvSpPr>
            <p:cNvPr id="20" name="Straight Connector 19">
              <a:extLst>
                <a:ext uri="{FF2B5EF4-FFF2-40B4-BE49-F238E27FC236}">
                  <a16:creationId xmlns:a16="http://schemas.microsoft.com/office/drawing/2014/main" id="{FA1A746E-9234-3A3F-C023-4BC2604EF1DB}"/>
                </a:ext>
              </a:extLst>
            </p:cNvPr>
            <p:cNvSpPr/>
            <p:nvPr/>
          </p:nvSpPr>
          <p:spPr>
            <a:xfrm>
              <a:off x="731159" y="5580360"/>
              <a:ext cx="1116001" cy="452880"/>
            </a:xfrm>
            <a:prstGeom prst="line">
              <a:avLst/>
            </a:prstGeom>
            <a:noFill/>
            <a:ln w="114480" cap="sq">
              <a:solidFill>
                <a:srgbClr val="CC0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1">
              <a:noAutofit/>
            </a:bodyPr>
            <a:lstStyle/>
            <a:p>
              <a:pPr marL="0" marR="0" lvl="0" indent="0" algn="r" rtl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endParaRPr>
            </a:p>
          </p:txBody>
        </p:sp>
        <p:sp>
          <p:nvSpPr>
            <p:cNvPr id="21" name="Straight Connector 20">
              <a:extLst>
                <a:ext uri="{FF2B5EF4-FFF2-40B4-BE49-F238E27FC236}">
                  <a16:creationId xmlns:a16="http://schemas.microsoft.com/office/drawing/2014/main" id="{744C877D-5B13-F067-F214-BBAF9BF12640}"/>
                </a:ext>
              </a:extLst>
            </p:cNvPr>
            <p:cNvSpPr/>
            <p:nvPr/>
          </p:nvSpPr>
          <p:spPr>
            <a:xfrm flipV="1">
              <a:off x="629640" y="5579280"/>
              <a:ext cx="1217520" cy="455760"/>
            </a:xfrm>
            <a:prstGeom prst="line">
              <a:avLst/>
            </a:prstGeom>
            <a:noFill/>
            <a:ln w="114480" cap="sq">
              <a:solidFill>
                <a:srgbClr val="CC0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1">
              <a:noAutofit/>
            </a:bodyPr>
            <a:lstStyle/>
            <a:p>
              <a:pPr marL="0" marR="0" lvl="0" indent="0" algn="r" rtl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D8812DD-7123-667B-ED6A-42B4806D4E64}"/>
              </a:ext>
            </a:extLst>
          </p:cNvPr>
          <p:cNvGrpSpPr/>
          <p:nvPr/>
        </p:nvGrpSpPr>
        <p:grpSpPr>
          <a:xfrm>
            <a:off x="1449361" y="5606098"/>
            <a:ext cx="1217521" cy="455761"/>
            <a:chOff x="1857599" y="5667479"/>
            <a:chExt cx="1217521" cy="455761"/>
          </a:xfrm>
        </p:grpSpPr>
        <p:sp>
          <p:nvSpPr>
            <p:cNvPr id="23" name="Straight Connector 22">
              <a:extLst>
                <a:ext uri="{FF2B5EF4-FFF2-40B4-BE49-F238E27FC236}">
                  <a16:creationId xmlns:a16="http://schemas.microsoft.com/office/drawing/2014/main" id="{10141BE1-ED11-6CF1-B863-893EB330EA89}"/>
                </a:ext>
              </a:extLst>
            </p:cNvPr>
            <p:cNvSpPr/>
            <p:nvPr/>
          </p:nvSpPr>
          <p:spPr>
            <a:xfrm>
              <a:off x="1959120" y="5668559"/>
              <a:ext cx="1116000" cy="452881"/>
            </a:xfrm>
            <a:prstGeom prst="line">
              <a:avLst/>
            </a:prstGeom>
            <a:noFill/>
            <a:ln w="114480" cap="sq">
              <a:solidFill>
                <a:srgbClr val="CC0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1">
              <a:noAutofit/>
            </a:bodyPr>
            <a:lstStyle/>
            <a:p>
              <a:pPr marL="0" marR="0" lvl="0" indent="0" algn="r" rtl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endParaRPr>
            </a:p>
          </p:txBody>
        </p:sp>
        <p:sp>
          <p:nvSpPr>
            <p:cNvPr id="24" name="Straight Connector 23">
              <a:extLst>
                <a:ext uri="{FF2B5EF4-FFF2-40B4-BE49-F238E27FC236}">
                  <a16:creationId xmlns:a16="http://schemas.microsoft.com/office/drawing/2014/main" id="{3E53C65D-1259-C2CE-DA16-C3F53B1352EE}"/>
                </a:ext>
              </a:extLst>
            </p:cNvPr>
            <p:cNvSpPr/>
            <p:nvPr/>
          </p:nvSpPr>
          <p:spPr>
            <a:xfrm flipV="1">
              <a:off x="1857599" y="5667479"/>
              <a:ext cx="1217521" cy="455761"/>
            </a:xfrm>
            <a:prstGeom prst="line">
              <a:avLst/>
            </a:prstGeom>
            <a:noFill/>
            <a:ln w="114480" cap="sq">
              <a:solidFill>
                <a:srgbClr val="CC0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1">
              <a:noAutofit/>
            </a:bodyPr>
            <a:lstStyle/>
            <a:p>
              <a:pPr marL="0" marR="0" lvl="0" indent="0" algn="r" rtl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endParaRPr>
            </a:p>
          </p:txBody>
        </p:sp>
      </p:grp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073A8E7-76D7-6BED-A14E-17853F22D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53205"/>
              </p:ext>
            </p:extLst>
          </p:nvPr>
        </p:nvGraphicFramePr>
        <p:xfrm>
          <a:off x="290160" y="231840"/>
          <a:ext cx="4039558" cy="2469439"/>
        </p:xfrm>
        <a:graphic>
          <a:graphicData uri="http://schemas.openxmlformats.org/drawingml/2006/table">
            <a:tbl>
              <a:tblPr/>
              <a:tblGrid>
                <a:gridCol w="1197359">
                  <a:extLst>
                    <a:ext uri="{9D8B030D-6E8A-4147-A177-3AD203B41FA5}">
                      <a16:colId xmlns:a16="http://schemas.microsoft.com/office/drawing/2014/main" val="283745552"/>
                    </a:ext>
                  </a:extLst>
                </a:gridCol>
                <a:gridCol w="1197359">
                  <a:extLst>
                    <a:ext uri="{9D8B030D-6E8A-4147-A177-3AD203B41FA5}">
                      <a16:colId xmlns:a16="http://schemas.microsoft.com/office/drawing/2014/main" val="3616297844"/>
                    </a:ext>
                  </a:extLst>
                </a:gridCol>
                <a:gridCol w="1263960">
                  <a:extLst>
                    <a:ext uri="{9D8B030D-6E8A-4147-A177-3AD203B41FA5}">
                      <a16:colId xmlns:a16="http://schemas.microsoft.com/office/drawing/2014/main" val="1596619804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330591390"/>
                    </a:ext>
                  </a:extLst>
                </a:gridCol>
              </a:tblGrid>
              <a:tr h="912239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893502"/>
                  </a:ext>
                </a:extLst>
              </a:tr>
              <a:tr h="51552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337000"/>
                  </a:ext>
                </a:extLst>
              </a:tr>
              <a:tr h="52616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217801"/>
                  </a:ext>
                </a:extLst>
              </a:tr>
              <a:tr h="51552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3</a:t>
                      </a:r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4249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accel="500" decel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00139 L 0.3625 -0.03334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path" accel="500" decel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33333E-6 L 0.49792 -0.375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path" accel="500" decel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L 0.475 -0.38333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path" accel="500" decel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9792 -0.375 L -0.00208 0.00277"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Class="path" accel="500" decel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5 -0.38333 L 0.63334 -0.38333">
                                      <p:cBhvr>
                                        <p:cTn id="27" dur="30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path" accel="500" decel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9 0.00278 L 0.32916 -0.02778">
                                      <p:cBhvr>
                                        <p:cTn id="34" dur="2000" fill="hold"/>
                                        <p:tgtEl>
                                          <p:spTgt spid="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path" accel="500" decel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25 -0.03334 L -0.00417 0.00139">
                                      <p:cBhvr>
                                        <p:cTn id="42" dur="20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Class="path" accel="500" decel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917 -0.03056 L 0.49792 -0.03334">
                                      <p:cBhvr>
                                        <p:cTn id="47" dur="3000" fill="hold"/>
                                        <p:tgtEl>
                                          <p:spTgt spid="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path" accel="500" decel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-0.00139 L 0.36667 0.31111">
                                      <p:cBhvr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3BF4765-B992-C330-37E3-6043CDC0013C}"/>
              </a:ext>
            </a:extLst>
          </p:cNvPr>
          <p:cNvGrpSpPr/>
          <p:nvPr/>
        </p:nvGrpSpPr>
        <p:grpSpPr>
          <a:xfrm>
            <a:off x="4191120" y="0"/>
            <a:ext cx="3579839" cy="6856560"/>
            <a:chOff x="4191120" y="0"/>
            <a:chExt cx="3579839" cy="6856560"/>
          </a:xfrm>
        </p:grpSpPr>
        <p:sp>
          <p:nvSpPr>
            <p:cNvPr id="3" name="Free-form: Shape 2">
              <a:extLst>
                <a:ext uri="{FF2B5EF4-FFF2-40B4-BE49-F238E27FC236}">
                  <a16:creationId xmlns:a16="http://schemas.microsoft.com/office/drawing/2014/main" id="{FA29EA78-8F50-49AB-2E75-BDCB9256340B}"/>
                </a:ext>
              </a:extLst>
            </p:cNvPr>
            <p:cNvSpPr/>
            <p:nvPr/>
          </p:nvSpPr>
          <p:spPr>
            <a:xfrm rot="16200000">
              <a:off x="2552579" y="1714500"/>
              <a:ext cx="6856560" cy="3427559"/>
            </a:xfrm>
            <a:custGeom>
              <a:avLst>
                <a:gd name="f0" fmla="val 1400"/>
                <a:gd name="f1" fmla="val 1080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0"/>
                <a:gd name="f8" fmla="val -2147483647"/>
                <a:gd name="f9" fmla="val 2147483647"/>
                <a:gd name="f10" fmla="val 2230"/>
                <a:gd name="f11" fmla="val 8640"/>
                <a:gd name="f12" fmla="val 12960"/>
                <a:gd name="f13" fmla="+- 0 0 0"/>
                <a:gd name="f14" fmla="*/ f5 1 21600"/>
                <a:gd name="f15" fmla="*/ f6 1 21600"/>
                <a:gd name="f16" fmla="pin 0 f0 2230"/>
                <a:gd name="f17" fmla="pin 8640 f1 12960"/>
                <a:gd name="f18" fmla="*/ f13 f2 1"/>
                <a:gd name="f19" fmla="val f16"/>
                <a:gd name="f20" fmla="val f17"/>
                <a:gd name="f21" fmla="*/ f7 f14 1"/>
                <a:gd name="f22" fmla="*/ f16 f15 1"/>
                <a:gd name="f23" fmla="*/ f17 f14 1"/>
                <a:gd name="f24" fmla="*/ 21600 f15 1"/>
                <a:gd name="f25" fmla="*/ f18 1 f4"/>
                <a:gd name="f26" fmla="*/ 10800 f15 1"/>
                <a:gd name="f27" fmla="+- 21600 0 f19"/>
                <a:gd name="f28" fmla="+- f20 0 10800"/>
                <a:gd name="f29" fmla="*/ 7900 f19 1"/>
                <a:gd name="f30" fmla="*/ f19 2 1"/>
                <a:gd name="f31" fmla="*/ f19 f15 1"/>
                <a:gd name="f32" fmla="+- f25 0 f3"/>
                <a:gd name="f33" fmla="*/ f28 2 1"/>
                <a:gd name="f34" fmla="*/ f29 1 2230"/>
                <a:gd name="f35" fmla="+- 21600 0 f30"/>
                <a:gd name="f36" fmla="*/ f30 f15 1"/>
                <a:gd name="f37" fmla="*/ f27 f15 1"/>
                <a:gd name="f38" fmla="abs f33"/>
                <a:gd name="f39" fmla="+- f19 0 f34"/>
                <a:gd name="f40" fmla="+- f19 f34 0"/>
                <a:gd name="f41" fmla="+- 21600 0 f33"/>
                <a:gd name="f42" fmla="+- f27 f34 0"/>
                <a:gd name="f43" fmla="+- f27 0 f34"/>
                <a:gd name="f44" fmla="*/ f35 f15 1"/>
                <a:gd name="f45" fmla="?: f28 0 f38"/>
                <a:gd name="f46" fmla="?: f28 f41 21600"/>
                <a:gd name="f47" fmla="*/ f38 1 2"/>
                <a:gd name="f48" fmla="*/ f38 f14 1"/>
                <a:gd name="f49" fmla="*/ f41 f14 1"/>
                <a:gd name="f50" fmla="+- f46 0 f45"/>
                <a:gd name="f51" fmla="+- f45 3600 0"/>
                <a:gd name="f52" fmla="+- f46 f47 0"/>
                <a:gd name="f53" fmla="+- 21600 0 f47"/>
                <a:gd name="f54" fmla="+- 21600 0 f45"/>
                <a:gd name="f55" fmla="+- 21600 0 f46"/>
                <a:gd name="f56" fmla="*/ f47 f14 1"/>
                <a:gd name="f57" fmla="+- f51 0 f47"/>
                <a:gd name="f58" fmla="+- f52 0 3600"/>
                <a:gd name="f59" fmla="*/ f50 1 2"/>
                <a:gd name="f60" fmla="*/ f53 f14 1"/>
                <a:gd name="f61" fmla="+- f45 f59 0"/>
                <a:gd name="f62" fmla="+- 21600 0 f57"/>
                <a:gd name="f63" fmla="+- 21600 0 f58"/>
                <a:gd name="f64" fmla="+- 21600 0 f61"/>
                <a:gd name="f65" fmla="+- f61 0 f47"/>
                <a:gd name="f66" fmla="+- f61 f47 0"/>
                <a:gd name="f67" fmla="*/ f61 f14 1"/>
                <a:gd name="f68" fmla="+- f64 0 f47"/>
                <a:gd name="f69" fmla="+- f64 f47 0"/>
                <a:gd name="f70" fmla="*/ f64 f14 1"/>
              </a:gdLst>
              <a:ahLst>
                <a:ahXY gdRefY="f0" minY="f7" maxY="f10">
                  <a:pos x="f21" y="f22"/>
                </a:ahXY>
                <a:ahXY gdRefX="f1" minX="f11" maxX="f12">
                  <a:pos x="f23" y="f24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67" y="f31"/>
                </a:cxn>
                <a:cxn ang="f32">
                  <a:pos x="f56" y="f26"/>
                </a:cxn>
                <a:cxn ang="f32">
                  <a:pos x="f70" y="f37"/>
                </a:cxn>
                <a:cxn ang="f32">
                  <a:pos x="f60" y="f26"/>
                </a:cxn>
              </a:cxnLst>
              <a:rect l="f48" t="f36" r="f49" b="f44"/>
              <a:pathLst>
                <a:path w="21600" h="21600">
                  <a:moveTo>
                    <a:pt x="f45" y="f19"/>
                  </a:moveTo>
                  <a:cubicBezTo>
                    <a:pt x="f57" y="f39"/>
                    <a:pt x="f65" y="f40"/>
                    <a:pt x="f61" y="f19"/>
                  </a:cubicBezTo>
                  <a:cubicBezTo>
                    <a:pt x="f66" y="f39"/>
                    <a:pt x="f58" y="f40"/>
                    <a:pt x="f46" y="f19"/>
                  </a:cubicBezTo>
                  <a:lnTo>
                    <a:pt x="f54" y="f27"/>
                  </a:lnTo>
                  <a:cubicBezTo>
                    <a:pt x="f62" y="f42"/>
                    <a:pt x="f69" y="f43"/>
                    <a:pt x="f64" y="f27"/>
                  </a:cubicBezTo>
                  <a:cubicBezTo>
                    <a:pt x="f68" y="f42"/>
                    <a:pt x="f63" y="f43"/>
                    <a:pt x="f55" y="f27"/>
                  </a:cubicBezTo>
                  <a:close/>
                </a:path>
              </a:pathLst>
            </a:custGeom>
            <a:gradFill>
              <a:gsLst>
                <a:gs pos="0">
                  <a:srgbClr val="650092"/>
                </a:gs>
                <a:gs pos="100000">
                  <a:srgbClr val="FF9933"/>
                </a:gs>
              </a:gsLst>
              <a:lin ang="3240600"/>
            </a:gradFill>
            <a:ln>
              <a:noFill/>
              <a:prstDash val="solid"/>
            </a:ln>
          </p:spPr>
          <p:txBody>
            <a:bodyPr vert="horz" wrap="none" lIns="90000" tIns="46800" rIns="90000" bIns="46800" anchor="ctr" anchorCtr="0" compatLnSpc="1">
              <a:noAutofit/>
            </a:bodyPr>
            <a:lstStyle/>
            <a:p>
              <a:pPr marL="0" marR="0" lvl="0" indent="0" algn="r" rtl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endParaRPr>
            </a:p>
          </p:txBody>
        </p:sp>
        <p:sp>
          <p:nvSpPr>
            <p:cNvPr id="4" name="Straight Connector 3">
              <a:extLst>
                <a:ext uri="{FF2B5EF4-FFF2-40B4-BE49-F238E27FC236}">
                  <a16:creationId xmlns:a16="http://schemas.microsoft.com/office/drawing/2014/main" id="{4A21CC93-4F8B-A271-8ACA-ECCED058ACCE}"/>
                </a:ext>
              </a:extLst>
            </p:cNvPr>
            <p:cNvSpPr/>
            <p:nvPr/>
          </p:nvSpPr>
          <p:spPr>
            <a:xfrm>
              <a:off x="4495680" y="4800600"/>
              <a:ext cx="3275279" cy="0"/>
            </a:xfrm>
            <a:prstGeom prst="line">
              <a:avLst/>
            </a:prstGeom>
            <a:noFill/>
            <a:ln w="95400" cap="sq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1">
              <a:noAutofit/>
            </a:bodyPr>
            <a:lstStyle/>
            <a:p>
              <a:pPr marL="0" marR="0" lvl="0" indent="0" algn="r" rtl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endParaRPr>
            </a:p>
          </p:txBody>
        </p:sp>
        <p:sp>
          <p:nvSpPr>
            <p:cNvPr id="5" name="Straight Connector 4">
              <a:extLst>
                <a:ext uri="{FF2B5EF4-FFF2-40B4-BE49-F238E27FC236}">
                  <a16:creationId xmlns:a16="http://schemas.microsoft.com/office/drawing/2014/main" id="{741C7BB3-207E-C8D7-F26F-53C7C75AF378}"/>
                </a:ext>
              </a:extLst>
            </p:cNvPr>
            <p:cNvSpPr/>
            <p:nvPr/>
          </p:nvSpPr>
          <p:spPr>
            <a:xfrm>
              <a:off x="4191120" y="2286000"/>
              <a:ext cx="3274920" cy="0"/>
            </a:xfrm>
            <a:prstGeom prst="line">
              <a:avLst/>
            </a:prstGeom>
            <a:noFill/>
            <a:ln w="95400" cap="sq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1">
              <a:noAutofit/>
            </a:bodyPr>
            <a:lstStyle/>
            <a:p>
              <a:pPr marL="0" marR="0" lvl="0" indent="0" algn="r" rtl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86D1FED-EECA-593E-1ACB-8D83B1F25CE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240000">
            <a:off x="7573860" y="322364"/>
            <a:ext cx="12762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6464E0-6D0A-B11A-169A-CC4C9662AD4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838840" y="209520"/>
            <a:ext cx="12762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26A6F8-FE93-EFB4-AA58-F92E3CD575D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952960" y="2562119"/>
            <a:ext cx="127656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DA990A-8950-939A-86AA-728BFB10DFA7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7581960" y="2666880"/>
            <a:ext cx="12762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C84DA6-E59F-A229-93C2-76FAFC964C4F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5999040" y="4962600"/>
            <a:ext cx="1322640" cy="18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CEFBDC-FFD6-C4EF-FB23-4D2EB7C391D7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7581960" y="4952880"/>
            <a:ext cx="1230120" cy="176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accel="500" decel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2222E-6 L 0.09271 2.22222E-6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Class="path" accel="500" decel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0.07917 -4.44444E-6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Class="path" accel="500" decel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0.07708 -1.11111E-6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-form: Shape 1">
            <a:extLst>
              <a:ext uri="{FF2B5EF4-FFF2-40B4-BE49-F238E27FC236}">
                <a16:creationId xmlns:a16="http://schemas.microsoft.com/office/drawing/2014/main" id="{01DD487B-E144-5E1F-E2B7-416CAAB147E8}"/>
              </a:ext>
            </a:extLst>
          </p:cNvPr>
          <p:cNvSpPr/>
          <p:nvPr/>
        </p:nvSpPr>
        <p:spPr>
          <a:xfrm rot="2940000">
            <a:off x="2417668" y="452712"/>
            <a:ext cx="4343400" cy="9372600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21600"/>
              <a:gd name="f8" fmla="val -2147483647"/>
              <a:gd name="f9" fmla="val 2147483647"/>
              <a:gd name="f10" fmla="+- 0 0 0"/>
              <a:gd name="f11" fmla="*/ f4 1 21600"/>
              <a:gd name="f12" fmla="*/ f5 1 21600"/>
              <a:gd name="f13" fmla="pin 0 f0 21600"/>
              <a:gd name="f14" fmla="*/ f10 f1 1"/>
              <a:gd name="f15" fmla="val f13"/>
              <a:gd name="f16" fmla="*/ f13 1 2"/>
              <a:gd name="f17" fmla="*/ f13 f11 1"/>
              <a:gd name="f18" fmla="*/ f6 f12 1"/>
              <a:gd name="f19" fmla="*/ 18000 f12 1"/>
              <a:gd name="f20" fmla="*/ 10800 f12 1"/>
              <a:gd name="f21" fmla="*/ 0 f12 1"/>
              <a:gd name="f22" fmla="*/ f14 1 f3"/>
              <a:gd name="f23" fmla="*/ 0 f11 1"/>
              <a:gd name="f24" fmla="*/ 21600 f12 1"/>
              <a:gd name="f25" fmla="*/ 10800 f11 1"/>
              <a:gd name="f26" fmla="*/ 21600 f11 1"/>
              <a:gd name="f27" fmla="+- f16 10800 0"/>
              <a:gd name="f28" fmla="+- 21600 0 f15"/>
              <a:gd name="f29" fmla="*/ f16 f11 1"/>
              <a:gd name="f30" fmla="*/ f15 f11 1"/>
              <a:gd name="f31" fmla="+- f22 0 f2"/>
              <a:gd name="f32" fmla="*/ f28 1 2"/>
              <a:gd name="f33" fmla="*/ f27 f11 1"/>
              <a:gd name="f34" fmla="+- 21600 0 f32"/>
              <a:gd name="f35" fmla="*/ f34 f11 1"/>
            </a:gdLst>
            <a:ahLst>
              <a:ahXY gdRefX="f0" minX="f6" maxX="f7">
                <a:pos x="f17" y="f1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30" y="f21"/>
              </a:cxn>
              <a:cxn ang="f31">
                <a:pos x="f29" y="f20"/>
              </a:cxn>
              <a:cxn ang="f31">
                <a:pos x="f23" y="f24"/>
              </a:cxn>
              <a:cxn ang="f31">
                <a:pos x="f25" y="f24"/>
              </a:cxn>
              <a:cxn ang="f31">
                <a:pos x="f26" y="f24"/>
              </a:cxn>
              <a:cxn ang="f31">
                <a:pos x="f35" y="f20"/>
              </a:cxn>
            </a:cxnLst>
            <a:rect l="f29" t="f20" r="f33" b="f19"/>
            <a:pathLst>
              <a:path w="21600" h="21600">
                <a:moveTo>
                  <a:pt x="f15" y="f6"/>
                </a:moveTo>
                <a:lnTo>
                  <a:pt x="f7" y="f7"/>
                </a:lnTo>
                <a:lnTo>
                  <a:pt x="f6" y="f7"/>
                </a:lnTo>
                <a:close/>
              </a:path>
            </a:pathLst>
          </a:custGeom>
          <a:solidFill>
            <a:srgbClr val="CC0000">
              <a:alpha val="39000"/>
            </a:srgbClr>
          </a:solidFill>
          <a:ln>
            <a:noFill/>
            <a:prstDash val="solid"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3" name="Free-form: Shape 2">
            <a:extLst>
              <a:ext uri="{FF2B5EF4-FFF2-40B4-BE49-F238E27FC236}">
                <a16:creationId xmlns:a16="http://schemas.microsoft.com/office/drawing/2014/main" id="{E46BDA1B-5927-FF1C-57C3-11529F37022F}"/>
              </a:ext>
            </a:extLst>
          </p:cNvPr>
          <p:cNvSpPr/>
          <p:nvPr/>
        </p:nvSpPr>
        <p:spPr>
          <a:xfrm rot="19680000">
            <a:off x="606399" y="-728765"/>
            <a:ext cx="4724280" cy="960120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21600"/>
              <a:gd name="f8" fmla="val -2147483647"/>
              <a:gd name="f9" fmla="val 2147483647"/>
              <a:gd name="f10" fmla="+- 0 0 0"/>
              <a:gd name="f11" fmla="*/ f4 1 21600"/>
              <a:gd name="f12" fmla="*/ f5 1 21600"/>
              <a:gd name="f13" fmla="pin 0 f0 21600"/>
              <a:gd name="f14" fmla="*/ f10 f1 1"/>
              <a:gd name="f15" fmla="val f13"/>
              <a:gd name="f16" fmla="*/ f13 1 2"/>
              <a:gd name="f17" fmla="*/ f13 f11 1"/>
              <a:gd name="f18" fmla="*/ f6 f12 1"/>
              <a:gd name="f19" fmla="*/ 18000 f12 1"/>
              <a:gd name="f20" fmla="*/ 10800 f12 1"/>
              <a:gd name="f21" fmla="*/ 0 f12 1"/>
              <a:gd name="f22" fmla="*/ f14 1 f3"/>
              <a:gd name="f23" fmla="*/ 0 f11 1"/>
              <a:gd name="f24" fmla="*/ 21600 f12 1"/>
              <a:gd name="f25" fmla="*/ 10800 f11 1"/>
              <a:gd name="f26" fmla="*/ 21600 f11 1"/>
              <a:gd name="f27" fmla="+- f16 10800 0"/>
              <a:gd name="f28" fmla="+- 21600 0 f15"/>
              <a:gd name="f29" fmla="*/ f16 f11 1"/>
              <a:gd name="f30" fmla="*/ f15 f11 1"/>
              <a:gd name="f31" fmla="+- f22 0 f2"/>
              <a:gd name="f32" fmla="*/ f28 1 2"/>
              <a:gd name="f33" fmla="*/ f27 f11 1"/>
              <a:gd name="f34" fmla="+- 21600 0 f32"/>
              <a:gd name="f35" fmla="*/ f34 f11 1"/>
            </a:gdLst>
            <a:ahLst>
              <a:ahXY gdRefX="f0" minX="f6" maxX="f7">
                <a:pos x="f17" y="f1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30" y="f21"/>
              </a:cxn>
              <a:cxn ang="f31">
                <a:pos x="f29" y="f20"/>
              </a:cxn>
              <a:cxn ang="f31">
                <a:pos x="f23" y="f24"/>
              </a:cxn>
              <a:cxn ang="f31">
                <a:pos x="f25" y="f24"/>
              </a:cxn>
              <a:cxn ang="f31">
                <a:pos x="f26" y="f24"/>
              </a:cxn>
              <a:cxn ang="f31">
                <a:pos x="f35" y="f20"/>
              </a:cxn>
            </a:cxnLst>
            <a:rect l="f29" t="f20" r="f33" b="f19"/>
            <a:pathLst>
              <a:path w="21600" h="21600">
                <a:moveTo>
                  <a:pt x="f15" y="f6"/>
                </a:moveTo>
                <a:lnTo>
                  <a:pt x="f7" y="f7"/>
                </a:lnTo>
                <a:lnTo>
                  <a:pt x="f6" y="f7"/>
                </a:lnTo>
                <a:close/>
              </a:path>
            </a:pathLst>
          </a:custGeom>
          <a:solidFill>
            <a:srgbClr val="000080">
              <a:alpha val="30000"/>
            </a:srgbClr>
          </a:solidFill>
          <a:ln>
            <a:noFill/>
            <a:prstDash val="solid"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C477A3-4EB8-56FF-8595-988F06DC26FF}"/>
              </a:ext>
            </a:extLst>
          </p:cNvPr>
          <p:cNvGrpSpPr/>
          <p:nvPr/>
        </p:nvGrpSpPr>
        <p:grpSpPr>
          <a:xfrm>
            <a:off x="6705720" y="228600"/>
            <a:ext cx="2233202" cy="1985639"/>
            <a:chOff x="6705720" y="228600"/>
            <a:chExt cx="2233202" cy="19856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66314CB-5816-73D1-FC53-D4BEDEFA5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 rot="240000">
              <a:off x="7628162" y="343679"/>
              <a:ext cx="1310760" cy="1870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7BF3507-7F92-1640-3C1D-1F6324776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/>
              <a:alphaModFix/>
            </a:blip>
            <a:srcRect/>
            <a:stretch>
              <a:fillRect/>
            </a:stretch>
          </p:blipFill>
          <p:spPr>
            <a:xfrm>
              <a:off x="6705720" y="228600"/>
              <a:ext cx="1310760" cy="18705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2A22179-02F7-FB84-CAE9-E6451549A70E}"/>
              </a:ext>
            </a:extLst>
          </p:cNvPr>
          <p:cNvGrpSpPr/>
          <p:nvPr/>
        </p:nvGrpSpPr>
        <p:grpSpPr>
          <a:xfrm>
            <a:off x="6667560" y="2562119"/>
            <a:ext cx="2189160" cy="1932121"/>
            <a:chOff x="6667560" y="2562119"/>
            <a:chExt cx="2189160" cy="193212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248E288-6053-629E-0AD4-BAE423D38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/>
              <a:alphaModFix/>
            </a:blip>
            <a:srcRect/>
            <a:stretch>
              <a:fillRect/>
            </a:stretch>
          </p:blipFill>
          <p:spPr>
            <a:xfrm>
              <a:off x="6667560" y="2562119"/>
              <a:ext cx="1274760" cy="1827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7F4368D-4840-1096-CC4A-4503555BC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/>
              <a:alphaModFix/>
            </a:blip>
            <a:srcRect/>
            <a:stretch>
              <a:fillRect/>
            </a:stretch>
          </p:blipFill>
          <p:spPr>
            <a:xfrm>
              <a:off x="7581960" y="2666880"/>
              <a:ext cx="1274760" cy="18273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B46CFAD-B921-4725-A97D-E8A535D6138A}"/>
              </a:ext>
            </a:extLst>
          </p:cNvPr>
          <p:cNvGrpSpPr/>
          <p:nvPr/>
        </p:nvGrpSpPr>
        <p:grpSpPr>
          <a:xfrm>
            <a:off x="6697800" y="4952880"/>
            <a:ext cx="2112840" cy="1893960"/>
            <a:chOff x="6697800" y="4952880"/>
            <a:chExt cx="2112840" cy="189396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3D79E4B-E78D-26B1-273A-3A0C6A264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/>
              <a:alphaModFix/>
            </a:blip>
            <a:srcRect/>
            <a:stretch>
              <a:fillRect/>
            </a:stretch>
          </p:blipFill>
          <p:spPr>
            <a:xfrm>
              <a:off x="6697800" y="4952880"/>
              <a:ext cx="1320840" cy="1893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F5DCAF6-1202-43CA-E8A5-D2CF0499D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/>
              <a:alphaModFix/>
            </a:blip>
            <a:srcRect/>
            <a:stretch>
              <a:fillRect/>
            </a:stretch>
          </p:blipFill>
          <p:spPr>
            <a:xfrm>
              <a:off x="7581960" y="4952880"/>
              <a:ext cx="1228680" cy="17607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EFA3BB5-BC4D-9256-3324-00844509461C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-380880" y="0"/>
            <a:ext cx="244440" cy="24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7EA30F7-853C-2A2E-372C-2E792A89930E}"/>
              </a:ext>
            </a:extLst>
          </p:cNvPr>
          <p:cNvGrpSpPr/>
          <p:nvPr/>
        </p:nvGrpSpPr>
        <p:grpSpPr>
          <a:xfrm>
            <a:off x="6705720" y="228600"/>
            <a:ext cx="2233202" cy="1985639"/>
            <a:chOff x="6705720" y="228600"/>
            <a:chExt cx="2233202" cy="198563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8CDDC4D-4DA1-9171-9A6D-CC8AFF117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 rot="240000">
              <a:off x="7628162" y="343679"/>
              <a:ext cx="1310760" cy="1870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BE9C6E3-A214-1965-3A5C-EEB3976D7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/>
              <a:alphaModFix/>
            </a:blip>
            <a:srcRect/>
            <a:stretch>
              <a:fillRect/>
            </a:stretch>
          </p:blipFill>
          <p:spPr>
            <a:xfrm>
              <a:off x="6705720" y="228600"/>
              <a:ext cx="1310760" cy="18705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5E924DB-361A-7D6E-65C1-BED37775EFC0}"/>
              </a:ext>
            </a:extLst>
          </p:cNvPr>
          <p:cNvGrpSpPr/>
          <p:nvPr/>
        </p:nvGrpSpPr>
        <p:grpSpPr>
          <a:xfrm>
            <a:off x="6667560" y="2562119"/>
            <a:ext cx="2189160" cy="1932121"/>
            <a:chOff x="6667560" y="2562119"/>
            <a:chExt cx="2189160" cy="193212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7106F94-7D95-652E-23B7-F091519AE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/>
              <a:alphaModFix/>
            </a:blip>
            <a:srcRect/>
            <a:stretch>
              <a:fillRect/>
            </a:stretch>
          </p:blipFill>
          <p:spPr>
            <a:xfrm>
              <a:off x="6667560" y="2562119"/>
              <a:ext cx="1274760" cy="1827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F486035-3EE0-306E-43CE-9E4536F05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/>
              <a:alphaModFix/>
            </a:blip>
            <a:srcRect/>
            <a:stretch>
              <a:fillRect/>
            </a:stretch>
          </p:blipFill>
          <p:spPr>
            <a:xfrm>
              <a:off x="7581960" y="2666880"/>
              <a:ext cx="1274760" cy="18273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38D1783-D115-28A5-4EAC-2B83BC31F4AD}"/>
              </a:ext>
            </a:extLst>
          </p:cNvPr>
          <p:cNvGrpSpPr/>
          <p:nvPr/>
        </p:nvGrpSpPr>
        <p:grpSpPr>
          <a:xfrm>
            <a:off x="6697800" y="4952880"/>
            <a:ext cx="2112840" cy="1893960"/>
            <a:chOff x="6697800" y="4952880"/>
            <a:chExt cx="2112840" cy="189396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400AC33-CF86-17E0-437E-2FDB72B00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/>
              <a:alphaModFix/>
            </a:blip>
            <a:srcRect/>
            <a:stretch>
              <a:fillRect/>
            </a:stretch>
          </p:blipFill>
          <p:spPr>
            <a:xfrm>
              <a:off x="6697800" y="4952880"/>
              <a:ext cx="1320840" cy="1893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636313D-7516-03CF-43B6-A9CDC2AA6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/>
              <a:alphaModFix/>
            </a:blip>
            <a:srcRect/>
            <a:stretch>
              <a:fillRect/>
            </a:stretch>
          </p:blipFill>
          <p:spPr>
            <a:xfrm>
              <a:off x="7581960" y="4952880"/>
              <a:ext cx="1228680" cy="176076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1B0E897-FBFA-58CF-0164-9480F28E2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827964"/>
              </p:ext>
            </p:extLst>
          </p:nvPr>
        </p:nvGraphicFramePr>
        <p:xfrm>
          <a:off x="1143000" y="4343400"/>
          <a:ext cx="3963600" cy="2393999"/>
        </p:xfrm>
        <a:graphic>
          <a:graphicData uri="http://schemas.openxmlformats.org/drawingml/2006/table">
            <a:tbl>
              <a:tblPr/>
              <a:tblGrid>
                <a:gridCol w="1219680">
                  <a:extLst>
                    <a:ext uri="{9D8B030D-6E8A-4147-A177-3AD203B41FA5}">
                      <a16:colId xmlns:a16="http://schemas.microsoft.com/office/drawing/2014/main" val="1822885342"/>
                    </a:ext>
                  </a:extLst>
                </a:gridCol>
                <a:gridCol w="1219320">
                  <a:extLst>
                    <a:ext uri="{9D8B030D-6E8A-4147-A177-3AD203B41FA5}">
                      <a16:colId xmlns:a16="http://schemas.microsoft.com/office/drawing/2014/main" val="2703043308"/>
                    </a:ext>
                  </a:extLst>
                </a:gridCol>
                <a:gridCol w="1219680">
                  <a:extLst>
                    <a:ext uri="{9D8B030D-6E8A-4147-A177-3AD203B41FA5}">
                      <a16:colId xmlns:a16="http://schemas.microsoft.com/office/drawing/2014/main" val="2264018921"/>
                    </a:ext>
                  </a:extLst>
                </a:gridCol>
                <a:gridCol w="304920">
                  <a:extLst>
                    <a:ext uri="{9D8B030D-6E8A-4147-A177-3AD203B41FA5}">
                      <a16:colId xmlns:a16="http://schemas.microsoft.com/office/drawing/2014/main" val="1426284731"/>
                    </a:ext>
                  </a:extLst>
                </a:gridCol>
              </a:tblGrid>
              <a:tr h="1028879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980390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161753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979136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26244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F73F0C4-05AE-BBEF-EB29-C0DBEA0D7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642856"/>
              </p:ext>
            </p:extLst>
          </p:nvPr>
        </p:nvGraphicFramePr>
        <p:xfrm>
          <a:off x="1143000" y="612720"/>
          <a:ext cx="4039917" cy="2469439"/>
        </p:xfrm>
        <a:graphic>
          <a:graphicData uri="http://schemas.openxmlformats.org/drawingml/2006/table">
            <a:tbl>
              <a:tblPr/>
              <a:tblGrid>
                <a:gridCol w="1197359">
                  <a:extLst>
                    <a:ext uri="{9D8B030D-6E8A-4147-A177-3AD203B41FA5}">
                      <a16:colId xmlns:a16="http://schemas.microsoft.com/office/drawing/2014/main" val="1563738193"/>
                    </a:ext>
                  </a:extLst>
                </a:gridCol>
                <a:gridCol w="1197359">
                  <a:extLst>
                    <a:ext uri="{9D8B030D-6E8A-4147-A177-3AD203B41FA5}">
                      <a16:colId xmlns:a16="http://schemas.microsoft.com/office/drawing/2014/main" val="4167466920"/>
                    </a:ext>
                  </a:extLst>
                </a:gridCol>
                <a:gridCol w="1264319">
                  <a:extLst>
                    <a:ext uri="{9D8B030D-6E8A-4147-A177-3AD203B41FA5}">
                      <a16:colId xmlns:a16="http://schemas.microsoft.com/office/drawing/2014/main" val="568593571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627349735"/>
                    </a:ext>
                  </a:extLst>
                </a:gridCol>
              </a:tblGrid>
              <a:tr h="912239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גליה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773972"/>
                  </a:ext>
                </a:extLst>
              </a:tr>
              <a:tr h="51552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50580"/>
                  </a:ext>
                </a:extLst>
              </a:tr>
              <a:tr h="52616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39676"/>
                  </a:ext>
                </a:extLst>
              </a:tr>
              <a:tr h="51552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3</a:t>
                      </a:r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8497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8601C-B671-1131-B253-882B23E5561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6839" y="228240"/>
            <a:ext cx="8000999" cy="685799"/>
          </a:xfrm>
        </p:spPr>
        <p:txBody>
          <a:bodyPr wrap="square">
            <a:noAutofit/>
          </a:bodyPr>
          <a:lstStyle/>
          <a:p>
            <a:pPr lvl="0" algn="ctr" rtl="0"/>
            <a:r>
              <a:rPr lang="he-IL" sz="4000"/>
              <a:t>משפט: האלגוריתם מסתיים בשידוך יציב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8E17A-ABCB-866A-8BFC-FAA06E4FC3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1280159"/>
            <a:ext cx="8961120" cy="5394960"/>
          </a:xfrm>
        </p:spPr>
        <p:txBody>
          <a:bodyPr wrap="square"/>
          <a:lstStyle/>
          <a:p>
            <a:pPr lvl="0" indent="-341280" algn="r"/>
            <a:r>
              <a:rPr lang="he-IL" sz="2600" b="1" i="1"/>
              <a:t>מסתיים</a:t>
            </a:r>
            <a:r>
              <a:rPr lang="he-IL" sz="2600"/>
              <a:t>: כי כל סטודנט מציע לכל מחלקה פעם אחת לכל היותר.</a:t>
            </a:r>
          </a:p>
          <a:p>
            <a:pPr lvl="0" indent="-341280" algn="r"/>
            <a:r>
              <a:rPr lang="he-IL" sz="2600" b="1" i="1"/>
              <a:t>בשידוך</a:t>
            </a:r>
            <a:r>
              <a:rPr lang="he-IL" sz="2600"/>
              <a:t>: נניח שיש מחלקה לא-משודכת. אז אף סטודנט לא הגיע אליה. כיוון שמספר הסטודנטים והמחלקות שווה, יש גם סטודנט לא משודך. הוא עובר על כל הרשימה שלו מלמעלה למטה, לכן בהכרח הוא יגיע מתישהו למחלקה הלא-משודכת וישתדך איתה. כלומר האלגוריתם עוד לא הסתיים.</a:t>
            </a:r>
          </a:p>
          <a:p>
            <a:pPr lvl="0" indent="-341280" algn="r"/>
            <a:r>
              <a:rPr lang="he-IL" sz="2600" b="1" i="1"/>
              <a:t>יציב</a:t>
            </a:r>
            <a:r>
              <a:rPr lang="he-IL" sz="2600"/>
              <a:t>: מצבה של כל </a:t>
            </a:r>
            <a:r>
              <a:rPr lang="he-IL" sz="2600" i="1"/>
              <a:t>מחלקה </a:t>
            </a:r>
            <a:r>
              <a:rPr lang="he-IL" sz="2600"/>
              <a:t>הולך ומשתפר.</a:t>
            </a:r>
            <a:br>
              <a:rPr lang="he-IL" sz="2600"/>
            </a:br>
            <a:r>
              <a:rPr lang="he-IL" sz="2600"/>
              <a:t>     לעומת זאת, כל </a:t>
            </a:r>
            <a:r>
              <a:rPr lang="he-IL" sz="2600" i="1"/>
              <a:t>סטודנט </a:t>
            </a:r>
            <a:r>
              <a:rPr lang="he-IL" sz="2600"/>
              <a:t>הולך ומתפשר. </a:t>
            </a:r>
            <a:br>
              <a:rPr lang="he-IL" sz="2600"/>
            </a:br>
            <a:r>
              <a:rPr lang="he-IL" sz="2600"/>
              <a:t>מכאן, אם זוג מסויים (ס,מ) לא נוצר אז יש שתי אפשרויות:</a:t>
            </a:r>
          </a:p>
          <a:p>
            <a:pPr lvl="0" indent="-341280" algn="r"/>
            <a:r>
              <a:rPr lang="he-IL" sz="2600"/>
              <a:t>     א. ס עוד לא היה ב-מ: מכאן ש-ס נמצא במחלקה טובה יותר.</a:t>
            </a:r>
          </a:p>
          <a:p>
            <a:pPr lvl="0" indent="-341280" algn="r"/>
            <a:r>
              <a:rPr lang="he-IL" sz="2600"/>
              <a:t>     ב. ס כבר היה ב-מ: מכאן של-מ יש סטודנט טוב יותר.      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84CA2-64CA-D0E5-FD78-35FF74ACDB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6839" y="228600"/>
            <a:ext cx="8595720" cy="914400"/>
          </a:xfrm>
        </p:spPr>
        <p:txBody>
          <a:bodyPr wrap="square">
            <a:noAutofit/>
          </a:bodyPr>
          <a:lstStyle/>
          <a:p>
            <a:pPr lvl="0"/>
            <a:r>
              <a:rPr lang="he-IL"/>
              <a:t>מי מציע ומי מקבל?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53FAB-F5B4-A5C1-EF66-2B6B872D297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20"/>
          </a:xfrm>
        </p:spPr>
        <p:txBody>
          <a:bodyPr wrap="square"/>
          <a:lstStyle/>
          <a:p>
            <a:pPr lvl="0" algn="r"/>
            <a:r>
              <a:rPr lang="he-IL" sz="2800"/>
              <a:t>באלגוריתם שהצגנו למעלה, הסטודנטים מציעים למחלקות, והמחלקות מחליטות את מי לקבל.</a:t>
            </a:r>
          </a:p>
          <a:p>
            <a:pPr lvl="0" algn="r"/>
            <a:r>
              <a:rPr lang="he-IL" sz="2800"/>
              <a:t>יכולנו גם לנהל את האלגוריתם בסדר הפוך: המחלקות מציעות לסטודנטים, והסטודנטים מחליטים את מי לקבל.</a:t>
            </a:r>
          </a:p>
          <a:p>
            <a:pPr lvl="0" algn="r"/>
            <a:r>
              <a:rPr lang="he-IL" sz="2800"/>
              <a:t>האם לדעתכם יש הבדל בין שתי הגישות? כסטודנטים, איזה אלגוריתם תעדיפו? כראשי מחלקות, איזה אלגוריתם תעדיפו?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583D1-033D-D076-E6E7-3193402A02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6839" y="228600"/>
            <a:ext cx="8595720" cy="914400"/>
          </a:xfrm>
        </p:spPr>
        <p:txBody>
          <a:bodyPr wrap="square">
            <a:noAutofit/>
          </a:bodyPr>
          <a:lstStyle/>
          <a:p>
            <a:pPr lvl="0"/>
            <a:r>
              <a:rPr lang="he-IL"/>
              <a:t>מי מציע ומי מקבל?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81E86-3E77-A206-C34F-B6CA61EC23F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212080" y="1600200"/>
            <a:ext cx="3840479" cy="5074920"/>
          </a:xfrm>
        </p:spPr>
        <p:txBody>
          <a:bodyPr wrap="square"/>
          <a:lstStyle/>
          <a:p>
            <a:pPr lvl="0" algn="l" rtl="0"/>
            <a:r>
              <a:rPr lang="he-IL" sz="2800"/>
              <a:t>דוגמה:</a:t>
            </a:r>
          </a:p>
          <a:p>
            <a:pPr lvl="0" algn="l" rtl="0">
              <a:buSzPct val="45000"/>
              <a:buFont typeface="StarSymbol"/>
              <a:buChar char="●"/>
            </a:pPr>
            <a:r>
              <a:rPr lang="he-IL" sz="2800"/>
              <a:t>אם הסטודנטים מציעים – השידוך הוא: </a:t>
            </a:r>
            <a:br>
              <a:rPr lang="he-IL" sz="2800"/>
            </a:br>
            <a:r>
              <a:rPr lang="he-IL" sz="2800"/>
              <a:t>ר-ב, ש-א, ת-ג</a:t>
            </a:r>
          </a:p>
          <a:p>
            <a:pPr lvl="0" algn="l" rtl="0">
              <a:buSzPct val="45000"/>
              <a:buFont typeface="StarSymbol"/>
              <a:buChar char="●"/>
            </a:pPr>
            <a:r>
              <a:rPr lang="he-IL" sz="2800"/>
              <a:t>אם המחלקות מציעות, השידוך הוא:</a:t>
            </a:r>
            <a:br>
              <a:rPr lang="he-IL" sz="2800"/>
            </a:br>
            <a:r>
              <a:rPr lang="he-IL" sz="2800"/>
              <a:t>ר-א, ש-ב, ת-ג</a:t>
            </a:r>
            <a:br>
              <a:rPr lang="he-IL" sz="2800"/>
            </a:br>
            <a:endParaRPr lang="he-IL" sz="2800"/>
          </a:p>
          <a:p>
            <a:pPr lvl="0" algn="l" rtl="0">
              <a:buSzPct val="45000"/>
              <a:buFont typeface="StarSymbol"/>
              <a:buChar char="●"/>
            </a:pPr>
            <a:r>
              <a:rPr lang="he-IL" sz="2800"/>
              <a:t>מה עדיף לסטודנטים? מה עדיף למחלקות?</a:t>
            </a:r>
          </a:p>
          <a:p>
            <a:pPr lvl="0" algn="l" rtl="0">
              <a:buSzPct val="45000"/>
              <a:buFont typeface="StarSymbol"/>
              <a:buChar char="●"/>
            </a:pPr>
            <a:endParaRPr lang="he-IL" sz="2800"/>
          </a:p>
          <a:p>
            <a:pPr lvl="0" algn="l" rtl="0"/>
            <a:endParaRPr lang="he-IL" sz="28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690632-C20E-FCE5-C872-1B30EE391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708703"/>
              </p:ext>
            </p:extLst>
          </p:nvPr>
        </p:nvGraphicFramePr>
        <p:xfrm>
          <a:off x="1128600" y="4052520"/>
          <a:ext cx="3963600" cy="2393999"/>
        </p:xfrm>
        <a:graphic>
          <a:graphicData uri="http://schemas.openxmlformats.org/drawingml/2006/table">
            <a:tbl>
              <a:tblPr/>
              <a:tblGrid>
                <a:gridCol w="1219680">
                  <a:extLst>
                    <a:ext uri="{9D8B030D-6E8A-4147-A177-3AD203B41FA5}">
                      <a16:colId xmlns:a16="http://schemas.microsoft.com/office/drawing/2014/main" val="493080934"/>
                    </a:ext>
                  </a:extLst>
                </a:gridCol>
                <a:gridCol w="1219320">
                  <a:extLst>
                    <a:ext uri="{9D8B030D-6E8A-4147-A177-3AD203B41FA5}">
                      <a16:colId xmlns:a16="http://schemas.microsoft.com/office/drawing/2014/main" val="1376675893"/>
                    </a:ext>
                  </a:extLst>
                </a:gridCol>
                <a:gridCol w="1219680">
                  <a:extLst>
                    <a:ext uri="{9D8B030D-6E8A-4147-A177-3AD203B41FA5}">
                      <a16:colId xmlns:a16="http://schemas.microsoft.com/office/drawing/2014/main" val="1305639788"/>
                    </a:ext>
                  </a:extLst>
                </a:gridCol>
                <a:gridCol w="304920">
                  <a:extLst>
                    <a:ext uri="{9D8B030D-6E8A-4147-A177-3AD203B41FA5}">
                      <a16:colId xmlns:a16="http://schemas.microsoft.com/office/drawing/2014/main" val="384407820"/>
                    </a:ext>
                  </a:extLst>
                </a:gridCol>
              </a:tblGrid>
              <a:tr h="1028879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686196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811498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  <a:endParaRPr lang="he-IL" sz="2400" b="1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ea typeface="Arial" pitchFamily="34"/>
                        <a:cs typeface="Arial" pitchFamily="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  <a:endParaRPr lang="he-IL" sz="2400" b="1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ea typeface="Arial" pitchFamily="34"/>
                        <a:cs typeface="Arial" pitchFamily="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  <a:endParaRPr lang="he-IL" sz="2400" b="1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ea typeface="Arial" pitchFamily="34"/>
                        <a:cs typeface="Arial" pitchFamily="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881068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גילה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גילה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גילה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67551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3B43DD-26D6-4822-1A2E-039C2B2F7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240561"/>
              </p:ext>
            </p:extLst>
          </p:nvPr>
        </p:nvGraphicFramePr>
        <p:xfrm>
          <a:off x="1077840" y="1493280"/>
          <a:ext cx="4039917" cy="2469439"/>
        </p:xfrm>
        <a:graphic>
          <a:graphicData uri="http://schemas.openxmlformats.org/drawingml/2006/table">
            <a:tbl>
              <a:tblPr/>
              <a:tblGrid>
                <a:gridCol w="1197359">
                  <a:extLst>
                    <a:ext uri="{9D8B030D-6E8A-4147-A177-3AD203B41FA5}">
                      <a16:colId xmlns:a16="http://schemas.microsoft.com/office/drawing/2014/main" val="1006642086"/>
                    </a:ext>
                  </a:extLst>
                </a:gridCol>
                <a:gridCol w="1197359">
                  <a:extLst>
                    <a:ext uri="{9D8B030D-6E8A-4147-A177-3AD203B41FA5}">
                      <a16:colId xmlns:a16="http://schemas.microsoft.com/office/drawing/2014/main" val="11219746"/>
                    </a:ext>
                  </a:extLst>
                </a:gridCol>
                <a:gridCol w="1264319">
                  <a:extLst>
                    <a:ext uri="{9D8B030D-6E8A-4147-A177-3AD203B41FA5}">
                      <a16:colId xmlns:a16="http://schemas.microsoft.com/office/drawing/2014/main" val="1290736743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197452840"/>
                    </a:ext>
                  </a:extLst>
                </a:gridCol>
              </a:tblGrid>
              <a:tr h="912239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 b="1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גילה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477046"/>
                  </a:ext>
                </a:extLst>
              </a:tr>
              <a:tr h="51552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795676"/>
                  </a:ext>
                </a:extLst>
              </a:tr>
              <a:tr h="455040">
                <a:tc rowSpan="2"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2976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687006"/>
                  </a:ext>
                </a:extLst>
              </a:tr>
              <a:tr h="51552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5325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587DF9-0131-FF5B-A8F2-553C45C651BC}"/>
              </a:ext>
            </a:extLst>
          </p:cNvPr>
          <p:cNvSpPr txBox="1"/>
          <p:nvPr/>
        </p:nvSpPr>
        <p:spPr>
          <a:xfrm>
            <a:off x="3108959" y="6492240"/>
            <a:ext cx="3567240" cy="3650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1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http://sephlietz.com/gale-shapley/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8BF9CD-5EB7-7652-D586-A95DD013E77A}"/>
              </a:ext>
            </a:extLst>
          </p:cNvPr>
          <p:cNvSpPr txBox="1"/>
          <p:nvPr/>
        </p:nvSpPr>
        <p:spPr>
          <a:xfrm>
            <a:off x="5682600" y="505740"/>
            <a:ext cx="3374314" cy="61233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1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1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משפט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:</a:t>
            </a:r>
            <a:endParaRPr lang="he-IL" sz="2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he-IL" sz="2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כשסטודנטים מציעים 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–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השידוך המתקבל הוא </a:t>
            </a:r>
            <a:r>
              <a:rPr lang="he-IL" sz="2800" b="0" i="1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הטוב ביותר לכל הסטודנטים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 מכל השידוכים היציבים.</a:t>
            </a:r>
          </a:p>
          <a:p>
            <a:pPr lvl="0" algn="r" rtl="1" hangingPunct="0"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1" u="none" strike="noStrike" cap="none" baseline="0">
                <a:ln>
                  <a:noFill/>
                </a:ln>
                <a:solidFill>
                  <a:srgbClr val="0000FF"/>
                </a:solidFill>
                <a:latin typeface="Arial" pitchFamily="34"/>
                <a:ea typeface="Arial" pitchFamily="34"/>
                <a:cs typeface="Arial" pitchFamily="34"/>
              </a:rPr>
              <a:t>הוכחה</a:t>
            </a:r>
            <a:r>
              <a:rPr lang="he-IL" sz="2800" i="1">
                <a:solidFill>
                  <a:srgbClr val="0000FF"/>
                </a:solidFill>
                <a:latin typeface="Arial" pitchFamily="34"/>
                <a:ea typeface="Arial" pitchFamily="34"/>
                <a:cs typeface="Arial" pitchFamily="34"/>
              </a:rPr>
              <a:t>: 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FF"/>
                </a:solidFill>
                <a:latin typeface="Arial" pitchFamily="34"/>
                <a:ea typeface="Arial" pitchFamily="34"/>
                <a:cs typeface="Arial" pitchFamily="34"/>
              </a:rPr>
              <a:t>נסמן: </a:t>
            </a:r>
            <a:br>
              <a:rPr lang="en-US" sz="2800" b="0" i="0" u="none" strike="noStrike" cap="none" baseline="0">
                <a:ln>
                  <a:noFill/>
                </a:ln>
                <a:solidFill>
                  <a:srgbClr val="0000FF"/>
                </a:solidFill>
                <a:latin typeface="Arial" pitchFamily="34"/>
                <a:ea typeface="Arial" pitchFamily="34"/>
                <a:cs typeface="Arial" pitchFamily="34"/>
              </a:rPr>
            </a:br>
            <a:r>
              <a:rPr lang="he-IL" sz="2800" b="0" i="0" u="none" strike="noStrike" cap="none" baseline="0">
                <a:ln>
                  <a:noFill/>
                </a:ln>
                <a:solidFill>
                  <a:srgbClr val="FF0000"/>
                </a:solidFill>
                <a:latin typeface="Arial" pitchFamily="34"/>
                <a:ea typeface="Arial" pitchFamily="34"/>
                <a:cs typeface="Arial" pitchFamily="34"/>
              </a:rPr>
              <a:t>א = שידוך האלגוריתם;</a:t>
            </a:r>
            <a:br>
              <a:rPr lang="en-US" sz="2800" b="0" i="0" u="none" strike="noStrike" cap="none" baseline="0">
                <a:ln>
                  <a:noFill/>
                </a:ln>
                <a:solidFill>
                  <a:srgbClr val="0000FF"/>
                </a:solidFill>
                <a:latin typeface="Arial" pitchFamily="34"/>
                <a:ea typeface="Arial" pitchFamily="34"/>
                <a:cs typeface="Arial" pitchFamily="34"/>
              </a:rPr>
            </a:br>
            <a:r>
              <a:rPr lang="he-IL" sz="2800" b="0" i="0" u="none" strike="noStrike" cap="none" baseline="0">
                <a:ln>
                  <a:noFill/>
                </a:ln>
                <a:solidFill>
                  <a:srgbClr val="009900"/>
                </a:solidFill>
                <a:latin typeface="Arial" pitchFamily="34"/>
                <a:ea typeface="Arial" pitchFamily="34"/>
                <a:cs typeface="Arial" pitchFamily="34"/>
              </a:rPr>
              <a:t>ב = שידוך יציב אחר כלשהו. 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FF"/>
                </a:solidFill>
                <a:latin typeface="Arial" pitchFamily="34"/>
                <a:ea typeface="Arial" pitchFamily="34"/>
                <a:cs typeface="Arial" pitchFamily="34"/>
              </a:rPr>
              <a:t>נניח בשלילה ששידוך ב טוב יותר לסטודנט כלשהו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00FF"/>
                </a:solidFill>
                <a:latin typeface="Arial" pitchFamily="34"/>
                <a:ea typeface="Arial" pitchFamily="34"/>
                <a:cs typeface="Arial" pitchFamily="34"/>
              </a:rPr>
              <a:t> ס0. </a:t>
            </a:r>
            <a:r>
              <a:rPr lang="he-IL" sz="2800" b="0" i="1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נגיע למעגל </a:t>
            </a:r>
            <a:r>
              <a:rPr lang="he-IL" sz="280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  <a:sym typeface="Wingdings" panose="05000000000000000000" pitchFamily="2" charset="2"/>
              </a:rPr>
              <a:t></a:t>
            </a:r>
            <a:r>
              <a:rPr lang="he-IL" sz="2800" b="0" i="1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A06C14-4005-29DD-135A-60466F5A1B9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365760" y="0"/>
            <a:ext cx="6048360" cy="685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2CCC46-46EF-4BAC-3AF3-207445AE2143}"/>
              </a:ext>
            </a:extLst>
          </p:cNvPr>
          <p:cNvSpPr txBox="1"/>
          <p:nvPr/>
        </p:nvSpPr>
        <p:spPr>
          <a:xfrm>
            <a:off x="5760720" y="457199"/>
            <a:ext cx="3252651" cy="569241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1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1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הוכחה (המשך)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כל סטודנט מעדיף את המחלקה המחוברת אליו 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9900"/>
                </a:solidFill>
                <a:latin typeface="Arial" pitchFamily="34"/>
                <a:ea typeface="Arial" pitchFamily="34"/>
                <a:cs typeface="Arial" pitchFamily="34"/>
              </a:rPr>
              <a:t>בירוק (שידוך ב)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;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כל מחלקה מעדיפה את הסטודנט שביקר אצלה 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CE181E"/>
                </a:solidFill>
                <a:latin typeface="Arial" pitchFamily="34"/>
                <a:ea typeface="Arial" pitchFamily="34"/>
                <a:cs typeface="Arial" pitchFamily="34"/>
              </a:rPr>
              <a:t>באדום (א)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סדר האירועים באלגוריתם א הוא בכיוון החיצים.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אבל זה לא ייתכן כי זה מעגל. ***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EECECC-0C4B-4765-D3A5-E23478654B9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365399" y="360"/>
            <a:ext cx="6048360" cy="685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9D214-F95F-25AD-2B8B-4886834C9B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6839" y="228600"/>
            <a:ext cx="8595720" cy="914400"/>
          </a:xfrm>
        </p:spPr>
        <p:txBody>
          <a:bodyPr wrap="square">
            <a:noAutofit/>
          </a:bodyPr>
          <a:lstStyle/>
          <a:p>
            <a:pPr lvl="0"/>
            <a:r>
              <a:rPr lang="he-IL"/>
              <a:t>מחלקות גדולות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788FE8-BFDF-D8E6-4107-7C06014E229A}"/>
              </a:ext>
            </a:extLst>
          </p:cNvPr>
          <p:cNvSpPr txBox="1"/>
          <p:nvPr/>
        </p:nvSpPr>
        <p:spPr>
          <a:xfrm>
            <a:off x="456838" y="1371599"/>
            <a:ext cx="8687161" cy="501530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1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32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מה עושים כשבכל מחלקה יש כמה מקומות?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32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- כל מחלקה "מקבלת על תנאי" את הסטודנטים הטובים ביותר שפנו אליה, עד לכמות המקומות הפנויים אצלה, ודוחה את כל השאר.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3200" b="0" i="0" u="none" strike="noStrike" cap="none" baseline="0">
                <a:ln>
                  <a:noFill/>
                </a:ln>
                <a:solidFill>
                  <a:srgbClr val="009900"/>
                </a:solidFill>
                <a:latin typeface="Arial" pitchFamily="34"/>
                <a:ea typeface="Arial" pitchFamily="34"/>
                <a:cs typeface="Arial" pitchFamily="34"/>
              </a:rPr>
              <a:t>זה עובד כשאין תלות בין סטודנטים שונים.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3200" b="0" i="0" u="none" strike="noStrike" cap="none" baseline="0">
                <a:ln>
                  <a:noFill/>
                </a:ln>
                <a:solidFill>
                  <a:srgbClr val="FF0000"/>
                </a:solidFill>
                <a:latin typeface="Arial" pitchFamily="34"/>
                <a:ea typeface="Arial" pitchFamily="34"/>
                <a:cs typeface="Arial" pitchFamily="34"/>
              </a:rPr>
              <a:t>זה לא עובד, למשל, כאשר: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3200" b="0" i="0" u="none" strike="noStrike" cap="none" baseline="0">
                <a:ln>
                  <a:noFill/>
                </a:ln>
                <a:solidFill>
                  <a:srgbClr val="FF0000"/>
                </a:solidFill>
                <a:latin typeface="Arial" pitchFamily="34"/>
                <a:ea typeface="Arial" pitchFamily="34"/>
                <a:cs typeface="Arial" pitchFamily="34"/>
              </a:rPr>
              <a:t>זוגות סטודנטים נשואים רוצים להתקבל לאותה מחלקה.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3200" b="0" i="0" u="none" strike="noStrike" cap="none" baseline="0">
                <a:ln>
                  <a:noFill/>
                </a:ln>
                <a:solidFill>
                  <a:srgbClr val="FF0000"/>
                </a:solidFill>
                <a:latin typeface="Arial" pitchFamily="34"/>
                <a:ea typeface="Arial" pitchFamily="34"/>
                <a:cs typeface="Arial" pitchFamily="34"/>
              </a:rPr>
              <a:t>מחלקות רוצות לקבל מספר מסויים של סטודנטים מקבוצות-מיעוט מסויימות (גיוון / אפליה מתקנת).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F487A-CDA5-2BAA-F528-34090B48A13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228600"/>
            <a:ext cx="9144000" cy="914400"/>
          </a:xfrm>
        </p:spPr>
        <p:txBody>
          <a:bodyPr wrap="square">
            <a:noAutofit/>
          </a:bodyPr>
          <a:lstStyle/>
          <a:p>
            <a:pPr lvl="0"/>
            <a:r>
              <a:rPr lang="he-IL" sz="4800"/>
              <a:t>האם “קבלה על תנאי” מגלה-אמת?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EDF64-4C5C-BBBA-6B33-25E7DED4FA3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212080" y="1600200"/>
            <a:ext cx="3840479" cy="5074920"/>
          </a:xfrm>
        </p:spPr>
        <p:txBody>
          <a:bodyPr wrap="square">
            <a:normAutofit fontScale="85000" lnSpcReduction="20000"/>
          </a:bodyPr>
          <a:lstStyle/>
          <a:p>
            <a:pPr lvl="0" algn="r"/>
            <a:r>
              <a:rPr lang="he-IL" sz="2800" b="1"/>
              <a:t>משפט</a:t>
            </a:r>
            <a:r>
              <a:rPr lang="he-IL" sz="2800"/>
              <a:t>: אלגוריתם "קבלה על תנאי" שבו הסטודנטים מציעים </a:t>
            </a:r>
            <a:r>
              <a:rPr lang="he-IL" sz="2800" i="1"/>
              <a:t>אינו מגלה-אמת עבור המחלקות.</a:t>
            </a:r>
          </a:p>
          <a:p>
            <a:pPr lvl="0" algn="r"/>
            <a:r>
              <a:rPr lang="he-IL" sz="2800"/>
              <a:t>ההוכחה בדוגמה:</a:t>
            </a:r>
          </a:p>
          <a:p>
            <a:pPr lvl="0" algn="r">
              <a:buSzPct val="45000"/>
              <a:buFont typeface="StarSymbol"/>
              <a:buChar char="●"/>
            </a:pPr>
            <a:r>
              <a:rPr lang="he-IL" sz="2800"/>
              <a:t>אם הסטודנטים מציעים – השידוך הוא: </a:t>
            </a:r>
            <a:br>
              <a:rPr lang="he-IL" sz="2800"/>
            </a:br>
            <a:r>
              <a:rPr lang="he-IL" sz="2800"/>
              <a:t>ר-ב, ש-א, ת-ג</a:t>
            </a:r>
          </a:p>
          <a:p>
            <a:pPr lvl="0" algn="r">
              <a:buSzPct val="45000"/>
              <a:buFont typeface="StarSymbol"/>
              <a:buChar char="●"/>
            </a:pPr>
            <a:r>
              <a:rPr lang="he-IL" sz="2800">
                <a:solidFill>
                  <a:srgbClr val="FF3333"/>
                </a:solidFill>
              </a:rPr>
              <a:t>מה יכולה בתיה לעשות כדי לזכות בשלמה?</a:t>
            </a:r>
          </a:p>
          <a:p>
            <a:pPr lvl="0" algn="r">
              <a:buSzPct val="45000"/>
              <a:buFont typeface="StarSymbol"/>
              <a:buChar char="●"/>
            </a:pPr>
            <a:r>
              <a:rPr lang="he-IL" sz="2800">
                <a:solidFill>
                  <a:srgbClr val="009933"/>
                </a:solidFill>
              </a:rPr>
              <a:t>תשובה: להגיד שהסדר שלה הוא: ש&gt;ת&gt;ר.</a:t>
            </a:r>
          </a:p>
          <a:p>
            <a:pPr lvl="0" algn="r">
              <a:buSzPct val="45000"/>
              <a:buFont typeface="StarSymbol"/>
              <a:buChar char="●"/>
            </a:pPr>
            <a:r>
              <a:rPr lang="he-IL" sz="2800">
                <a:solidFill>
                  <a:srgbClr val="0000CC"/>
                </a:solidFill>
              </a:rPr>
              <a:t>מסקנה: האלגוריתם אינו מגלה-אמת עבור המחלקות.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FCA0FA-B240-C290-DCA7-6DEF05377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034551"/>
              </p:ext>
            </p:extLst>
          </p:nvPr>
        </p:nvGraphicFramePr>
        <p:xfrm>
          <a:off x="986760" y="4361040"/>
          <a:ext cx="3900960" cy="1884240"/>
        </p:xfrm>
        <a:graphic>
          <a:graphicData uri="http://schemas.openxmlformats.org/drawingml/2006/table">
            <a:tbl>
              <a:tblPr/>
              <a:tblGrid>
                <a:gridCol w="1157040">
                  <a:extLst>
                    <a:ext uri="{9D8B030D-6E8A-4147-A177-3AD203B41FA5}">
                      <a16:colId xmlns:a16="http://schemas.microsoft.com/office/drawing/2014/main" val="1967645799"/>
                    </a:ext>
                  </a:extLst>
                </a:gridCol>
                <a:gridCol w="1219320">
                  <a:extLst>
                    <a:ext uri="{9D8B030D-6E8A-4147-A177-3AD203B41FA5}">
                      <a16:colId xmlns:a16="http://schemas.microsoft.com/office/drawing/2014/main" val="3401931771"/>
                    </a:ext>
                  </a:extLst>
                </a:gridCol>
                <a:gridCol w="1219680">
                  <a:extLst>
                    <a:ext uri="{9D8B030D-6E8A-4147-A177-3AD203B41FA5}">
                      <a16:colId xmlns:a16="http://schemas.microsoft.com/office/drawing/2014/main" val="3551597095"/>
                    </a:ext>
                  </a:extLst>
                </a:gridCol>
                <a:gridCol w="304920">
                  <a:extLst>
                    <a:ext uri="{9D8B030D-6E8A-4147-A177-3AD203B41FA5}">
                      <a16:colId xmlns:a16="http://schemas.microsoft.com/office/drawing/2014/main" val="2666426727"/>
                    </a:ext>
                  </a:extLst>
                </a:gridCol>
              </a:tblGrid>
              <a:tr h="51912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/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886990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656458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570029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גילה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גילה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1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גילה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10532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04E8DD-AAAE-F462-0A4C-5DF355937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077316"/>
              </p:ext>
            </p:extLst>
          </p:nvPr>
        </p:nvGraphicFramePr>
        <p:xfrm>
          <a:off x="956520" y="1520999"/>
          <a:ext cx="4039917" cy="2044280"/>
        </p:xfrm>
        <a:graphic>
          <a:graphicData uri="http://schemas.openxmlformats.org/drawingml/2006/table">
            <a:tbl>
              <a:tblPr/>
              <a:tblGrid>
                <a:gridCol w="1197359">
                  <a:extLst>
                    <a:ext uri="{9D8B030D-6E8A-4147-A177-3AD203B41FA5}">
                      <a16:colId xmlns:a16="http://schemas.microsoft.com/office/drawing/2014/main" val="3174750414"/>
                    </a:ext>
                  </a:extLst>
                </a:gridCol>
                <a:gridCol w="1197359">
                  <a:extLst>
                    <a:ext uri="{9D8B030D-6E8A-4147-A177-3AD203B41FA5}">
                      <a16:colId xmlns:a16="http://schemas.microsoft.com/office/drawing/2014/main" val="753952104"/>
                    </a:ext>
                  </a:extLst>
                </a:gridCol>
                <a:gridCol w="1264319">
                  <a:extLst>
                    <a:ext uri="{9D8B030D-6E8A-4147-A177-3AD203B41FA5}">
                      <a16:colId xmlns:a16="http://schemas.microsoft.com/office/drawing/2014/main" val="3814347870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963910028"/>
                    </a:ext>
                  </a:extLst>
                </a:gridCol>
              </a:tblGrid>
              <a:tr h="48708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 b="1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גילה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600"/>
                      </a:pPr>
                      <a:r>
                        <a:rPr lang="he-IL" sz="2600" b="1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642481"/>
                  </a:ext>
                </a:extLst>
              </a:tr>
              <a:tr h="51552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93027"/>
                  </a:ext>
                </a:extLst>
              </a:tr>
              <a:tr h="455040">
                <a:tc rowSpan="2"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78246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392667"/>
                  </a:ext>
                </a:extLst>
              </a:tr>
              <a:tr h="51552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he-IL" sz="28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4146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DDB8B65-FF6B-4C65-8AB6-40DE299A1989}"/>
              </a:ext>
            </a:extLst>
          </p:cNvPr>
          <p:cNvSpPr txBox="1"/>
          <p:nvPr/>
        </p:nvSpPr>
        <p:spPr>
          <a:xfrm>
            <a:off x="3108959" y="6492240"/>
            <a:ext cx="3567240" cy="3650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1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http://sephlietz.com/gale-shapley/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473601-D808-4345-E5F2-566BF5DF15FD}"/>
              </a:ext>
            </a:extLst>
          </p:cNvPr>
          <p:cNvSpPr txBox="1"/>
          <p:nvPr/>
        </p:nvSpPr>
        <p:spPr>
          <a:xfrm>
            <a:off x="5760720" y="457200"/>
            <a:ext cx="3087189" cy="61233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1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1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משפט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"קבלה על תנאי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" 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כשהסטודנטים מציעים</a:t>
            </a:r>
            <a:r>
              <a:rPr lang="he-IL" sz="280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, 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מגלה-אמת עבור הסטודנטים.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1" u="none" strike="noStrike" cap="none" baseline="0">
                <a:ln>
                  <a:noFill/>
                </a:ln>
                <a:solidFill>
                  <a:srgbClr val="0000FF"/>
                </a:solidFill>
                <a:latin typeface="Arial" pitchFamily="34"/>
                <a:ea typeface="Arial" pitchFamily="34"/>
                <a:cs typeface="Arial" pitchFamily="34"/>
              </a:rPr>
              <a:t>הוכחה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00FF"/>
                </a:solidFill>
                <a:latin typeface="Arial" pitchFamily="34"/>
                <a:ea typeface="Arial" pitchFamily="34"/>
                <a:cs typeface="Arial" pitchFamily="34"/>
              </a:rPr>
              <a:t>: 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FF"/>
                </a:solidFill>
                <a:latin typeface="Arial" pitchFamily="34"/>
                <a:ea typeface="Arial" pitchFamily="34"/>
                <a:cs typeface="Arial" pitchFamily="34"/>
              </a:rPr>
              <a:t>נסמן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00FF"/>
                </a:solidFill>
                <a:latin typeface="Arial" pitchFamily="34"/>
                <a:ea typeface="Arial" pitchFamily="34"/>
                <a:cs typeface="Arial" pitchFamily="34"/>
              </a:rPr>
              <a:t>: 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FF0000"/>
                </a:solidFill>
                <a:latin typeface="Arial" pitchFamily="34"/>
                <a:ea typeface="Arial" pitchFamily="34"/>
                <a:cs typeface="Arial" pitchFamily="34"/>
              </a:rPr>
              <a:t>א = תוצאה כשכולם אמיתיים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, 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9900"/>
                </a:solidFill>
                <a:latin typeface="Arial" pitchFamily="34"/>
                <a:ea typeface="Arial" pitchFamily="34"/>
                <a:cs typeface="Arial" pitchFamily="34"/>
              </a:rPr>
              <a:t>ב = תוצאה כשכולם אמיתיים חוץ מ-ס0. 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00FF"/>
                </a:solidFill>
                <a:latin typeface="Arial" pitchFamily="34"/>
                <a:ea typeface="Arial" pitchFamily="34"/>
                <a:cs typeface="Arial" pitchFamily="34"/>
              </a:rPr>
              <a:t>נניח בשלילה ש-ס0 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FF"/>
                </a:solidFill>
                <a:latin typeface="Arial" pitchFamily="34"/>
                <a:ea typeface="Arial" pitchFamily="34"/>
                <a:cs typeface="Arial" pitchFamily="34"/>
              </a:rPr>
              <a:t>מרויח מהשינוי</a:t>
            </a:r>
            <a:r>
              <a:rPr lang="he-IL" sz="280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. </a:t>
            </a:r>
            <a:br>
              <a:rPr lang="en-US" sz="280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</a:b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נגיע למעגל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 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  <a:sym typeface="Wingdings" panose="05000000000000000000" pitchFamily="2" charset="2"/>
              </a:rPr>
              <a:t></a:t>
            </a:r>
            <a:endParaRPr lang="en-US" sz="2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4C9050-3FE2-C04C-D0A5-730224B9AD4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215640" y="-12240"/>
            <a:ext cx="5907600" cy="685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CC17A8-486E-5F32-A9EA-32FA5B0FADF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215640" y="-12240"/>
            <a:ext cx="590760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CCA12D-8049-FDF6-9BEB-0CD15D844485}"/>
              </a:ext>
            </a:extLst>
          </p:cNvPr>
          <p:cNvSpPr txBox="1"/>
          <p:nvPr/>
        </p:nvSpPr>
        <p:spPr>
          <a:xfrm>
            <a:off x="5760721" y="57960"/>
            <a:ext cx="3226526" cy="403041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1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3200" b="0" i="1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הוכחה (המשך)</a:t>
            </a:r>
            <a:r>
              <a:rPr lang="en-US" sz="32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2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2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32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סדר האירועים באלגוריתם א הוא בכיוון החיצים.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32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rPr>
              <a:t>אבל זה לא ייתכן כי זה מעגל. ***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AB985-D3FD-3947-E6A1-EEED7007960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28600"/>
            <a:ext cx="9052560" cy="914400"/>
          </a:xfrm>
        </p:spPr>
        <p:txBody>
          <a:bodyPr wrap="square">
            <a:noAutofit/>
          </a:bodyPr>
          <a:lstStyle/>
          <a:p>
            <a:pPr lvl="0"/>
            <a:r>
              <a:rPr lang="he-IL" sz="4800"/>
              <a:t>אלגוריתם שידוך יציב מגלה-אמת?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31926-495E-28A4-D29B-29619AAE3F10}"/>
              </a:ext>
            </a:extLst>
          </p:cNvPr>
          <p:cNvSpPr txBox="1"/>
          <p:nvPr/>
        </p:nvSpPr>
        <p:spPr>
          <a:xfrm>
            <a:off x="667656" y="1221840"/>
            <a:ext cx="8488584" cy="5692412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1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אלגוריתם קבלה על תנאי: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9900"/>
                </a:solidFill>
                <a:latin typeface="Simple CLM" pitchFamily="34"/>
                <a:ea typeface="Arial" pitchFamily="34"/>
                <a:cs typeface="Simple CLM" pitchFamily="34"/>
              </a:rPr>
              <a:t>כשהסטודנטים מציעים – מגלה-אמת לסטודנטים בלבד.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CC"/>
                </a:solidFill>
                <a:latin typeface="Simple CLM" pitchFamily="34"/>
                <a:ea typeface="Arial" pitchFamily="34"/>
                <a:cs typeface="Simple CLM" pitchFamily="34"/>
              </a:rPr>
              <a:t>כשהמחלקות מציעות – מגלה-אמת למחלקות בלבד.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1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משפט.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 אין 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אלגוריתם שידוך יציב מגלה-אמת לשני הצדדים!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1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הוכחה.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  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נניח שההעדפות הן: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b="0" i="0" u="none" strike="noStrike" cap="none" baseline="0">
              <a:ln>
                <a:noFill/>
              </a:ln>
              <a:solidFill>
                <a:srgbClr val="000000"/>
              </a:solidFill>
              <a:latin typeface="Simple CLM" pitchFamily="34"/>
              <a:ea typeface="Arial" pitchFamily="34"/>
              <a:cs typeface="Simple CLM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b="0" i="0" u="none" strike="noStrike" cap="none" baseline="0">
              <a:ln>
                <a:noFill/>
              </a:ln>
              <a:solidFill>
                <a:srgbClr val="000000"/>
              </a:solidFill>
              <a:latin typeface="Simple CLM" pitchFamily="34"/>
              <a:ea typeface="Arial" pitchFamily="34"/>
              <a:cs typeface="Simple CLM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b="0" i="0" u="none" strike="noStrike" cap="none" baseline="0">
              <a:ln>
                <a:noFill/>
              </a:ln>
              <a:solidFill>
                <a:srgbClr val="000000"/>
              </a:solidFill>
              <a:latin typeface="Simple CLM" pitchFamily="34"/>
              <a:ea typeface="Arial" pitchFamily="34"/>
              <a:cs typeface="Simple CLM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b="0" i="0" u="none" strike="noStrike" cap="none" baseline="0">
              <a:ln>
                <a:noFill/>
              </a:ln>
              <a:solidFill>
                <a:srgbClr val="000000"/>
              </a:solidFill>
              <a:latin typeface="Simple CLM" pitchFamily="34"/>
              <a:ea typeface="Arial" pitchFamily="34"/>
              <a:cs typeface="Simple CLM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b="0" i="0" u="none" strike="noStrike" cap="none" baseline="0">
              <a:ln>
                <a:noFill/>
              </a:ln>
              <a:solidFill>
                <a:srgbClr val="000000"/>
              </a:solidFill>
              <a:latin typeface="Simple CLM" pitchFamily="34"/>
              <a:ea typeface="Arial" pitchFamily="34"/>
              <a:cs typeface="Simple CLM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בכל שידוך יציב, גילה ותומר משודכים. לכן יש 2 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שידוכים יציבים.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אם האלג' בוחר 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9900"/>
                </a:solidFill>
                <a:latin typeface="Simple CLM" pitchFamily="34"/>
                <a:ea typeface="Arial" pitchFamily="34"/>
                <a:cs typeface="Simple CLM" pitchFamily="34"/>
              </a:rPr>
              <a:t>ר-ב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 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00FF"/>
                </a:solidFill>
                <a:latin typeface="Simple CLM" pitchFamily="34"/>
                <a:ea typeface="Arial" pitchFamily="34"/>
                <a:cs typeface="Simple CLM" pitchFamily="34"/>
              </a:rPr>
              <a:t>ש-א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, אז </a:t>
            </a:r>
            <a:r>
              <a:rPr lang="he-IL" sz="2800" b="1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אביבה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 יכולה להרויח מ: 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FF0000"/>
                </a:solidFill>
                <a:latin typeface="Simple CLM" pitchFamily="34"/>
                <a:ea typeface="Arial" pitchFamily="34"/>
                <a:cs typeface="Simple CLM" pitchFamily="34"/>
              </a:rPr>
              <a:t>ר&gt;ת&gt;ש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אם האלג' בוחר 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9900"/>
                </a:solidFill>
                <a:latin typeface="Simple CLM" pitchFamily="34"/>
                <a:ea typeface="Arial" pitchFamily="34"/>
                <a:cs typeface="Simple CLM" pitchFamily="34"/>
              </a:rPr>
              <a:t>ר-א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 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0000FF"/>
                </a:solidFill>
                <a:latin typeface="Simple CLM" pitchFamily="34"/>
                <a:ea typeface="Arial" pitchFamily="34"/>
                <a:cs typeface="Simple CLM" pitchFamily="34"/>
              </a:rPr>
              <a:t>ש-ב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, אז </a:t>
            </a:r>
            <a:r>
              <a:rPr lang="he-IL" sz="2800" b="1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רפי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 יכול להרויח מ: </a:t>
            </a:r>
            <a:r>
              <a:rPr lang="he-IL" sz="2800" b="0" i="0" u="none" strike="noStrike" cap="none" baseline="0">
                <a:ln>
                  <a:noFill/>
                </a:ln>
                <a:solidFill>
                  <a:srgbClr val="FF0000"/>
                </a:solidFill>
                <a:latin typeface="Simple CLM" pitchFamily="34"/>
                <a:ea typeface="Arial" pitchFamily="34"/>
                <a:cs typeface="Simple CLM" pitchFamily="34"/>
              </a:rPr>
              <a:t>ב&gt;ג&gt;א</a:t>
            </a:r>
            <a:r>
              <a:rPr lang="en-US" sz="2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Simple CLM" pitchFamily="34"/>
                <a:ea typeface="Arial" pitchFamily="34"/>
                <a:cs typeface="Simple CLM" pitchFamily="34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BCEEFC-4305-2501-DCB7-FBC79ADA0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518387"/>
              </p:ext>
            </p:extLst>
          </p:nvPr>
        </p:nvGraphicFramePr>
        <p:xfrm>
          <a:off x="4990011" y="3452040"/>
          <a:ext cx="3788228" cy="2052035"/>
        </p:xfrm>
        <a:graphic>
          <a:graphicData uri="http://schemas.openxmlformats.org/drawingml/2006/table">
            <a:tbl>
              <a:tblPr/>
              <a:tblGrid>
                <a:gridCol w="1165895">
                  <a:extLst>
                    <a:ext uri="{9D8B030D-6E8A-4147-A177-3AD203B41FA5}">
                      <a16:colId xmlns:a16="http://schemas.microsoft.com/office/drawing/2014/main" val="2722431218"/>
                    </a:ext>
                  </a:extLst>
                </a:gridCol>
                <a:gridCol w="1165523">
                  <a:extLst>
                    <a:ext uri="{9D8B030D-6E8A-4147-A177-3AD203B41FA5}">
                      <a16:colId xmlns:a16="http://schemas.microsoft.com/office/drawing/2014/main" val="2325205421"/>
                    </a:ext>
                  </a:extLst>
                </a:gridCol>
                <a:gridCol w="1165895">
                  <a:extLst>
                    <a:ext uri="{9D8B030D-6E8A-4147-A177-3AD203B41FA5}">
                      <a16:colId xmlns:a16="http://schemas.microsoft.com/office/drawing/2014/main" val="2835903228"/>
                    </a:ext>
                  </a:extLst>
                </a:gridCol>
                <a:gridCol w="290915">
                  <a:extLst>
                    <a:ext uri="{9D8B030D-6E8A-4147-A177-3AD203B41FA5}">
                      <a16:colId xmlns:a16="http://schemas.microsoft.com/office/drawing/2014/main" val="2803185514"/>
                    </a:ext>
                  </a:extLst>
                </a:gridCol>
              </a:tblGrid>
              <a:tr h="701949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799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933928"/>
                  </a:ext>
                </a:extLst>
              </a:tr>
              <a:tr h="440006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0"/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0"/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0"/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556018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0"/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  <a:endParaRPr lang="he-IL" sz="24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ea typeface="Arial" pitchFamily="34"/>
                        <a:cs typeface="Arial" pitchFamily="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0"/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  <a:endParaRPr lang="he-IL" sz="24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ea typeface="Arial" pitchFamily="34"/>
                        <a:cs typeface="Arial" pitchFamily="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0"/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  <a:endParaRPr lang="he-IL" sz="24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ea typeface="Arial" pitchFamily="34"/>
                        <a:cs typeface="Arial" pitchFamily="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812565"/>
                  </a:ext>
                </a:extLst>
              </a:tr>
              <a:tr h="4550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0"/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גילה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0"/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גילה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0"/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גילה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60678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31C237-CED3-5381-E5CA-D6325091E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415130"/>
              </p:ext>
            </p:extLst>
          </p:nvPr>
        </p:nvGraphicFramePr>
        <p:xfrm>
          <a:off x="762660" y="3275913"/>
          <a:ext cx="3603960" cy="2241920"/>
        </p:xfrm>
        <a:graphic>
          <a:graphicData uri="http://schemas.openxmlformats.org/drawingml/2006/table">
            <a:tbl>
              <a:tblPr/>
              <a:tblGrid>
                <a:gridCol w="1068480">
                  <a:extLst>
                    <a:ext uri="{9D8B030D-6E8A-4147-A177-3AD203B41FA5}">
                      <a16:colId xmlns:a16="http://schemas.microsoft.com/office/drawing/2014/main" val="3080917736"/>
                    </a:ext>
                  </a:extLst>
                </a:gridCol>
                <a:gridCol w="1068480">
                  <a:extLst>
                    <a:ext uri="{9D8B030D-6E8A-4147-A177-3AD203B41FA5}">
                      <a16:colId xmlns:a16="http://schemas.microsoft.com/office/drawing/2014/main" val="3284156209"/>
                    </a:ext>
                  </a:extLst>
                </a:gridCol>
                <a:gridCol w="1128240">
                  <a:extLst>
                    <a:ext uri="{9D8B030D-6E8A-4147-A177-3AD203B41FA5}">
                      <a16:colId xmlns:a16="http://schemas.microsoft.com/office/drawing/2014/main" val="1338988978"/>
                    </a:ext>
                  </a:extLst>
                </a:gridCol>
                <a:gridCol w="338760">
                  <a:extLst>
                    <a:ext uri="{9D8B030D-6E8A-4147-A177-3AD203B41FA5}">
                      <a16:colId xmlns:a16="http://schemas.microsoft.com/office/drawing/2014/main" val="2971094655"/>
                    </a:ext>
                  </a:extLst>
                </a:gridCol>
              </a:tblGrid>
              <a:tr h="79848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0"/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גילה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0"/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 b="0"/>
                      </a:pPr>
                      <a:r>
                        <a:rPr lang="he-IL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Guttman Yad-Brush" pitchFamily="34"/>
                          <a:cs typeface="Guttman Yad-Brush" pitchFamily="34"/>
                        </a:rPr>
                        <a:t>אביבה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34"/>
                        <a:cs typeface="Arial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459773"/>
                  </a:ext>
                </a:extLst>
              </a:tr>
              <a:tr h="4586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41415"/>
                  </a:ext>
                </a:extLst>
              </a:tr>
              <a:tr h="52616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רפי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שלמה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1">
                        <a:lnSpc>
                          <a:spcPct val="93000"/>
                        </a:lnSpc>
                        <a:spcBef>
                          <a:spcPts val="598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781764"/>
                  </a:ext>
                </a:extLst>
              </a:tr>
              <a:tr h="458640"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1">
                        <a:lnSpc>
                          <a:spcPct val="93000"/>
                        </a:lnSpc>
                        <a:spcBef>
                          <a:spcPts val="697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/>
                      </a:pPr>
                      <a:r>
                        <a:rPr lang="he-IL" sz="2400" b="1" i="0" u="none" strike="noStrike" cap="non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תומר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4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34"/>
                          <a:ea typeface="Arial" pitchFamily="34"/>
                          <a:cs typeface="Arial" pitchFamily="34"/>
                        </a:rPr>
                        <a:t>3</a:t>
                      </a:r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14236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B026-F938-F5BD-A8BC-08543C228A4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28600"/>
            <a:ext cx="9052560" cy="914400"/>
          </a:xfrm>
        </p:spPr>
        <p:txBody>
          <a:bodyPr wrap="square">
            <a:noAutofit/>
          </a:bodyPr>
          <a:lstStyle/>
          <a:p>
            <a:pPr lvl="0"/>
            <a:r>
              <a:rPr lang="he-IL"/>
              <a:t>שידוכים יציבים בישראל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6325CC-839C-3FF3-E4CF-87C80561B4DE}"/>
              </a:ext>
            </a:extLst>
          </p:cNvPr>
          <p:cNvSpPr txBox="1"/>
          <p:nvPr/>
        </p:nvSpPr>
        <p:spPr>
          <a:xfrm>
            <a:off x="12240" y="1221840"/>
            <a:ext cx="9144000" cy="5636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1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b="0" i="0" u="none" strike="noStrike" cap="none" baseline="0">
              <a:ln>
                <a:noFill/>
              </a:ln>
              <a:solidFill>
                <a:srgbClr val="0000CC"/>
              </a:solidFill>
              <a:latin typeface="Simple CLM" pitchFamily="34"/>
              <a:ea typeface="Arial" pitchFamily="34"/>
              <a:cs typeface="Simple CLM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CC"/>
                </a:solidFill>
                <a:latin typeface="Simple CLM" pitchFamily="34"/>
                <a:ea typeface="Arial" pitchFamily="34"/>
                <a:cs typeface="Simple CLM" pitchFamily="34"/>
              </a:rPr>
              <a:t>תואר שני בפסיכולוגיה (משנת ה'תשע"ג):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b="0" i="0" u="none" strike="noStrike" cap="none" baseline="0">
                <a:ln>
                  <a:noFill/>
                </a:ln>
                <a:solidFill>
                  <a:srgbClr val="0000CC"/>
                </a:solidFill>
                <a:latin typeface="Simple CLM" pitchFamily="34"/>
                <a:ea typeface="Arial" pitchFamily="34"/>
                <a:cs typeface="Simple CLM" pitchFamily="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http://www.psychologymatch.org/students/FAQ.aspx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b="0" i="0" u="none" strike="noStrike" cap="none" baseline="0">
              <a:ln>
                <a:noFill/>
              </a:ln>
              <a:solidFill>
                <a:srgbClr val="0000CC"/>
              </a:solidFill>
              <a:latin typeface="Simple CLM" pitchFamily="34"/>
              <a:ea typeface="Arial" pitchFamily="34"/>
              <a:cs typeface="Simple CLM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CC"/>
                </a:solidFill>
                <a:latin typeface="Simple CLM" pitchFamily="34"/>
                <a:ea typeface="Arial" pitchFamily="34"/>
                <a:cs typeface="Simple CLM" pitchFamily="34"/>
              </a:rPr>
              <a:t>התמחות ברפואה (משנת ה'תשע"ג).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b="0" i="0" u="none" strike="noStrike" cap="none" baseline="0">
              <a:ln>
                <a:noFill/>
              </a:ln>
              <a:solidFill>
                <a:srgbClr val="0000CC"/>
              </a:solidFill>
              <a:latin typeface="Simple CLM" pitchFamily="34"/>
              <a:ea typeface="Arial" pitchFamily="34"/>
              <a:cs typeface="Simple CLM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CC"/>
                </a:solidFill>
                <a:latin typeface="Simple CLM" pitchFamily="34"/>
                <a:ea typeface="Arial" pitchFamily="34"/>
                <a:cs typeface="Simple CLM" pitchFamily="34"/>
              </a:rPr>
              <a:t>התמחות במשפטים (משנת ה'תשע"ז):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b="0" i="0" u="none" strike="noStrike" cap="none" baseline="0">
                <a:ln>
                  <a:noFill/>
                </a:ln>
                <a:solidFill>
                  <a:srgbClr val="0000CC"/>
                </a:solidFill>
                <a:latin typeface="Simple CLM" pitchFamily="34"/>
                <a:ea typeface="Arial" pitchFamily="34"/>
                <a:cs typeface="Simple CLM" pitchFamily="3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https://lsp.ekmd.huji.ac.il/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b="0" i="0" u="none" strike="noStrike" cap="none" baseline="0">
              <a:ln>
                <a:noFill/>
              </a:ln>
              <a:solidFill>
                <a:srgbClr val="0000CC"/>
              </a:solidFill>
              <a:latin typeface="Simple CLM" pitchFamily="34"/>
              <a:ea typeface="Arial" pitchFamily="34"/>
              <a:cs typeface="Simple CLM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he-IL" sz="2800" b="0" i="0" u="none" strike="noStrike" cap="none" baseline="0">
                <a:ln>
                  <a:noFill/>
                </a:ln>
                <a:solidFill>
                  <a:srgbClr val="0000CC"/>
                </a:solidFill>
                <a:latin typeface="Simple CLM" pitchFamily="34"/>
                <a:ea typeface="Arial" pitchFamily="34"/>
                <a:cs typeface="Simple CLM" pitchFamily="34"/>
              </a:rPr>
              <a:t>מכינות קדם-צבאיות (משנת ה'תשע"ח):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b="0" i="0" u="none" strike="noStrike" cap="none" baseline="0">
                <a:ln>
                  <a:noFill/>
                </a:ln>
                <a:solidFill>
                  <a:srgbClr val="0000CC"/>
                </a:solidFill>
                <a:latin typeface="Simple CLM" pitchFamily="34"/>
                <a:ea typeface="Arial" pitchFamily="34"/>
                <a:cs typeface="Simple CLM" pitchFamily="34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https://youtu.be/xt4B2Xu3FvE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16141</TotalTime>
  <Words>1426</Words>
  <Application>Microsoft Office PowerPoint</Application>
  <PresentationFormat>On-screen Show (4:3)</PresentationFormat>
  <Paragraphs>377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Aptos Display</vt:lpstr>
      <vt:lpstr>Arial</vt:lpstr>
      <vt:lpstr>Brush Script MT</vt:lpstr>
      <vt:lpstr>David CLM</vt:lpstr>
      <vt:lpstr>Simple CLM</vt:lpstr>
      <vt:lpstr>StarSymbol</vt:lpstr>
      <vt:lpstr>Times New Roman</vt:lpstr>
      <vt:lpstr>Default</vt:lpstr>
      <vt:lpstr>Office Theme</vt:lpstr>
      <vt:lpstr>   "מטרוניתא שאלה את ר' יוסי בר חלפתא,  אמרה לו: בכמה ימים ברא הקב"ה את עולמו?  אמר לה: לששת ימים... אמרה לו: ומאותה שעה עד עכשיו מהו יושב ועושה?  אמר לה: מזווג זיווגים... ואם קלה היא בעינייך, קשה היא לפני הקדוש ברוך הוא כקריעת ים סוף" (ויקרא רבה ח א). אלגוריתמי שידוך אראל סגל-הלוי,</vt:lpstr>
      <vt:lpstr>שיבוצים ושידוכים</vt:lpstr>
      <vt:lpstr>שוק דו-צדדי</vt:lpstr>
      <vt:lpstr>שוק דו-צדדי</vt:lpstr>
      <vt:lpstr>שידוכים יציבים</vt:lpstr>
      <vt:lpstr>שידוכים יציבים</vt:lpstr>
      <vt:lpstr>PowerPoint Presentation</vt:lpstr>
      <vt:lpstr>PowerPoint Presentation</vt:lpstr>
      <vt:lpstr>PowerPoint Presentation</vt:lpstr>
      <vt:lpstr>שידוכים יציבים</vt:lpstr>
      <vt:lpstr>אלגוריתם "קבלה על-תנאי” deferred acceptance</vt:lpstr>
      <vt:lpstr>PowerPoint Presentation</vt:lpstr>
      <vt:lpstr>PowerPoint Presentation</vt:lpstr>
      <vt:lpstr>PowerPoint Presentation</vt:lpstr>
      <vt:lpstr>PowerPoint Presentation</vt:lpstr>
      <vt:lpstr>משפט: האלגוריתם מסתיים בשידוך יציב</vt:lpstr>
      <vt:lpstr>מי מציע ומי מקבל?</vt:lpstr>
      <vt:lpstr>מי מציע ומי מקבל?</vt:lpstr>
      <vt:lpstr>PowerPoint Presentation</vt:lpstr>
      <vt:lpstr>PowerPoint Presentation</vt:lpstr>
      <vt:lpstr>מחלקות גדולות</vt:lpstr>
      <vt:lpstr>האם “קבלה על תנאי” מגלה-אמת?</vt:lpstr>
      <vt:lpstr>PowerPoint Presentation</vt:lpstr>
      <vt:lpstr>PowerPoint Presentation</vt:lpstr>
      <vt:lpstr>אלגוריתם שידוך יציב מגלה-אמת?</vt:lpstr>
      <vt:lpstr>שידוכים יציבים בישראל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Sergiu Hart</dc:creator>
  <cp:lastModifiedBy>Erel Segal-Halevi</cp:lastModifiedBy>
  <cp:revision>469</cp:revision>
  <dcterms:created xsi:type="dcterms:W3CDTF">2007-07-01T19:48:07Z</dcterms:created>
  <dcterms:modified xsi:type="dcterms:W3CDTF">2026-01-11T07:01:13Z</dcterms:modified>
</cp:coreProperties>
</file>