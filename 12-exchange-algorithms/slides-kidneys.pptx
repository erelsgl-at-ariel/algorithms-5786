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notesMasterIdLst>
    <p:notesMasterId r:id="rId29"/>
  </p:notesMasterIdLst>
  <p:handoutMasterIdLst>
    <p:handoutMasterId r:id="rId30"/>
  </p:handout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8" r:id="rId16"/>
    <p:sldId id="269" r:id="rId17"/>
    <p:sldId id="270" r:id="rId18"/>
    <p:sldId id="271" r:id="rId19"/>
    <p:sldId id="272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</p:sldIdLst>
  <p:sldSz cx="10080625" cy="7559675"/>
  <p:notesSz cx="7559675" cy="10691813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2893DB-C4B7-5B8A-E55F-E78BEE423004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FFDDE0-C760-DB2F-DCE5-1B24AF261F13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B19F4D-E21E-6996-560B-6711B598527F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214AE-E87F-716C-0DE2-1ADD1C1DF621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82CB6B0E-8640-4239-A34F-274CC645F9E6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6136700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A327DF-F19F-3FE9-44BA-754BFB0AEC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68EC62-74A6-00F6-A797-D28EE6CEC80A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829EA9B-1166-FB8C-05C5-5600BFAC2341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2A359-FBDB-D083-85CC-0A675A7A3F5E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4026B-CAED-EE74-6439-29C966EA4E55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805F71-D749-D59F-7C10-7A990A43CEB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534F858C-BBD9-4EE3-9D37-B5157F0F5B7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78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cs typeface="Nachlieli CLM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8C2199-E4F2-C0DF-EF88-406F5E9FAC6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323FCD7-F146-42E0-9C6A-02D9E0B9663C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508015-2DA9-7D2B-628C-2EEAFFBDA63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63075A-A288-22B4-E8AD-2FA864E1D6F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EDD49-57C4-73EC-E091-0C15C5A8E91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13887E8-38F4-4227-8F48-03177445A7FC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23EC81-4D68-D67B-5DB5-38C0094FAFF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9663" y="801688"/>
            <a:ext cx="5340350" cy="400685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2DFCC2-EC5F-7B55-E7DA-54B2D75DF39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6560" cy="480960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9C927-15E1-9290-E0B2-39AB3137AAC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244B6E7-0650-446C-A63C-A6304B613636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537529-C9D4-D3A3-6827-947EA01E924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9663" y="801688"/>
            <a:ext cx="5340350" cy="400685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C0DC40-8964-5CFA-CEA3-A48AF8B3FD2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6560" cy="480960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E79642-B044-9FC4-A8CB-D52C14341A9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6D3926E-5E1B-440A-9861-11CA6B84DBC8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7A78B5-8977-ED37-BC70-C1235C1A53B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9663" y="801688"/>
            <a:ext cx="5340350" cy="400685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AE4D39-31B9-E0F2-817B-3DE83F110ED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6560" cy="480960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8061F-EF0C-A6C8-B40F-37943916532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38D25E5-9451-4FD6-8E65-F84AB3492FBC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17676B-0D45-1926-1209-A2E94F077DE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9663" y="801688"/>
            <a:ext cx="5340350" cy="400685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7C6484-3636-5FAB-F73A-CE23287376E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6560" cy="480960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7F7EC-7DBE-101C-536D-9E9250564A0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7776377-756B-41C6-BFF5-527C801EC410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51FEE3-1CF4-3048-2583-3BA9A90C57F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9663" y="801688"/>
            <a:ext cx="5340350" cy="400685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FB5E7B-E408-7AC0-25EF-3AD71B5E73E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6560" cy="480960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89CCCC-1047-D0E7-BCE0-4432ECFBD53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E2DFD2F-D1FF-4458-A03F-6B841418EA11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7617EF-CF14-2C94-98BC-84A5D205637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9663" y="801688"/>
            <a:ext cx="5340350" cy="400685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3317DE-A3C9-CB4C-7CE9-440FCE244AC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6560" cy="480960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A550F-62D5-64C6-0494-0E9D375A648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226975E-60CB-43F3-8FDB-0FBCB6EF65A2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F0AF8-5D30-2CFC-BC74-B5DC2CBE5C5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9663" y="801688"/>
            <a:ext cx="5340350" cy="400685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427C23-5410-C6B1-A798-911065AB38A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6560" cy="480960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60AE7-1DE1-E468-71F3-D16BF049736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C08CF74-66DC-42CC-89CE-62217F96CF1D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67DBF3-F482-2643-2820-756376FED97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9663" y="801688"/>
            <a:ext cx="5340350" cy="400685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1D7493-FB58-EE2C-0710-A4A091D72C2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6560" cy="480960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B84E5-4D7B-CBA9-2C37-99AF45268DF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1E30595-15F5-44D7-9F40-D42AECE0090A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E39BF-DC52-AD5C-4B74-77E72F98669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9663" y="801688"/>
            <a:ext cx="5340350" cy="400685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E384AC-7F70-8F08-1DA9-7A70CBA7842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6560" cy="480960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73703-D0D6-B1E3-4BA1-A291E63FD71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10CAF7F-92C7-462A-A7DF-270BE68FE187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A24F02-3255-5E50-69A1-2CE5BB7814E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9663" y="801688"/>
            <a:ext cx="5340350" cy="400685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A4317-A0B3-E74D-4034-4B572232025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6560" cy="480960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C2127-9129-46D7-3728-3007D28E982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FA08F44-82CA-415F-8DEE-70C409E66BF1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552BE-7009-B5E6-7621-ADA29C8F704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9663" y="801688"/>
            <a:ext cx="5340350" cy="400685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30B596-FE3C-E13A-434D-9A1D6395D71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6560" cy="480960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4CA5A-1FBF-22DC-65F8-E59A3A77BE6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723CB86-733E-401F-83C9-A582C787B964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9713DF-8048-725A-29C1-F6E5ADC20B7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9663" y="801688"/>
            <a:ext cx="5340350" cy="400685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516ECC-1D7A-1FB7-D311-FC620DBDF33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6560" cy="480960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BA054-CFB2-7388-C367-467AA7D6E89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8313835-40B6-452A-A7BB-880C3BD34151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53F01D-0111-94B7-6974-41D7547EA6D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9663" y="801688"/>
            <a:ext cx="5340350" cy="400685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906E4A-DF24-6DCA-EF9D-C987585D0C5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6560" cy="480960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D377B-3CD0-5E32-508C-B35B0EF25AE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5E4AC29-D9AA-4B4B-9B0B-C7A96F41E032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DB29D0-C3B9-44DD-1DBF-D65C69C0F8C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9663" y="801688"/>
            <a:ext cx="5340350" cy="400685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EAB25A-B03F-3EF6-4318-CA2ABD3CE2A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6560" cy="480960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383B7C-C490-2C91-3FF4-F590F753796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642C740-425D-4E58-A8A6-47753EC50DF3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D4DD3C-E312-F448-591F-17FD7FB259C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9DDB84-985C-F702-DCC2-AF8F2AF2C21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D0BDC-A698-D804-63D8-C872A2E3EF5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474DC80-2679-4495-86C9-685D386C6390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ABB47E-4C07-9A2C-5FDC-676C551DA2F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9663" y="801688"/>
            <a:ext cx="5340350" cy="400685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FD5AB1-2938-0B1F-DED8-373CC8FA252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6560" cy="480960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63565-B8A3-88C8-569B-223DCE56995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F877AF2-3DA0-4226-B7F2-167BB4955C59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12E5DA-98F7-2C50-91E0-F876813A6C6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9663" y="801688"/>
            <a:ext cx="5340350" cy="400685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70A264-D33D-27CD-2915-FFC8F8EA575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6560" cy="480960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03FBC-E37A-5399-386D-6F2D2FD7E62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D9BB68A-9462-4118-9877-35B795DBB45E}" type="slidenum"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85B0F-21D2-714B-13B6-142B5F39906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9663" y="801688"/>
            <a:ext cx="5340350" cy="400685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7818DA-47F8-5775-E24B-F965D6A6501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6560" cy="480960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C243B-59E7-9FB6-7AA6-B0886F6CE48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A336826-C123-48B3-A3EF-B5FC2EF3BAB2}" type="slidenum"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F4905C-4DD3-5BB2-0D2A-ECEC98DE4C5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9663" y="801688"/>
            <a:ext cx="5340350" cy="400685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D909E4-33B1-B8EB-5C55-EB8CEFC5ABD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6560" cy="480960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9C6B1-4153-614F-14CD-B531AC3B3DB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A2AE893-6682-4735-A89F-4CEDE16E4C92}" type="slidenum">
              <a:t>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0E69E-58F2-0FEB-C373-8BFF71CA97B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9663" y="801688"/>
            <a:ext cx="5340350" cy="400685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BF94AC-8317-9465-C270-455865F7DAA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6560" cy="480960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4CCF527E-3B30-E50B-2668-47371C88171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4281840" y="10156320"/>
            <a:ext cx="3276000" cy="533520"/>
          </a:xfrm>
        </p:spPr>
        <p:txBody>
          <a:bodyPr wrap="square" lIns="96480" tIns="48240" rIns="96480" bIns="48240"/>
          <a:lstStyle/>
          <a:p>
            <a:pPr lvl="0"/>
            <a:fld id="{8B6C51B6-D3FC-4642-8D68-26865D9796EF}" type="slidenum">
              <a:t>22</a:t>
            </a:fld>
            <a:endParaRPr lang="en-US" sz="1300">
              <a:latin typeface="Arial" pitchFamily="80"/>
              <a:ea typeface="ＭＳ Ｐゴシック" pitchFamily="1"/>
            </a:endParaRP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D3D1B296-32B3-8A17-1F0C-A7095E3FD5C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9AFC167-4EAD-4488-9DC0-B0D43A5F2233}" type="slidenum">
              <a:t>22</a:t>
            </a:fld>
            <a:endParaRPr lang="en-US"/>
          </a:p>
        </p:txBody>
      </p:sp>
      <p:sp>
        <p:nvSpPr>
          <p:cNvPr id="3" name="Slide Image Placeholder 2">
            <a:extLst>
              <a:ext uri="{FF2B5EF4-FFF2-40B4-BE49-F238E27FC236}">
                <a16:creationId xmlns:a16="http://schemas.microsoft.com/office/drawing/2014/main" id="{4F69F1E8-0C97-94DB-EC3E-A2EDD565895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01688"/>
            <a:ext cx="5345112" cy="4010025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09141F-8CA3-0511-80AB-3ADD8A964D1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360" y="5078880"/>
            <a:ext cx="6046920" cy="4809960"/>
          </a:xfrm>
        </p:spPr>
        <p:txBody>
          <a:bodyPr vert="horz" wrap="square" lIns="96480" tIns="48240" rIns="96480" bIns="48240" anchor="t">
            <a:noAutofit/>
          </a:bodyPr>
          <a:lstStyle/>
          <a:p>
            <a:pPr rtl="0"/>
            <a:endParaRPr lang="en-US" sz="281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733AD-4A66-4C60-63CA-E4F195AC749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285CED8-BDD2-4A6C-A4EC-B2943C7AC002}" type="slidenum">
              <a:t>23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360E4A-39A2-8815-E077-1EED7627748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5332F6-FD7C-4CCD-E872-28CBEC40A17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0680"/>
          </a:xfrm>
        </p:spPr>
        <p:txBody>
          <a:bodyPr vert="horz"/>
          <a:lstStyle/>
          <a:p>
            <a:pPr rtl="0"/>
            <a:endParaRPr lang="en-US" sz="281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CF9CF-25E7-135F-954E-B492477B4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62C7A-423C-0582-4863-7E044A6EF7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FDD03-01CC-AEA1-6F10-F0B0D1D6F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7DF6D-7FA8-16E8-571C-F8B819468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7017D-49EB-01EE-62E7-A6026CDB8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80ACB44-6670-48EB-B28C-CA639E8E08F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853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2B825-091F-29A6-7B32-65CF87C1F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0B332-1B9C-3EDF-7AB9-14FB3BDA0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9ED45-593D-9869-00DD-293AF7CFF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A6A7D-96DA-0758-A833-EC14994FC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A5886-331A-482C-9250-621C89719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D1FDFF9-4B5A-4DD5-B86C-8CA2044A09A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244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F4F31-5F74-0060-DAE5-B04AE33E1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FC5EF-7580-1FE9-E6FF-18E008C30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7896A-C80C-BD6B-AA79-F6D5E4786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BBDAC-3542-5E4C-01A6-0D84E6B4E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737BD-FA9D-61A1-4F8F-74E286280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B32643E-BD3D-49D4-9F3F-C2ECC23426B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072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1BF43-A56D-F85E-941C-EED2B75B6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DBDEA-5120-FF2D-B1A8-CBBB3EDB58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B2144-C0B0-91F2-1DBC-161F6520D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D2D261-C58D-9256-AF12-6C0237E43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322BC-09DD-92C3-A37A-5337AB412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2E8A6-8A4F-47BF-81D6-4C5BB639A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8342225-04CE-40ED-BA35-329448CE04F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031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D0F1C-B078-8431-5DEA-6B8F59860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1AC5F-5A18-A403-E21B-D2CD2D2BB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DD1C2A-227D-1CF5-F3B0-F77AC4072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90ABF2-415C-B09B-4E7A-247190FD0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B2C281-43B5-24F7-AA87-D222135E3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2690C8-27DB-758E-0753-0568A9966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433020-2863-8A07-906A-EC2CF0DDD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36BA02-29CD-A21A-2AF0-59C79628B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81DD056-86A4-424A-817C-2022C411B1D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21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CE743-4028-87D1-9C72-90A271A06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1F71A-FAD5-B620-C775-5238408B2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C7C7D-0CB0-A2A2-56B6-718A86F44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56B749-449F-BBAC-F47C-43675521E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799B725-FAA0-434B-B049-9A25FE8DB40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44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D9434B-5073-B035-7B8B-9B142B15E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01C4C-2125-9B00-2CFF-D71DAF46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ABF5E-BFA5-3E4A-61F5-72FDC50D3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C12DC2D-28F9-4AA1-B834-DB14D3A1FC1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41785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2F2C-3648-9D1D-1ECE-AE8A62092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1C8C0-CAF2-B5D6-9D8F-0ACA72978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8ACCA-C0C1-CD48-32EA-36D2E768D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6814C-0D25-C832-48BE-ECE2DFE4C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EB3529-58FD-8F58-AB98-906F56456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449EC-809A-CA39-6A8A-475A97921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AEB2010-9F87-4B4B-BC52-E5F3FE67E64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571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95DF2-57E4-3512-A686-A8C856718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0C191C-F78D-13B7-7BE5-676823896B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E992CC-6677-4957-8197-A3A1B503A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C997E-B01E-55DF-3B0C-D33B383DD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E417E-7EFD-A1BA-DD37-2F0F04162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B5394-2AEC-56A9-F084-964EEC37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7F56F1-C3B6-4A45-BBEF-5C5DD2A87D4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192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14200-62A1-E35E-A55C-E194E229F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2BFECF-A433-B737-D244-47222076AA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FC9AD-DC33-0B8B-0481-6252B9293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34CB1-2E5C-D974-161C-B60FA3F91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60E36-A272-DA30-1861-4DA03A62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A7B63B5-8FA2-48C3-9F8E-9DBFD6372F2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430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40F320-AF3E-4E7B-FE62-857A132B74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97F45F-77A9-1B51-3062-93525F3BD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30308-CF48-4ED8-1C6A-A5E4D54DC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0D13B-A0AC-26BA-EEF3-E8705A52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D4480-266B-B21B-A20A-41C409193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13A70E5-21F6-4A92-A5AB-EC82DCD9620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48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25B72-E1B9-F18F-33CD-F58DC290F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E82280-8959-8C61-74DE-F7EDA60BD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A03BC-EFEB-BB59-024D-9AA9B58F7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2BFBB-AED6-48E7-B614-F286ADCBB66A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B971A-8F77-5A9D-7DF7-4580D2E8D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4A205-2636-A2F5-C2DD-681D7100F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D3230-B661-4043-A2AB-33F5DD4FC99E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76575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CE7E-5EEE-F266-4BAB-4F3DA008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709ED-7856-A89F-897F-AADCD050E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E8ED1-E6B1-E3C4-B533-30512A892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2BFBB-AED6-48E7-B614-F286ADCBB66A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254C0-AA34-E8E0-75DE-AEDDCE5EA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21310-6144-BC71-3EAB-C28B1935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A173-4F30-407D-9774-F53BBF4D900F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33220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3FAF3-955A-C181-7491-E48242889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318C9-2741-975C-FC41-186CD7D65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ED923-AB00-F39B-4CA4-6913EE484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2BFBB-AED6-48E7-B614-F286ADCBB66A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2E430-CEFC-F252-51D3-DC587A38B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4A347-58B3-2BC0-2694-02EF616F7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27969-A7BB-441B-A2C1-0CE036D46E5A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576024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82109-35AD-3468-E2B2-6465A1D12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E40FE-7E9F-02A1-0E0B-AE3012E762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738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E2BAA-39B1-C525-86C0-8A2D878A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6513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A60362-4465-8FFD-5660-C73BCDA03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2BFBB-AED6-48E7-B614-F286ADCBB66A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BF722-4A27-5C03-8C2A-A5B6A89C1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E5128-3035-BA83-516C-345903596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C9504-3DE4-48E3-B7E6-EF911C7155F9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377067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3DA34-A54B-A9BB-049A-D74C614EC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46A21-C34B-6A48-A5B4-CD9858C76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CA7113-95CA-19A2-5600-B60D4EF5F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49C9AB-83D8-9EA1-7C6C-788F4622A6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909E17-C144-44CE-CDAC-1BF31F8A37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5D8946-0877-0AF1-2BCF-84DF3C7DD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2BFBB-AED6-48E7-B614-F286ADCBB66A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0D28F0-8BF1-1193-F559-DC23D40EE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442AF5-EAD8-BB82-3105-6BC88FA57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FE676-F50A-4F4C-BC72-7DB2F9A356DC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206549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A3356-3BB6-9B63-F563-20F967AE6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86DEE7-4911-DE32-9F2E-CA115EAEE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2BFBB-AED6-48E7-B614-F286ADCBB66A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E3B744-7EED-E187-7879-AA9E8B657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8A8C10-BC63-490B-1F65-9D1FD029C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DF568-D56B-47A7-A3F6-F0AC6A8B9FC1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482352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3B2AD6-7785-0151-DB43-F464A998F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2BFBB-AED6-48E7-B614-F286ADCBB66A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DD491-3FAD-9237-F515-4EE34FAE8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7AB4F-76E1-43C5-6CFA-82FB290CB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D9655-C773-4D95-9F7C-5BF1AA79E66E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915046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C1DCB-A0AC-749F-5043-423091553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C04A2-61B2-A508-F59F-ACAAB1FF0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C358D-DF16-36B3-AD16-DB5C8165B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EBCF1-7CC8-1837-360E-ADBD0FCEE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2BFBB-AED6-48E7-B614-F286ADCBB66A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70A43-2B59-066C-EB1C-928F9BE63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F5B0A7-CF9F-B9DF-9DC6-4A6B74E2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01AB-9CF2-42AD-AAC3-C12D4E6DFED5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96626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255EF-914A-6B07-E45B-547B5D77D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C16601-A29C-D2F2-A7CE-F46FD1FF3D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3726F3-9722-CC75-00E7-8580E2713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7DE32-93E0-D01B-5F69-669FB0822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2BFBB-AED6-48E7-B614-F286ADCBB66A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C7985-F493-534B-91ED-7E42EF7B7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9836D-6EA4-B939-1287-B9716C364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A2255-3D9C-426A-8655-E7199987EB4B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044093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E7E5F-C51B-9283-61A4-3F13C5731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A0F35D-F107-9D86-B65B-4F2C8F7DA7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41ED4-223B-ACAA-6CE9-FAD9FA8FA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2BFBB-AED6-48E7-B614-F286ADCBB66A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10F2B-C435-8406-014B-24BA012D5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44FA4-9B57-A89B-795E-A14AE1881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41F16-3623-4A8A-B52D-21203693D182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696580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B01C14-8FFF-8CCD-0A5F-DC1DDF83EB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13600" y="403225"/>
            <a:ext cx="2173288" cy="640556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28999-2E0A-F62F-E980-2BF97A072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738" y="403225"/>
            <a:ext cx="6367462" cy="640556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DCCB9-0DA7-0C74-96BC-C699BA8F0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2BFBB-AED6-48E7-B614-F286ADCBB66A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6FDD7-0007-FDCB-0D64-2819F1A49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F1170-DD14-1E02-0C24-845F9261F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22337-AB9C-4327-821A-AB3BA927872D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41346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4921-8DFA-5C95-28CD-A1C5EFE75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04A9BF-7478-1D3C-9B03-191812C679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446F7-0F3A-47F4-B36F-6A2FCCCFF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223C0-ACDA-4AC3-8556-9784E6854D03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BBEF8-66A0-53E8-E04D-A23C6922B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312CA-D87B-F5CF-6F54-126A1DD14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DCCA8-7354-4415-9F05-07AB8D4EBC9B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946558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FD5E2-6F31-B240-9B2A-D0D79AA2B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A3A8F-CA61-3879-99DD-E0978B201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45030-7EFE-0F3D-9D2D-7DCCA9309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223C0-ACDA-4AC3-8556-9784E6854D03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1CCC5-38F8-7EF7-6773-D17DE40DA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3AC9F-C355-1600-6160-1E9E09EDD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EE6DD-7C13-4BE5-8405-E3F2329B8DB0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63081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88F67-6AA7-51EC-3D8A-2A23CA2CB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63FCF-D1E4-B259-936A-845D86D59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FA6C6-7CB5-B520-51C7-51BF6CCF5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223C0-ACDA-4AC3-8556-9784E6854D03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EAE64-C9A3-1CFF-082B-2F86BE4A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E9377-E995-8C8C-3505-25FCF6A4C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A8B6D-797B-4EE2-ABCD-6A4E07ACB6C1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467327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B25C0-CB3D-20E1-795A-92B5BC787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BDB1C-8DF7-D2A1-CC62-9B3ECF70D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738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5A6A63-A71E-9AAB-1020-FA9EEA850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6513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D49BB2-055E-A03B-7C7A-BD0327F8A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223C0-ACDA-4AC3-8556-9784E6854D03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87B24-2D04-F15D-0D75-11E96707D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A9A10-71F1-26D7-5DCB-870155803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F6940-EE02-463E-975D-1593D25A15CC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474714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B6146-BED9-26AD-979F-1874E45D5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0E599-BC4E-96B5-3CEA-AAC4EB0A0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FC60F-6861-8214-59B8-7E3754D4D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4BA4F7-6D9B-D4E3-523D-BC366CDDEF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ECB4BA-1DBE-463E-4EDC-095960996F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E4629C-FDBF-5C6E-56F1-08CFBEC52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223C0-ACDA-4AC3-8556-9784E6854D03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8575D3-C49B-E576-554B-57E1E5C40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A3C69A-F717-25F1-DEDF-25ABD877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90C04-49EE-4309-A21F-553AE845EA3F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260766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58575-12EB-9C5D-09B2-9ECBFC871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19C2B2-1634-AE26-6CE8-6C445823B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223C0-ACDA-4AC3-8556-9784E6854D03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6887AB-21F0-32CB-DAF0-38FC39E4B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0E90FA-99E9-38F8-E878-5CC7CF1FE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A816-5F7C-49BD-83C3-DEAF5F5945D0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873350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2A00E5-BE69-5177-5B91-FE45E5B5D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223C0-ACDA-4AC3-8556-9784E6854D03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CFF00D-346E-8A82-788F-735D45ED1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3D033-F9C0-EDF2-8A6F-6DCC327B8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70504-289F-497F-B90B-87123C4F5A5C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08266626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B6E29-3031-0946-5A8C-B5E8C80D3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D18D0-A7ED-949D-4903-E151901D6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BDB148-7441-28C3-85CA-3FBB0F68A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1F300-82D9-ACEB-CAD4-7181F28B2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223C0-ACDA-4AC3-8556-9784E6854D03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E3428-7F0B-9310-5FB9-23327921E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C3058-1C6D-CF12-D0E6-AAE8BC8D5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CFE0-B295-481A-AF96-D279DA901CF3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000474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F1FF7-7DD8-B4CE-9C0D-AB5CE1E17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EF47DC-755A-1E3D-1045-4E84849AF4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F8F0BE-B906-35DE-4350-D49DE5808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C625C-0411-66E9-E498-9D5BDB84C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223C0-ACDA-4AC3-8556-9784E6854D03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68D278-F4C2-97BA-C3F9-17CCE3C76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FED0B-2E7D-25CB-F9DC-6D1FAF7DD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9CFDB-E7A6-4CD7-A49C-5DE7B56B9A37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87687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23FF-794C-D832-36FE-9BC5BA180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C5CC2-8155-B070-EEC5-180238DB3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663BB-8D87-D48A-86D5-F808A18DD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223C0-ACDA-4AC3-8556-9784E6854D03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FFF7C-CB21-272C-5C08-1C750757A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B5994-2A45-534C-40ED-FBD3BCD1C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AE8DD-2E5F-4212-8DD9-85B4BDE342DB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299777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5EB7FA-5968-3FED-631B-08E54D5821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13600" y="403225"/>
            <a:ext cx="2173288" cy="640556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18FF57-6348-94BC-57FB-2A011FAD7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738" y="403225"/>
            <a:ext cx="6367462" cy="640556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E13C6-2CB9-4D94-0EED-B9931721F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223C0-ACDA-4AC3-8556-9784E6854D03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60A5F-C0DF-3D90-B47D-4A6F262CC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3C9ED-F714-BBA5-685E-F5D1A8F55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EEA6C-DC67-4C43-9D61-55F77ABCB6C9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593949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18B7A-5990-2E40-CEBC-AE1E19A1CD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49D7F2-9E68-738F-05E6-1283AC2894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F8F8D-3929-6A1F-2FC9-1ABD433B9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C400A-5848-4244-BE3C-E54188CFAC33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E54DF-AC1F-5688-E36E-E24515DA6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FC302-AAB8-7F91-85A3-D7735A718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884ED-DA60-496C-A722-616BAF2D091E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407844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6F2CA-47D4-F6D5-91A7-C9FA179D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26F44-2FE2-72D2-D4A7-D6857EB86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817E4-A704-35E9-E14C-3A6EC20A7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C400A-5848-4244-BE3C-E54188CFAC33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4D980-8C6D-DB65-5DB9-2975BA978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CEE16-0A8D-830B-7DBB-2034C5907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F4432-4242-46A5-ABB8-4B18263BB804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188461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E07D6-10F4-1C28-02EE-D639C9793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C46BF5-16CC-3396-4752-7673E2EBC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E5AE0-F4F3-9773-2052-26C37F96E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C400A-5848-4244-BE3C-E54188CFAC33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CCE96-861F-2A17-B39A-38FF54475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69932-70B4-F1AD-81EF-1013FFB33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C2601-97A7-4D13-8983-2C6BDF78788F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091692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BB692-897D-41A4-CE84-3CF3B1444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EA255-5CB4-C9E8-571B-D4D600D53F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738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947F22-322A-0E23-738A-B28434F040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6513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83B0CD-310E-E419-B4B5-0D48A98ED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C400A-5848-4244-BE3C-E54188CFAC33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F97F3-24BD-D984-6732-7676E30C3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B62C1-623E-51C4-13B7-98AC318C2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40CD0-05EF-41C2-95F5-A5254B934502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1777911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D6C3E-A673-25F3-280C-6997CA6F4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328F4-964A-89AA-D506-7DE40B0BB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2F6AE-7053-3CE5-9DCE-042B2A8ED4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799E3-DAB2-337F-5F06-4F38917107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9B8ADD-8435-26C9-CFF2-8E19D2EDD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E4544F-B64C-9868-4C6F-C7018136E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C400A-5848-4244-BE3C-E54188CFAC33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80C57D-8149-A12A-ED03-E3BE9436E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D3C1DB-CA47-E0C1-A3A0-536B597E7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DD174-A650-4513-984E-07B707D0A6CE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543220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0875-0783-02BD-AD97-D09AC45DC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34827-31B5-7EE8-3D81-981E53841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C400A-5848-4244-BE3C-E54188CFAC33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74AF18-9DE4-2952-C64E-2D7B6728B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37C1CE-7D6A-D428-FDB3-78F6E1CEB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26B98-6171-464C-B526-4FD0080FC2F9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971176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A2F66B-5C0D-9D8E-D8D1-0CA62E014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C400A-5848-4244-BE3C-E54188CFAC33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10DE8E-1E91-0F1D-1E10-37CC8B3D9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70886-DD51-60BF-1A92-6548DCF62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1860E-3960-47C2-ABC2-30B30D0C81CA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704716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8BED8-5A27-1EEC-D43A-1294AF73D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50563-B8F5-0E13-8786-76804C610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EC74DC-7F78-A26A-6BBF-2D2A3549D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06CC1A-FE98-FD82-4879-0E140290D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C400A-5848-4244-BE3C-E54188CFAC33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DE0FFE-CC9A-8A87-77B4-620062F74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397BE-097D-64BA-3371-0822BB398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76719-1BCB-4762-9B1F-27A2F9E67E5C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396832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2E900-F7B6-6E02-FE9D-F7B1A814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FF1C63-E179-EF36-5C76-19DFBD7895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6FABD1-9887-EC18-F7AF-194024E34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140FC-039E-A25B-E5AD-DD151D16A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C400A-5848-4244-BE3C-E54188CFAC33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BEA3F-36AF-924A-2D3E-4EA113187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AE822-5F5A-9BA2-0AA8-C486C9666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45C68-AC22-4971-9B04-F9732F3DD922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313301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D09B5-5203-787F-BD6C-A312FFF9E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47D652-212E-92DE-0B2D-5831A6318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FE9E4-60E9-79B4-A28C-0BCF47552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C400A-5848-4244-BE3C-E54188CFAC33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85FAF-39E1-A362-2129-1CAEF4EFB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34A6A-340B-6AE3-02D5-DDE37973F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8AFE6-1518-40F8-AD27-893EC205E4DF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299868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3147EA-AF0B-2DDB-CAFE-8C32D73117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13600" y="403225"/>
            <a:ext cx="2173288" cy="640556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62E23-EC88-167B-244E-E51468EDB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738" y="403225"/>
            <a:ext cx="6367462" cy="640556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EDCA5-18D0-B6A8-8F1D-72180852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C400A-5848-4244-BE3C-E54188CFAC33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4ED94-8B44-0704-B246-47759C682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829AB-94BF-2A89-ACAC-2DE887778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F20E0-BAD0-4F88-9244-F3781003AAC6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97779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9DC84-4FB1-5314-0F61-A6A11DD090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04B46-38E6-2355-3580-0907F3433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9EB5A-069E-1234-1CC0-E35C0CB35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1434-AF9A-4E4F-AB78-99737C8F54E8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50EA7-5066-F2D4-6203-2603CBC6D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374A7-1018-A59A-830A-142E2EC88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32EB-3F66-476D-953C-B4FD12F0575A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162228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2B18A-CC93-0BE4-4941-51E0385A3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37A6B-4737-C19A-9BDD-B8C8CACC8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2994F-140E-15B6-45D5-37DD55DA3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1434-AF9A-4E4F-AB78-99737C8F54E8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60274-2090-B0DC-2151-76D51230C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DCCF2-B501-3E5B-2041-A313E07F4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702B3-8317-4B4E-AAD6-1A401A31D829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9455341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F51FD-3165-4C7F-CED0-6460B31C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5A58C-0039-44F2-5E83-1171C758A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21405-6FC7-A3B5-29AF-B434DBB6B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1434-AF9A-4E4F-AB78-99737C8F54E8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4EDE8-E9C3-CE96-FEA2-13AAA493E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55F8D-49DE-FF95-010F-EF4914F7C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9101-9598-4982-9BE9-568C00315FE8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7486599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C297F-2EBF-4E68-3EF1-6093F4717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5B00F-25B5-5328-7CC0-2FC2BDF231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738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0D45FF-4706-52B2-B4C5-1F672E966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6513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06073-B5DF-2053-CE5A-84CAC8CF9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1434-AF9A-4E4F-AB78-99737C8F54E8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005DEB-6C76-C55E-23A9-742389770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40168-2843-3FD2-D316-CC38A8D8D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C4CEF-C663-47CC-9FFF-F9D1D1C361CD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960053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D3E6D-DE49-64A3-6686-94C974E0A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C1199-5546-4BF1-FD04-518141E85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6271F3-8486-C471-424A-A8AB1F7AD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BC74CE-EF11-3FF3-D4B4-452978CC0D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A3473A-078B-D055-36A5-C96D22104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7EA160-3555-1138-7DEA-DA1F4C519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1434-AF9A-4E4F-AB78-99737C8F54E8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7A9373-A425-93F9-A62A-6A451ADE8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8DBD69-1CFD-DDB1-523F-E20CFE66D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CC63-40C0-48CD-8227-7D6C5F9D689F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291295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B8744-1372-ACDD-2AEC-1E047D1BB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3A7AA-C68F-74A9-F321-1D7D3A1EE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1434-AF9A-4E4F-AB78-99737C8F54E8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DCE24-4047-D977-C277-52811A65E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2CB2B3-0FA2-991B-7B38-A6B6284C8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F06B6-B71A-466A-B429-E9203F5EF4C0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758856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594158-69D3-1B1B-AF24-F12B56236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1434-AF9A-4E4F-AB78-99737C8F54E8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EB4D10-3580-9DE5-D1BF-93B3BF13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56C20-7A45-6840-5BE3-B10CA8044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08EF4-6A9D-49D2-8520-4326904C1C30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0290156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A48AA-CB02-6EEA-D209-AD4D125FE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875C4-0BA2-763B-579A-51E691E62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9C4E0F-7485-4CEA-96DB-CE1BFE4E8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35128-AC83-A7F3-4A28-7FD4FBF5E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1434-AF9A-4E4F-AB78-99737C8F54E8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CB5248-BBFB-2F52-B4BA-3487C86D6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6767B-E2F1-D5FB-37C2-6DF8F23A8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F445E-F9DF-4505-AF1A-3F1E33BAB2AC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700172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13C20-B2D8-AA76-1E78-B096E2133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00346F-1FBE-02BF-8E4B-BD5F0D17F3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46EB1-30D8-68B3-9726-99F4F2BD5E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2ADA40-9E44-25B2-D96B-CB044519A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1434-AF9A-4E4F-AB78-99737C8F54E8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AABCB-68D0-D293-16EB-4832A512D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9263B-C0BD-ACB7-3DC2-612B2B67B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4DF54-39DE-462D-BE67-9FE12D8F11B2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18227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D6B9B-87AC-FA00-5973-7E98387FB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B3D349-943B-9CFE-CC2B-201C95817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347F0-D752-7349-06B6-E234D27EC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1434-AF9A-4E4F-AB78-99737C8F54E8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2EA78-D068-8389-F5B6-04EF3C42E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C0D65-8B23-0211-0F89-FADECEF88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9531F-BFF9-48EC-ABC7-D9A8DEE72F47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120213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A7F1C6-5368-37AF-0034-63C47715C9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13600" y="403225"/>
            <a:ext cx="2173288" cy="640556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427B8C-89B7-B521-81AB-2F29A08C1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738" y="403225"/>
            <a:ext cx="6367462" cy="640556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B56ED-5CDE-1677-F19E-B9665C98F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1434-AF9A-4E4F-AB78-99737C8F54E8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3CE26-3926-369D-D3A5-4B2EFD345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479F7-4FA9-1F31-DF2F-F5F71F912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CB800-43DA-494C-A3D5-3C34BED9A5E9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79831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D9E942-5DF3-1C32-41E5-895B4EBAFB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BD53C-16B8-B67A-D123-67B3E23265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60A67-DEE4-0880-EF9F-71C7B86A038D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A9FA0-102D-8348-F07A-E7091E947C6E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95C00-AB9F-4C22-83BA-E71E88DD55A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419C8997-DBE3-4D54-A2DE-36D2CB5750FA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</p:titleStyle>
    <p:bodyStyle>
      <a:lvl1pPr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F7C029-8199-16DF-FD7F-ED5BFEF4C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3150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B7432-7F8F-0387-B867-F0536E17A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2012950"/>
            <a:ext cx="8693150" cy="4795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2353C-AAC1-1724-AE64-D09373118A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37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02BFBB-AED6-48E7-B614-F286ADCBB66A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26553-5EF6-36AA-5FFD-6631B30A20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8513" y="7007225"/>
            <a:ext cx="3403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CEE2A-AA5B-24C3-E382-38728E26D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99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9E10F-F617-48F2-820B-8CA7363E128E}" type="slidenum"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302930-B082-6E16-1333-2602E9E85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3150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DED96-8719-58DB-DB85-CF1414819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2012950"/>
            <a:ext cx="8693150" cy="4795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B94F4-95AE-7ED2-E363-B7885812DB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37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9223C0-ACDA-4AC3-8556-9784E6854D03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B0FAA-F980-9805-E87A-6565A4DB8E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8513" y="7007225"/>
            <a:ext cx="3403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EEFCB-9468-1D37-2850-1A3A30ADC7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99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3D35B8-153E-4A18-8D16-AE23BC980231}" type="slidenum"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EA005F-A65D-1A84-B224-952B5D7A0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3150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47FBE-F9A1-85E5-73D7-EBEBBCF87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2012950"/>
            <a:ext cx="8693150" cy="4795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ED736-B05B-F64D-F008-A272F63CE4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37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9C400A-5848-4244-BE3C-E54188CFAC33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142A9-6AA3-E71E-DF7C-32ACFF01C3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8513" y="7007225"/>
            <a:ext cx="3403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5799F-53B1-8AF9-5BA2-80F1DB6508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99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F0F26E-673E-4BE0-8A1F-48FFD1B8FE5D}" type="slidenum"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245E8A-D797-AD5C-9263-F13E353D1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3150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39FA9-80D9-B105-8827-36679688D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2012950"/>
            <a:ext cx="8693150" cy="4795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B3B2E-6479-939C-68CE-DF77B6C72E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37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861434-AF9A-4E4F-AB78-99737C8F54E8}" type="datetimeFigureOut">
              <a:rPr lang="he-IL" smtClean="0"/>
              <a:t>כ"ג/טבת/תשפ"ו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8404A-8A8F-05B9-6182-B5915F7866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8513" y="7007225"/>
            <a:ext cx="3403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9222C-98B8-D6C1-6F56-64B8C32805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99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0D5087-D3FC-44C5-B101-E0F967D83988}" type="slidenum"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health.gov.il/Subjects/Organ_transplant/live_donors/Pages/intersection_plan.aspx" TargetMode="External"/><Relationship Id="rId4" Type="http://schemas.openxmlformats.org/officeDocument/2006/relationships/hyperlink" Target="https://www.ynet.co.il/articles/0,7340,L-5643924,00.html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708BF-1C9F-020B-E51D-683C082B5B8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29560" y="274320"/>
            <a:ext cx="9071640" cy="3017520"/>
          </a:xfrm>
        </p:spPr>
        <p:txBody>
          <a:bodyPr vert="horz"/>
          <a:lstStyle/>
          <a:p>
            <a:pPr lvl="0" rtl="1"/>
            <a:r>
              <a:rPr lang="he-IL" sz="80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  <a:t>החלפת כליות</a:t>
            </a:r>
            <a:br>
              <a:rPr lang="en-US" sz="8000" b="1">
                <a:latin typeface="Liberation Sans" pitchFamily="34"/>
                <a:cs typeface="Liberation Sans" pitchFamily="34"/>
              </a:rPr>
            </a:br>
            <a:br>
              <a:rPr lang="en-US" sz="4000" b="1">
                <a:latin typeface="Liberation Sans" pitchFamily="34"/>
                <a:cs typeface="Liberation Sans" pitchFamily="34"/>
              </a:rPr>
            </a:br>
            <a:r>
              <a:rPr lang="he-IL" sz="4000" b="1">
                <a:latin typeface="Liberation Sans" pitchFamily="34"/>
                <a:cs typeface="Liberation Sans" pitchFamily="34"/>
              </a:rPr>
              <a:t>אראל סגל-הלוי</a:t>
            </a:r>
            <a:br>
              <a:rPr lang="en-US" sz="4000" b="1">
                <a:latin typeface="Liberation Sans" pitchFamily="34"/>
                <a:cs typeface="Liberation Sans" pitchFamily="34"/>
              </a:rPr>
            </a:br>
            <a:r>
              <a:rPr lang="he-IL" sz="4000" b="1">
                <a:latin typeface="Liberation Sans" pitchFamily="34"/>
                <a:cs typeface="Liberation Sans" pitchFamily="34"/>
              </a:rPr>
              <a:t>חלק מהשקפים של: </a:t>
            </a:r>
            <a:r>
              <a:rPr lang="en-US" sz="4000" b="1">
                <a:latin typeface="Liberation Sans" pitchFamily="34"/>
                <a:cs typeface="Liberation Sans" pitchFamily="34"/>
              </a:rPr>
              <a:t>Wayne Racey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648024-EC55-00D7-1136-0AB1E3A6260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468880" y="3412080"/>
            <a:ext cx="5333760" cy="36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AD8BF2-2476-360A-33A0-CE464D873CB7}"/>
              </a:ext>
            </a:extLst>
          </p:cNvPr>
          <p:cNvSpPr txBox="1"/>
          <p:nvPr/>
        </p:nvSpPr>
        <p:spPr>
          <a:xfrm>
            <a:off x="-105840" y="7040880"/>
            <a:ext cx="10185840" cy="5486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https://www.uhn.ca/Transplant/PatientsFamilies/Kidney_Transplant_Program/Pre_Transplant/Pages/specialized_transplant_programs.aspx?utm_source=kidney-pre-Transplant&amp;utm_medium=Clicks&amp;utm_campaign=specialized-program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16F6B-278F-CE73-15FA-5914C21ED6F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280" y="250920"/>
            <a:ext cx="8734319" cy="1008359"/>
          </a:xfrm>
        </p:spPr>
        <p:txBody>
          <a:bodyPr vert="horz"/>
          <a:lstStyle/>
          <a:p>
            <a:pPr lvl="0" rtl="1"/>
            <a:r>
              <a:rPr lang="he-IL" b="1">
                <a:latin typeface="Liberation Sans" pitchFamily="34"/>
                <a:cs typeface="Liberation Sans" pitchFamily="34"/>
              </a:rPr>
              <a:t>התור להשתלת כליות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DF77BC-39E1-2D2D-0880-5F9EE6A6A97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14400" y="1037159"/>
            <a:ext cx="8229600" cy="6369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6E2BC-CAC4-A217-7DCB-CCB49B171D0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280" y="250920"/>
            <a:ext cx="8734319" cy="1008359"/>
          </a:xfrm>
        </p:spPr>
        <p:txBody>
          <a:bodyPr vert="horz"/>
          <a:lstStyle/>
          <a:p>
            <a:pPr lvl="0" rtl="1"/>
            <a:r>
              <a:rPr lang="he-IL" b="1">
                <a:latin typeface="Liberation Sans" pitchFamily="34"/>
                <a:cs typeface="Liberation Sans" pitchFamily="34"/>
              </a:rPr>
              <a:t>החלפת כליות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A44BC-ED08-2A18-79A9-D2D236B1746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40080" y="1504800"/>
            <a:ext cx="9070560" cy="4987440"/>
          </a:xfrm>
        </p:spPr>
        <p:txBody>
          <a:bodyPr vert="horz"/>
          <a:lstStyle/>
          <a:p>
            <a:pPr lvl="0" algn="r" rtl="1"/>
            <a:r>
              <a:rPr lang="he-IL" sz="44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כמעט בכל המדינות:</a:t>
            </a: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44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יש מחסור בכליות להשתלה.</a:t>
            </a: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4400" b="1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אסור </a:t>
            </a:r>
            <a:r>
              <a:rPr lang="he-IL" sz="44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לתרום כליות תמורת כסף.</a:t>
            </a: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4400" b="1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מותר </a:t>
            </a:r>
            <a:r>
              <a:rPr lang="he-IL" sz="4400">
                <a:solidFill>
                  <a:srgbClr val="0000CC"/>
                </a:solidFill>
                <a:latin typeface="Liberation Sans" pitchFamily="34"/>
                <a:cs typeface="Liberation Sans" pitchFamily="34"/>
              </a:rPr>
              <a:t>לתרום כליה תמורת כליה.</a:t>
            </a:r>
          </a:p>
          <a:p>
            <a:pPr lvl="0" algn="r" rtl="1"/>
            <a:endParaRPr lang="en-US">
              <a:solidFill>
                <a:srgbClr val="6600CC"/>
              </a:solidFill>
              <a:latin typeface="Liberation Sans" pitchFamily="34"/>
              <a:cs typeface="Liberation Sans" pitchFamily="3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E1AD0-EBA8-845D-76A9-B435D313ECA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280" y="250920"/>
            <a:ext cx="8734319" cy="1008359"/>
          </a:xfrm>
        </p:spPr>
        <p:txBody>
          <a:bodyPr vert="horz"/>
          <a:lstStyle/>
          <a:p>
            <a:pPr lvl="0" rtl="1"/>
            <a:r>
              <a:rPr lang="he-IL" b="1">
                <a:latin typeface="Liberation Sans" pitchFamily="34"/>
                <a:cs typeface="Liberation Sans" pitchFamily="34"/>
              </a:rPr>
              <a:t>למה להחליף כליות?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2A444D8-9A4A-38B7-06C1-A8FCC11AC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683802"/>
              </p:ext>
            </p:extLst>
          </p:nvPr>
        </p:nvGraphicFramePr>
        <p:xfrm>
          <a:off x="488880" y="3558240"/>
          <a:ext cx="4805279" cy="3749040"/>
        </p:xfrm>
        <a:graphic>
          <a:graphicData uri="http://schemas.openxmlformats.org/drawingml/2006/table">
            <a:tbl>
              <a:tblPr firstRow="1" bandRow="1"/>
              <a:tblGrid>
                <a:gridCol w="1762199">
                  <a:extLst>
                    <a:ext uri="{9D8B030D-6E8A-4147-A177-3AD203B41FA5}">
                      <a16:colId xmlns:a16="http://schemas.microsoft.com/office/drawing/2014/main" val="2145703889"/>
                    </a:ext>
                  </a:extLst>
                </a:gridCol>
                <a:gridCol w="713880">
                  <a:extLst>
                    <a:ext uri="{9D8B030D-6E8A-4147-A177-3AD203B41FA5}">
                      <a16:colId xmlns:a16="http://schemas.microsoft.com/office/drawing/2014/main" val="24772084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778498545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202338944"/>
                    </a:ext>
                  </a:extLst>
                </a:gridCol>
                <a:gridCol w="817200">
                  <a:extLst>
                    <a:ext uri="{9D8B030D-6E8A-4147-A177-3AD203B41FA5}">
                      <a16:colId xmlns:a16="http://schemas.microsoft.com/office/drawing/2014/main" val="1644204678"/>
                    </a:ext>
                  </a:extLst>
                </a:gridCol>
              </a:tblGrid>
              <a:tr h="117792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Simple CLM" pitchFamily="18"/>
                          <a:ea typeface="Noto Sans CJK SC Regular" pitchFamily="2"/>
                          <a:cs typeface="Nachlieli CLM" pitchFamily="2"/>
                        </a:rPr>
                        <a:t> &gt;נתרם</a:t>
                      </a:r>
                    </a:p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Simple CLM" pitchFamily="18"/>
                          <a:ea typeface="Noto Sans CJK SC Regular" pitchFamily="2"/>
                          <a:cs typeface="Nachlieli CLM" pitchFamily="2"/>
                        </a:rPr>
                        <a:t>תורם </a:t>
                      </a: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Simple CLM" pitchFamily="18"/>
                          <a:ea typeface="Noto Sans CJK SC Regular" pitchFamily="2"/>
                          <a:cs typeface="Nachlieli CLM" pitchFamily="2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Simple CLM" pitchFamily="2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Simple CLM" pitchFamily="18"/>
                          <a:ea typeface="Noto Sans CJK SC Regular" pitchFamily="2"/>
                          <a:cs typeface="Nachlieli CLM" pitchFamily="2"/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Simple CLM" pitchFamily="2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Simple CLM" pitchFamily="18"/>
                          <a:ea typeface="Noto Sans CJK SC Regular" pitchFamily="2"/>
                          <a:cs typeface="Nachlieli CLM" pitchFamily="2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Simple CLM" pitchFamily="2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Simple CLM" pitchFamily="18"/>
                          <a:ea typeface="Noto Sans CJK SC Regular" pitchFamily="2"/>
                          <a:cs typeface="Nachlieli CLM" pitchFamily="2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Simple CLM" pitchFamily="2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Simple CLM" pitchFamily="18"/>
                          <a:ea typeface="Noto Sans CJK SC Regular" pitchFamily="2"/>
                          <a:cs typeface="Nachlieli CLM" pitchFamily="2"/>
                        </a:rPr>
                        <a:t>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933294"/>
                  </a:ext>
                </a:extLst>
              </a:tr>
              <a:tr h="620640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Simple CLM" pitchFamily="2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Simple CLM" pitchFamily="18"/>
                          <a:ea typeface="Noto Sans CJK SC Regular" pitchFamily="2"/>
                          <a:cs typeface="Nachlieli CLM" pitchFamily="2"/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solidFill>
                            <a:srgbClr val="009933"/>
                          </a:solidFill>
                          <a:latin typeface="Simple CLM" pitchFamily="2"/>
                          <a:cs typeface="Simple CLM" pitchFamily="2"/>
                        </a:defRPr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solidFill>
                            <a:srgbClr val="009933"/>
                          </a:solidFill>
                          <a:latin typeface="Simple CLM" pitchFamily="18"/>
                          <a:ea typeface="Noto Sans CJK SC Regular" pitchFamily="2"/>
                          <a:cs typeface="Simple CLM" pitchFamily="2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solidFill>
                            <a:srgbClr val="009933"/>
                          </a:solidFill>
                          <a:latin typeface="Simple CLM" pitchFamily="2"/>
                          <a:ea typeface="DejaVu Sans" pitchFamily="2"/>
                          <a:cs typeface="Simple CLM" pitchFamily="2"/>
                        </a:defRPr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solidFill>
                            <a:srgbClr val="009933"/>
                          </a:solidFill>
                          <a:latin typeface="Simple CLM" pitchFamily="18"/>
                          <a:ea typeface="DejaVu Sans" pitchFamily="2"/>
                          <a:cs typeface="Simple CLM" pitchFamily="2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solidFill>
                            <a:srgbClr val="009933"/>
                          </a:solidFill>
                          <a:latin typeface="Simple CLM" pitchFamily="2"/>
                          <a:ea typeface="DejaVu Sans" pitchFamily="2"/>
                          <a:cs typeface="Simple CLM" pitchFamily="2"/>
                        </a:defRPr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solidFill>
                            <a:srgbClr val="009933"/>
                          </a:solidFill>
                          <a:latin typeface="Simple CLM" pitchFamily="18"/>
                          <a:ea typeface="DejaVu Sans" pitchFamily="2"/>
                          <a:cs typeface="Simple CLM" pitchFamily="2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solidFill>
                            <a:srgbClr val="009933"/>
                          </a:solidFill>
                          <a:latin typeface="Simple CLM" pitchFamily="2"/>
                          <a:ea typeface="DejaVu Sans" pitchFamily="2"/>
                          <a:cs typeface="Simple CLM" pitchFamily="2"/>
                        </a:defRPr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solidFill>
                            <a:srgbClr val="009933"/>
                          </a:solidFill>
                          <a:latin typeface="Simple CLM" pitchFamily="18"/>
                          <a:ea typeface="DejaVu Sans" pitchFamily="2"/>
                          <a:cs typeface="Simple CLM" pitchFamily="2"/>
                        </a:rPr>
                        <a:t>כן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303856"/>
                  </a:ext>
                </a:extLst>
              </a:tr>
              <a:tr h="620640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Simple CLM" pitchFamily="2"/>
                          <a:ea typeface="DejaVu Sans" pitchFamily="2"/>
                          <a:cs typeface="Monospace" pitchFamily="1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Simple CLM" pitchFamily="18"/>
                          <a:ea typeface="DejaVu Sans" pitchFamily="2"/>
                          <a:cs typeface="Monospace" pitchFamily="1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solidFill>
                            <a:srgbClr val="FF0000"/>
                          </a:solidFill>
                          <a:latin typeface="Simple CLM" pitchFamily="2"/>
                          <a:cs typeface="Simple CLM" pitchFamily="2"/>
                        </a:defRPr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Simple CLM" pitchFamily="18"/>
                          <a:ea typeface="Noto Sans CJK SC Regular" pitchFamily="2"/>
                          <a:cs typeface="Simple CLM" pitchFamily="2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solidFill>
                            <a:srgbClr val="009933"/>
                          </a:solidFill>
                          <a:latin typeface="Simple CLM" pitchFamily="2"/>
                          <a:ea typeface="DejaVu Sans" pitchFamily="2"/>
                          <a:cs typeface="Simple CLM" pitchFamily="2"/>
                        </a:defRPr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solidFill>
                            <a:srgbClr val="009933"/>
                          </a:solidFill>
                          <a:latin typeface="Simple CLM" pitchFamily="18"/>
                          <a:ea typeface="DejaVu Sans" pitchFamily="2"/>
                          <a:cs typeface="Simple CLM" pitchFamily="2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solidFill>
                            <a:srgbClr val="FF0000"/>
                          </a:solidFill>
                          <a:latin typeface="Simple CLM" pitchFamily="2"/>
                          <a:ea typeface="DejaVu Sans" pitchFamily="2"/>
                          <a:cs typeface="Simple CLM" pitchFamily="2"/>
                        </a:defRPr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Simple CLM" pitchFamily="18"/>
                          <a:ea typeface="DejaVu Sans" pitchFamily="2"/>
                          <a:cs typeface="Simple CLM" pitchFamily="2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solidFill>
                            <a:srgbClr val="009933"/>
                          </a:solidFill>
                          <a:latin typeface="Simple CLM" pitchFamily="2"/>
                          <a:ea typeface="DejaVu Sans" pitchFamily="2"/>
                          <a:cs typeface="Simple CLM" pitchFamily="2"/>
                        </a:defRPr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solidFill>
                            <a:srgbClr val="009933"/>
                          </a:solidFill>
                          <a:latin typeface="Simple CLM" pitchFamily="18"/>
                          <a:ea typeface="DejaVu Sans" pitchFamily="2"/>
                          <a:cs typeface="Simple CLM" pitchFamily="2"/>
                        </a:rPr>
                        <a:t>כן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750827"/>
                  </a:ext>
                </a:extLst>
              </a:tr>
              <a:tr h="620640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Simple CLM" pitchFamily="2"/>
                          <a:ea typeface="DejaVu Sans" pitchFamily="2"/>
                          <a:cs typeface="Monospace" pitchFamily="1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Simple CLM" pitchFamily="18"/>
                          <a:ea typeface="DejaVu Sans" pitchFamily="2"/>
                          <a:cs typeface="Monospace" pitchFamily="1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solidFill>
                            <a:srgbClr val="FF0000"/>
                          </a:solidFill>
                          <a:latin typeface="Simple CLM" pitchFamily="2"/>
                          <a:cs typeface="Simple CLM" pitchFamily="2"/>
                        </a:defRPr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Simple CLM" pitchFamily="18"/>
                          <a:ea typeface="Noto Sans CJK SC Regular" pitchFamily="2"/>
                          <a:cs typeface="Simple CLM" pitchFamily="2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solidFill>
                            <a:srgbClr val="FF0000"/>
                          </a:solidFill>
                          <a:latin typeface="Simple CLM" pitchFamily="2"/>
                          <a:ea typeface="DejaVu Sans" pitchFamily="2"/>
                          <a:cs typeface="Simple CLM" pitchFamily="2"/>
                        </a:defRPr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Simple CLM" pitchFamily="18"/>
                          <a:ea typeface="DejaVu Sans" pitchFamily="2"/>
                          <a:cs typeface="Simple CLM" pitchFamily="2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solidFill>
                            <a:srgbClr val="009933"/>
                          </a:solidFill>
                          <a:latin typeface="Simple CLM" pitchFamily="2"/>
                          <a:ea typeface="DejaVu Sans" pitchFamily="2"/>
                          <a:cs typeface="Simple CLM" pitchFamily="2"/>
                        </a:defRPr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solidFill>
                            <a:srgbClr val="009933"/>
                          </a:solidFill>
                          <a:latin typeface="Simple CLM" pitchFamily="18"/>
                          <a:ea typeface="DejaVu Sans" pitchFamily="2"/>
                          <a:cs typeface="Simple CLM" pitchFamily="2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solidFill>
                            <a:srgbClr val="009933"/>
                          </a:solidFill>
                          <a:latin typeface="Simple CLM" pitchFamily="2"/>
                          <a:ea typeface="DejaVu Sans" pitchFamily="2"/>
                          <a:cs typeface="Simple CLM" pitchFamily="2"/>
                        </a:defRPr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solidFill>
                            <a:srgbClr val="009933"/>
                          </a:solidFill>
                          <a:latin typeface="Simple CLM" pitchFamily="18"/>
                          <a:ea typeface="DejaVu Sans" pitchFamily="2"/>
                          <a:cs typeface="Simple CLM" pitchFamily="2"/>
                        </a:rPr>
                        <a:t>כן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606639"/>
                  </a:ext>
                </a:extLst>
              </a:tr>
              <a:tr h="621000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Simple CLM" pitchFamily="2"/>
                          <a:ea typeface="DejaVu Sans" pitchFamily="2"/>
                          <a:cs typeface="Monospace" pitchFamily="1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Simple CLM" pitchFamily="18"/>
                          <a:ea typeface="DejaVu Sans" pitchFamily="2"/>
                          <a:cs typeface="Monospace" pitchFamily="1"/>
                        </a:rPr>
                        <a:t>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solidFill>
                            <a:srgbClr val="FF0000"/>
                          </a:solidFill>
                          <a:latin typeface="Simple CLM" pitchFamily="2"/>
                          <a:cs typeface="Simple CLM" pitchFamily="2"/>
                        </a:defRPr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Simple CLM" pitchFamily="18"/>
                          <a:ea typeface="Noto Sans CJK SC Regular" pitchFamily="2"/>
                          <a:cs typeface="Simple CLM" pitchFamily="2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solidFill>
                            <a:srgbClr val="FF0000"/>
                          </a:solidFill>
                          <a:latin typeface="Simple CLM" pitchFamily="2"/>
                          <a:ea typeface="DejaVu Sans" pitchFamily="2"/>
                          <a:cs typeface="Simple CLM" pitchFamily="2"/>
                        </a:defRPr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Simple CLM" pitchFamily="18"/>
                          <a:ea typeface="DejaVu Sans" pitchFamily="2"/>
                          <a:cs typeface="Simple CLM" pitchFamily="2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solidFill>
                            <a:srgbClr val="FF0000"/>
                          </a:solidFill>
                          <a:latin typeface="Simple CLM" pitchFamily="2"/>
                          <a:ea typeface="DejaVu Sans" pitchFamily="2"/>
                          <a:cs typeface="Simple CLM" pitchFamily="2"/>
                        </a:defRPr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Simple CLM" pitchFamily="18"/>
                          <a:ea typeface="DejaVu Sans" pitchFamily="2"/>
                          <a:cs typeface="Simple CLM" pitchFamily="2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solidFill>
                            <a:srgbClr val="009933"/>
                          </a:solidFill>
                          <a:latin typeface="Simple CLM" pitchFamily="2"/>
                          <a:ea typeface="DejaVu Sans" pitchFamily="2"/>
                          <a:cs typeface="Simple CLM" pitchFamily="2"/>
                        </a:defRPr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solidFill>
                            <a:srgbClr val="009933"/>
                          </a:solidFill>
                          <a:latin typeface="Simple CLM" pitchFamily="18"/>
                          <a:ea typeface="DejaVu Sans" pitchFamily="2"/>
                          <a:cs typeface="Simple CLM" pitchFamily="2"/>
                        </a:rPr>
                        <a:t>כן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10918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2C7906B4-D680-070F-FB48-A486C093014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 l="17498" t="32616" r="69178" b="39637"/>
          <a:stretch>
            <a:fillRect/>
          </a:stretch>
        </p:blipFill>
        <p:spPr>
          <a:xfrm rot="240000">
            <a:off x="8481131" y="1233143"/>
            <a:ext cx="1334880" cy="1752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BEB1AD-85C5-A372-6A47-E567AE5314D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 l="18332" t="-1716" r="69178" b="72675"/>
          <a:stretch>
            <a:fillRect/>
          </a:stretch>
        </p:blipFill>
        <p:spPr>
          <a:xfrm>
            <a:off x="8572680" y="5535000"/>
            <a:ext cx="1088280" cy="159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7E1672-8AEF-99B4-9896-488DCB26D60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 l="70273" t="32970" r="16998" b="39522"/>
          <a:stretch>
            <a:fillRect/>
          </a:stretch>
        </p:blipFill>
        <p:spPr>
          <a:xfrm>
            <a:off x="7623534" y="5593716"/>
            <a:ext cx="1166040" cy="1554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E2F612-8B6E-488A-2A81-035EEC6FC10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 l="1778" t="67087" r="85505" b="5404"/>
          <a:stretch>
            <a:fillRect/>
          </a:stretch>
        </p:blipFill>
        <p:spPr>
          <a:xfrm>
            <a:off x="7406640" y="1249919"/>
            <a:ext cx="1188719" cy="158472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FA3583-25AF-CED6-735C-FB4661C03A50}"/>
              </a:ext>
            </a:extLst>
          </p:cNvPr>
          <p:cNvSpPr txBox="1"/>
          <p:nvPr/>
        </p:nvSpPr>
        <p:spPr>
          <a:xfrm>
            <a:off x="7772400" y="3017520"/>
            <a:ext cx="519120" cy="657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D9EB71-3E4B-5B5A-F36C-607F4D1DFA63}"/>
              </a:ext>
            </a:extLst>
          </p:cNvPr>
          <p:cNvSpPr txBox="1"/>
          <p:nvPr/>
        </p:nvSpPr>
        <p:spPr>
          <a:xfrm>
            <a:off x="8778240" y="4877640"/>
            <a:ext cx="519120" cy="657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C557EE-BED8-634C-6C2D-ED160B2026C0}"/>
              </a:ext>
            </a:extLst>
          </p:cNvPr>
          <p:cNvSpPr txBox="1"/>
          <p:nvPr/>
        </p:nvSpPr>
        <p:spPr>
          <a:xfrm>
            <a:off x="7893359" y="4920480"/>
            <a:ext cx="519120" cy="657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C2A121-0D18-B926-D0C8-995AE7B17ECE}"/>
              </a:ext>
            </a:extLst>
          </p:cNvPr>
          <p:cNvSpPr txBox="1"/>
          <p:nvPr/>
        </p:nvSpPr>
        <p:spPr>
          <a:xfrm>
            <a:off x="8807760" y="3030120"/>
            <a:ext cx="519120" cy="657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B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6F2D7EB1-ED17-9383-6DA2-56D8368DC25D}"/>
              </a:ext>
            </a:extLst>
          </p:cNvPr>
          <p:cNvSpPr/>
          <p:nvPr/>
        </p:nvSpPr>
        <p:spPr>
          <a:xfrm>
            <a:off x="7406640" y="2560319"/>
            <a:ext cx="0" cy="3383281"/>
          </a:xfrm>
          <a:prstGeom prst="line">
            <a:avLst/>
          </a:prstGeom>
          <a:noFill/>
          <a:ln w="73080">
            <a:solidFill>
              <a:srgbClr val="009900"/>
            </a:solidFill>
            <a:prstDash val="solid"/>
            <a:tailEnd type="arrow"/>
          </a:ln>
        </p:spPr>
        <p:txBody>
          <a:bodyPr wrap="none" lIns="126360" tIns="81360" rIns="126360" bIns="81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3B15370C-8D24-007B-2FFE-785D61593EF9}"/>
              </a:ext>
            </a:extLst>
          </p:cNvPr>
          <p:cNvSpPr/>
          <p:nvPr/>
        </p:nvSpPr>
        <p:spPr>
          <a:xfrm flipV="1">
            <a:off x="9784080" y="2560319"/>
            <a:ext cx="0" cy="3474721"/>
          </a:xfrm>
          <a:prstGeom prst="line">
            <a:avLst/>
          </a:prstGeom>
          <a:noFill/>
          <a:ln w="73080">
            <a:solidFill>
              <a:srgbClr val="009900"/>
            </a:solidFill>
            <a:prstDash val="solid"/>
            <a:tailEnd type="arrow"/>
          </a:ln>
        </p:spPr>
        <p:txBody>
          <a:bodyPr wrap="none" lIns="126360" tIns="81360" rIns="126360" bIns="8136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4716EE-348A-97A3-4C80-0A5AABB49C4B}"/>
              </a:ext>
            </a:extLst>
          </p:cNvPr>
          <p:cNvSpPr txBox="1"/>
          <p:nvPr/>
        </p:nvSpPr>
        <p:spPr>
          <a:xfrm>
            <a:off x="296544" y="1463039"/>
            <a:ext cx="5647056" cy="186040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תורם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מוכן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לתרום לחולה אבל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לא מתאים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בגלל סוג הדם או סיבות נוספות: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6E69C8-9B03-F57F-D126-A4FD5289D29F}"/>
              </a:ext>
            </a:extLst>
          </p:cNvPr>
          <p:cNvSpPr txBox="1"/>
          <p:nvPr/>
        </p:nvSpPr>
        <p:spPr>
          <a:xfrm>
            <a:off x="8869680" y="1969920"/>
            <a:ext cx="520560" cy="6818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15ABC0-94A9-CE90-FBDD-6F319B041631}"/>
              </a:ext>
            </a:extLst>
          </p:cNvPr>
          <p:cNvSpPr txBox="1"/>
          <p:nvPr/>
        </p:nvSpPr>
        <p:spPr>
          <a:xfrm>
            <a:off x="7894440" y="1877777"/>
            <a:ext cx="467280" cy="6818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ר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37A61C-7CCE-8E2F-FA25-FF13FC595277}"/>
              </a:ext>
            </a:extLst>
          </p:cNvPr>
          <p:cNvSpPr txBox="1"/>
          <p:nvPr/>
        </p:nvSpPr>
        <p:spPr>
          <a:xfrm>
            <a:off x="8908097" y="5913755"/>
            <a:ext cx="389520" cy="6818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ג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909EFB-8A80-6AE4-EDF1-C18350880CA4}"/>
              </a:ext>
            </a:extLst>
          </p:cNvPr>
          <p:cNvSpPr txBox="1"/>
          <p:nvPr/>
        </p:nvSpPr>
        <p:spPr>
          <a:xfrm>
            <a:off x="7913074" y="6433957"/>
            <a:ext cx="551160" cy="6818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06C0A-C88E-84CD-3BC2-540852990D8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280" y="250920"/>
            <a:ext cx="8734319" cy="1008359"/>
          </a:xfrm>
        </p:spPr>
        <p:txBody>
          <a:bodyPr vert="horz"/>
          <a:lstStyle/>
          <a:p>
            <a:pPr lvl="0" rtl="1"/>
            <a:r>
              <a:rPr lang="he-IL" b="1">
                <a:latin typeface="Liberation Sans" pitchFamily="34"/>
                <a:cs typeface="Liberation Sans" pitchFamily="34"/>
              </a:rPr>
              <a:t>החלפת כליות אופטימלית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6A463E-DC03-27A3-E1FB-BA6689270501}"/>
              </a:ext>
            </a:extLst>
          </p:cNvPr>
          <p:cNvSpPr txBox="1"/>
          <p:nvPr/>
        </p:nvSpPr>
        <p:spPr>
          <a:xfrm>
            <a:off x="390525" y="1362268"/>
            <a:ext cx="9210675" cy="503716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נתון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: מאגר נתונים של זוגות של חולים ותורמים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ומידע רפואי על ההתאמות בין חולים לתורמים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.</a:t>
            </a: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1" i="0" u="none" strike="noStrike" kern="1200" cap="none">
              <a:ln>
                <a:noFill/>
              </a:ln>
              <a:solidFill>
                <a:srgbClr val="00A933"/>
              </a:solidFill>
              <a:latin typeface="Liberation Sans" pitchFamily="18"/>
              <a:ea typeface="Noto Sans CJK SC Regular" pitchFamily="2"/>
              <a:cs typeface="Nachlieli CLM" pitchFamily="2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המטרה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: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לתת כליות לכמה שיותר חולים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,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בכפוף לתנאי של </a:t>
            </a:r>
            <a:r>
              <a:rPr lang="he-IL" sz="4000" b="1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עידוד השתתפות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: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כל תורם הנותן כליה שלו,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</a:b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מקבל כליה עבור החולה שלו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8D6859-D50E-6E63-7309-201A47C2C7A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617475" y="3133822"/>
            <a:ext cx="5086079" cy="28447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06D720-A97D-C386-D556-97E645781AE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31519" y="153360"/>
            <a:ext cx="9144000" cy="1250280"/>
          </a:xfrm>
        </p:spPr>
        <p:txBody>
          <a:bodyPr vert="horz"/>
          <a:lstStyle/>
          <a:p>
            <a:pPr lvl="0" rtl="1"/>
            <a:r>
              <a:rPr lang="he-IL" b="1">
                <a:latin typeface="Liberation Sans" pitchFamily="34"/>
                <a:cs typeface="Liberation Sans" pitchFamily="34"/>
              </a:rPr>
              <a:t>החלפת כליות אופטימלית – פתרון 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8D1BE6-3503-1505-AC6A-53C7A4CDDFCB}"/>
              </a:ext>
            </a:extLst>
          </p:cNvPr>
          <p:cNvSpPr txBox="1"/>
          <p:nvPr/>
        </p:nvSpPr>
        <p:spPr>
          <a:xfrm>
            <a:off x="93306" y="1188719"/>
            <a:ext cx="9713167" cy="127799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נבנה גרף דו-צדדי של חולים ותורמים, עם קשת בין חולה לתורם תואם, ונמצא </a:t>
            </a:r>
            <a:r>
              <a:rPr lang="he-IL" sz="4000" b="1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שידוך </a:t>
            </a:r>
            <a:r>
              <a:rPr lang="he-IL" sz="4000" b="0" i="1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(</a:t>
            </a:r>
            <a:r>
              <a:rPr lang="en-US" sz="4000" b="0" i="1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איזה</a:t>
            </a:r>
            <a:r>
              <a:rPr lang="he-IL" sz="4000" b="0" i="1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?)</a:t>
            </a:r>
            <a:endParaRPr lang="en-US" sz="4000" b="0" i="1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4403FD-F0AF-4C1A-7A54-38C32547E3AE}"/>
              </a:ext>
            </a:extLst>
          </p:cNvPr>
          <p:cNvSpPr txBox="1"/>
          <p:nvPr/>
        </p:nvSpPr>
        <p:spPr>
          <a:xfrm>
            <a:off x="0" y="6766560"/>
            <a:ext cx="10045440" cy="682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/>
            </a:pPr>
            <a:r>
              <a:rPr lang="he-IL" sz="14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הגרף מתוך המאמר: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/>
            </a:pPr>
            <a:r>
              <a:rPr lang="en-US" sz="14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Abraham, David J.; Blum, Avrim; Sandholm, Tuomas (2007-06-11).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/>
            </a:pPr>
            <a:r>
              <a:rPr lang="en-US" sz="14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    "Clearing algorithms for barter exchange markets: enabling nationwide kidney exchanges".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6838F5-2ACE-9DB2-8A53-C7590AF33F16}"/>
              </a:ext>
            </a:extLst>
          </p:cNvPr>
          <p:cNvSpPr txBox="1"/>
          <p:nvPr/>
        </p:nvSpPr>
        <p:spPr>
          <a:xfrm>
            <a:off x="3474719" y="2626379"/>
            <a:ext cx="3657600" cy="6498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rgbClr val="C9211E"/>
                </a:solidFill>
              </a:defRPr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חולים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CF440B-CC9E-C48B-0EA1-32E554937996}"/>
              </a:ext>
            </a:extLst>
          </p:cNvPr>
          <p:cNvSpPr txBox="1"/>
          <p:nvPr/>
        </p:nvSpPr>
        <p:spPr>
          <a:xfrm>
            <a:off x="3291839" y="5751000"/>
            <a:ext cx="3840479" cy="6498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rgbClr val="00A933"/>
                </a:solidFill>
              </a:defRPr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תורמים</a:t>
            </a:r>
          </a:p>
        </p:txBody>
      </p:sp>
      <p:sp>
        <p:nvSpPr>
          <p:cNvPr id="8" name="Free-form: Shape 7">
            <a:extLst>
              <a:ext uri="{FF2B5EF4-FFF2-40B4-BE49-F238E27FC236}">
                <a16:creationId xmlns:a16="http://schemas.microsoft.com/office/drawing/2014/main" id="{7731AFF2-708B-FF95-ABBC-5E5D8AF18818}"/>
              </a:ext>
            </a:extLst>
          </p:cNvPr>
          <p:cNvSpPr/>
          <p:nvPr/>
        </p:nvSpPr>
        <p:spPr>
          <a:xfrm rot="4972200">
            <a:off x="4288766" y="2187382"/>
            <a:ext cx="1550880" cy="4737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09" h="13161">
                <a:moveTo>
                  <a:pt x="0" y="0"/>
                </a:moveTo>
                <a:cubicBezTo>
                  <a:pt x="442" y="61"/>
                  <a:pt x="1224" y="-167"/>
                  <a:pt x="1220" y="553"/>
                </a:cubicBezTo>
                <a:cubicBezTo>
                  <a:pt x="1217" y="1037"/>
                  <a:pt x="-254" y="1751"/>
                  <a:pt x="1105" y="1827"/>
                </a:cubicBezTo>
                <a:cubicBezTo>
                  <a:pt x="1663" y="1859"/>
                  <a:pt x="2275" y="2751"/>
                  <a:pt x="1334" y="2833"/>
                </a:cubicBezTo>
                <a:cubicBezTo>
                  <a:pt x="39" y="2946"/>
                  <a:pt x="1523" y="3330"/>
                  <a:pt x="1634" y="3627"/>
                </a:cubicBezTo>
                <a:cubicBezTo>
                  <a:pt x="1886" y="4297"/>
                  <a:pt x="106" y="4504"/>
                  <a:pt x="1476" y="4896"/>
                </a:cubicBezTo>
                <a:cubicBezTo>
                  <a:pt x="2588" y="5214"/>
                  <a:pt x="1002" y="5547"/>
                  <a:pt x="1820" y="6050"/>
                </a:cubicBezTo>
                <a:cubicBezTo>
                  <a:pt x="2189" y="6276"/>
                  <a:pt x="2786" y="6288"/>
                  <a:pt x="2575" y="7122"/>
                </a:cubicBezTo>
                <a:cubicBezTo>
                  <a:pt x="2431" y="7688"/>
                  <a:pt x="1118" y="7999"/>
                  <a:pt x="2581" y="8145"/>
                </a:cubicBezTo>
                <a:cubicBezTo>
                  <a:pt x="2862" y="8173"/>
                  <a:pt x="4312" y="8107"/>
                  <a:pt x="3073" y="8829"/>
                </a:cubicBezTo>
                <a:cubicBezTo>
                  <a:pt x="2719" y="9035"/>
                  <a:pt x="994" y="9523"/>
                  <a:pt x="2509" y="9780"/>
                </a:cubicBezTo>
                <a:cubicBezTo>
                  <a:pt x="3211" y="9899"/>
                  <a:pt x="2897" y="10452"/>
                  <a:pt x="2821" y="10841"/>
                </a:cubicBezTo>
                <a:cubicBezTo>
                  <a:pt x="2688" y="11529"/>
                  <a:pt x="4281" y="10900"/>
                  <a:pt x="3636" y="11787"/>
                </a:cubicBezTo>
                <a:cubicBezTo>
                  <a:pt x="3392" y="12124"/>
                  <a:pt x="3074" y="12843"/>
                  <a:pt x="3750" y="13002"/>
                </a:cubicBezTo>
                <a:lnTo>
                  <a:pt x="4188" y="13057"/>
                </a:lnTo>
                <a:lnTo>
                  <a:pt x="4309" y="13161"/>
                </a:lnTo>
              </a:path>
            </a:pathLst>
          </a:custGeom>
          <a:noFill/>
          <a:ln w="0">
            <a:solidFill>
              <a:srgbClr val="0099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FEAE8-8CF2-80B9-0352-A47EB8091F5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31519" y="153360"/>
            <a:ext cx="9144000" cy="1250280"/>
          </a:xfrm>
        </p:spPr>
        <p:txBody>
          <a:bodyPr vert="horz"/>
          <a:lstStyle/>
          <a:p>
            <a:pPr lvl="0" rtl="1"/>
            <a:r>
              <a:rPr lang="he-IL" b="1">
                <a:latin typeface="Liberation Sans" pitchFamily="34"/>
                <a:cs typeface="Liberation Sans" pitchFamily="34"/>
              </a:rPr>
              <a:t>החלפת כליות אופטימלית – פתרון 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01FD42-E778-75A5-0EB2-192D4FA6DAAE}"/>
              </a:ext>
            </a:extLst>
          </p:cNvPr>
          <p:cNvSpPr txBox="1"/>
          <p:nvPr/>
        </p:nvSpPr>
        <p:spPr>
          <a:xfrm>
            <a:off x="0" y="6766560"/>
            <a:ext cx="10045440" cy="682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/>
            </a:pPr>
            <a:r>
              <a:rPr lang="he-IL" sz="14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הגרף מתוך המאמר: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/>
            </a:pPr>
            <a:r>
              <a:rPr lang="en-US" sz="14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Abraham, David J.; Blum, Avrim; Sandholm, Tuomas (2007-06-11).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/>
            </a:pPr>
            <a:r>
              <a:rPr lang="en-US" sz="14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    "Clearing algorithms for barter exchange markets: enabling nationwide kidney exchanges".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ABAC3E-B158-F84D-0458-AB1F1A3ABA2D}"/>
              </a:ext>
            </a:extLst>
          </p:cNvPr>
          <p:cNvSpPr txBox="1"/>
          <p:nvPr/>
        </p:nvSpPr>
        <p:spPr>
          <a:xfrm>
            <a:off x="3291839" y="2459160"/>
            <a:ext cx="3657600" cy="6498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rgbClr val="C9211E"/>
                </a:solidFill>
              </a:defRPr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חולים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C64F57-37DE-2839-7E52-A2F5D371A902}"/>
              </a:ext>
            </a:extLst>
          </p:cNvPr>
          <p:cNvSpPr txBox="1"/>
          <p:nvPr/>
        </p:nvSpPr>
        <p:spPr>
          <a:xfrm>
            <a:off x="3383280" y="5943600"/>
            <a:ext cx="3840479" cy="6498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rgbClr val="00A933"/>
                </a:solidFill>
              </a:defRPr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תורמים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C1D7E1-8FC6-41F8-23B1-CCA3E4742B22}"/>
              </a:ext>
            </a:extLst>
          </p:cNvPr>
          <p:cNvSpPr txBox="1"/>
          <p:nvPr/>
        </p:nvSpPr>
        <p:spPr>
          <a:xfrm>
            <a:off x="640080" y="1189080"/>
            <a:ext cx="9052560" cy="127799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נמצא שידוך גדול ביותר, ובכפוף לזה, שידוך עם מספר קשתות רציפות גדול ביותר </a:t>
            </a:r>
            <a:r>
              <a:rPr lang="he-IL" sz="4000" b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(</a:t>
            </a:r>
            <a:r>
              <a:rPr lang="he-IL" sz="4000" b="0" i="1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איך?</a:t>
            </a:r>
            <a:r>
              <a:rPr lang="he-IL" sz="4000" b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)</a:t>
            </a:r>
            <a:endParaRPr lang="en-US" sz="4000" b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C62D9B-CA43-43F1-510A-EF98C39A146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617475" y="3133822"/>
            <a:ext cx="5086079" cy="284472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Free-form: Shape 11">
            <a:extLst>
              <a:ext uri="{FF2B5EF4-FFF2-40B4-BE49-F238E27FC236}">
                <a16:creationId xmlns:a16="http://schemas.microsoft.com/office/drawing/2014/main" id="{3B6C3B00-6933-8304-4763-56298C201DC8}"/>
              </a:ext>
            </a:extLst>
          </p:cNvPr>
          <p:cNvSpPr/>
          <p:nvPr/>
        </p:nvSpPr>
        <p:spPr>
          <a:xfrm rot="4972200">
            <a:off x="4288766" y="2187382"/>
            <a:ext cx="1550880" cy="4737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09" h="13161">
                <a:moveTo>
                  <a:pt x="0" y="0"/>
                </a:moveTo>
                <a:cubicBezTo>
                  <a:pt x="442" y="61"/>
                  <a:pt x="1224" y="-167"/>
                  <a:pt x="1220" y="553"/>
                </a:cubicBezTo>
                <a:cubicBezTo>
                  <a:pt x="1217" y="1037"/>
                  <a:pt x="-254" y="1751"/>
                  <a:pt x="1105" y="1827"/>
                </a:cubicBezTo>
                <a:cubicBezTo>
                  <a:pt x="1663" y="1859"/>
                  <a:pt x="2275" y="2751"/>
                  <a:pt x="1334" y="2833"/>
                </a:cubicBezTo>
                <a:cubicBezTo>
                  <a:pt x="39" y="2946"/>
                  <a:pt x="1523" y="3330"/>
                  <a:pt x="1634" y="3627"/>
                </a:cubicBezTo>
                <a:cubicBezTo>
                  <a:pt x="1886" y="4297"/>
                  <a:pt x="106" y="4504"/>
                  <a:pt x="1476" y="4896"/>
                </a:cubicBezTo>
                <a:cubicBezTo>
                  <a:pt x="2588" y="5214"/>
                  <a:pt x="1002" y="5547"/>
                  <a:pt x="1820" y="6050"/>
                </a:cubicBezTo>
                <a:cubicBezTo>
                  <a:pt x="2189" y="6276"/>
                  <a:pt x="2786" y="6288"/>
                  <a:pt x="2575" y="7122"/>
                </a:cubicBezTo>
                <a:cubicBezTo>
                  <a:pt x="2431" y="7688"/>
                  <a:pt x="1118" y="7999"/>
                  <a:pt x="2581" y="8145"/>
                </a:cubicBezTo>
                <a:cubicBezTo>
                  <a:pt x="2862" y="8173"/>
                  <a:pt x="4312" y="8107"/>
                  <a:pt x="3073" y="8829"/>
                </a:cubicBezTo>
                <a:cubicBezTo>
                  <a:pt x="2719" y="9035"/>
                  <a:pt x="994" y="9523"/>
                  <a:pt x="2509" y="9780"/>
                </a:cubicBezTo>
                <a:cubicBezTo>
                  <a:pt x="3211" y="9899"/>
                  <a:pt x="2897" y="10452"/>
                  <a:pt x="2821" y="10841"/>
                </a:cubicBezTo>
                <a:cubicBezTo>
                  <a:pt x="2688" y="11529"/>
                  <a:pt x="4281" y="10900"/>
                  <a:pt x="3636" y="11787"/>
                </a:cubicBezTo>
                <a:cubicBezTo>
                  <a:pt x="3392" y="12124"/>
                  <a:pt x="3074" y="12843"/>
                  <a:pt x="3750" y="13002"/>
                </a:cubicBezTo>
                <a:lnTo>
                  <a:pt x="4188" y="13057"/>
                </a:lnTo>
                <a:lnTo>
                  <a:pt x="4309" y="13161"/>
                </a:lnTo>
              </a:path>
            </a:pathLst>
          </a:custGeom>
          <a:noFill/>
          <a:ln w="0">
            <a:solidFill>
              <a:srgbClr val="0099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24B63-CF75-1119-DE96-1C2B336EF3A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31519" y="153360"/>
            <a:ext cx="9144000" cy="1250280"/>
          </a:xfrm>
        </p:spPr>
        <p:txBody>
          <a:bodyPr vert="horz"/>
          <a:lstStyle/>
          <a:p>
            <a:pPr lvl="0" rtl="1"/>
            <a:r>
              <a:rPr lang="he-IL" b="1">
                <a:latin typeface="Liberation Sans" pitchFamily="34"/>
                <a:cs typeface="Liberation Sans" pitchFamily="34"/>
              </a:rPr>
              <a:t>החלפת כליות אופטימלית – פתרון 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2E05C8-B4D1-D659-6BDC-4A8A0154B091}"/>
              </a:ext>
            </a:extLst>
          </p:cNvPr>
          <p:cNvSpPr txBox="1"/>
          <p:nvPr/>
        </p:nvSpPr>
        <p:spPr>
          <a:xfrm>
            <a:off x="657224" y="1189080"/>
            <a:ext cx="9035415" cy="369494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ניתן לכל צלע מקווקוות משקל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x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ולכל צלע רציפה משקל y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כך ש: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y&gt;x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B*x &gt; A*y for all A,B in {0,..,n}, B&gt;A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  ==&gt; 1 &lt; y/x &lt; n/(n-1)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  E.g.  y=n+1, x=n</a:t>
            </a:r>
            <a:r>
              <a:rPr lang="en-US" sz="4000">
                <a:latin typeface="Liberation Sans" pitchFamily="18"/>
                <a:ea typeface="Noto Sans CJK SC Regular" pitchFamily="2"/>
                <a:cs typeface="Nachlieli CLM" pitchFamily="2"/>
              </a:rPr>
              <a:t>.</a:t>
            </a: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6D33EB-E388-6091-1DC3-A8D311FD7E7A}"/>
              </a:ext>
            </a:extLst>
          </p:cNvPr>
          <p:cNvSpPr txBox="1"/>
          <p:nvPr/>
        </p:nvSpPr>
        <p:spPr>
          <a:xfrm>
            <a:off x="161926" y="5212080"/>
            <a:ext cx="9713594" cy="128808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rgbClr val="00A933"/>
                </a:solidFill>
              </a:defRPr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נשתמש באלגוריתם מוכר למציאת שידוך עם משקל מקסימום בגרף דו-צדדי.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 ***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61306-5D6D-0812-3341-3E0A0BB8254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31519" y="153360"/>
            <a:ext cx="9144000" cy="1250280"/>
          </a:xfrm>
        </p:spPr>
        <p:txBody>
          <a:bodyPr vert="horz"/>
          <a:lstStyle/>
          <a:p>
            <a:pPr lvl="0" rtl="1"/>
            <a:r>
              <a:rPr lang="he-IL" b="1">
                <a:latin typeface="Liberation Sans" pitchFamily="34"/>
                <a:cs typeface="Liberation Sans" pitchFamily="34"/>
              </a:rPr>
              <a:t>מעגלי החלפה באורך מוגבל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DBDDB5-43D9-6ECA-7223-C07075387939}"/>
              </a:ext>
            </a:extLst>
          </p:cNvPr>
          <p:cNvSpPr txBox="1"/>
          <p:nvPr/>
        </p:nvSpPr>
        <p:spPr>
          <a:xfrm>
            <a:off x="485776" y="1554479"/>
            <a:ext cx="9488648" cy="3673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בהחלפת כליות כל הניתוחים צריכים להתבצע בו-זמנית.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55308D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כשמעגל ההחלפה בגודל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55308D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k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55308D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55308D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צריך לבצע 2k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55308D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55308D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ניתוחים בו-זמנית.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BF004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לכן, מבחינה לוגיסטית, אורך המעגלים חייב להיות מוגבל – בדרך-כלל עד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BF004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2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BF004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או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BF004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3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BF004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0" i="0" u="none" strike="noStrike" kern="1200" cap="none">
              <a:ln>
                <a:noFill/>
              </a:ln>
              <a:solidFill>
                <a:srgbClr val="BF0041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FF4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השידוך שראינו אינו מספק דרישה זו.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40706-FC0E-A27A-5537-5E794A743E8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31519" y="153360"/>
            <a:ext cx="9144000" cy="1250280"/>
          </a:xfrm>
        </p:spPr>
        <p:txBody>
          <a:bodyPr vert="horz"/>
          <a:lstStyle/>
          <a:p>
            <a:pPr lvl="0" rtl="1"/>
            <a:r>
              <a:rPr lang="he-IL" b="1">
                <a:latin typeface="Liberation Sans" pitchFamily="34"/>
                <a:cs typeface="Liberation Sans" pitchFamily="34"/>
              </a:rPr>
              <a:t>מעגלי החלפה באורך </a:t>
            </a:r>
            <a:r>
              <a:rPr lang="en-US" b="1">
                <a:latin typeface="Liberation Sans" pitchFamily="34"/>
                <a:cs typeface="Liberation Sans" pitchFamily="34"/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54D844-7E5B-15CF-75A4-74615E30001D}"/>
              </a:ext>
            </a:extLst>
          </p:cNvPr>
          <p:cNvSpPr txBox="1"/>
          <p:nvPr/>
        </p:nvSpPr>
        <p:spPr>
          <a:xfrm>
            <a:off x="524880" y="1554479"/>
            <a:ext cx="9350639" cy="29253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נניח שאפשר לבצע רק מעגלי-החלפה באורך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2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>
              <a:ln>
                <a:noFill/>
              </a:ln>
              <a:solidFill>
                <a:srgbClr val="2A6099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במקרה זה, אפשר לייצג את הבעיה כגרף אחר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)איזה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?).</a:t>
            </a:r>
            <a:endParaRPr lang="en-US" sz="4000" b="0" i="0" u="none" strike="noStrike" kern="1200" cap="none">
              <a:ln>
                <a:noFill/>
              </a:ln>
              <a:solidFill>
                <a:srgbClr val="00A933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619B9440-C4B2-E842-C393-7839F8C3B2B1}"/>
              </a:ext>
            </a:extLst>
          </p:cNvPr>
          <p:cNvSpPr/>
          <p:nvPr/>
        </p:nvSpPr>
        <p:spPr>
          <a:xfrm>
            <a:off x="2095560" y="4094280"/>
            <a:ext cx="1533600" cy="69120"/>
          </a:xfrm>
          <a:prstGeom prst="line">
            <a:avLst/>
          </a:prstGeom>
          <a:noFill/>
          <a:ln w="0">
            <a:solidFill>
              <a:srgbClr val="FF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118F61-AA5E-466C-3411-CF1D0A51F2F3}"/>
              </a:ext>
            </a:extLst>
          </p:cNvPr>
          <p:cNvSpPr txBox="1"/>
          <p:nvPr/>
        </p:nvSpPr>
        <p:spPr>
          <a:xfrm>
            <a:off x="1775549" y="916200"/>
            <a:ext cx="7410210" cy="2745452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נבנה גרף שבו: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כל קודקוד מייצג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זוג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(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תורם+חולה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).</a:t>
            </a:r>
            <a:endParaRPr lang="en-US" sz="3600" b="0" i="0" u="none" strike="noStrike" kern="1200" cap="none">
              <a:ln>
                <a:noFill/>
              </a:ln>
              <a:solidFill>
                <a:srgbClr val="0000FF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כל צלע א—ב מייצגת התאמה הדדית:</a:t>
            </a:r>
          </a:p>
          <a:p>
            <a:pPr marL="0" marR="0" lvl="1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התורם מזוג א מתאים לחולה מזוג ב;</a:t>
            </a:r>
          </a:p>
          <a:p>
            <a:pPr marL="0" marR="0" lvl="1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התורם מזוג ב מתאים לחולה מזוג א.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0E45F5C-E6C8-A3C6-8594-9D358F9775C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280" y="251280"/>
            <a:ext cx="8734319" cy="1008359"/>
          </a:xfrm>
        </p:spPr>
        <p:txBody>
          <a:bodyPr vert="horz"/>
          <a:lstStyle/>
          <a:p>
            <a:pPr lvl="0" rtl="1"/>
            <a:r>
              <a:rPr lang="he-IL" b="1">
                <a:latin typeface="Liberation Sans" pitchFamily="34"/>
                <a:cs typeface="Liberation Sans" pitchFamily="34"/>
              </a:rPr>
              <a:t>גרף ההתאמות</a:t>
            </a:r>
          </a:p>
        </p:txBody>
      </p:sp>
      <p:sp>
        <p:nvSpPr>
          <p:cNvPr id="5" name="Free-form: Shape 4">
            <a:extLst>
              <a:ext uri="{FF2B5EF4-FFF2-40B4-BE49-F238E27FC236}">
                <a16:creationId xmlns:a16="http://schemas.microsoft.com/office/drawing/2014/main" id="{04BDCD7F-F763-E20E-B697-5B42D53E09E1}"/>
              </a:ext>
            </a:extLst>
          </p:cNvPr>
          <p:cNvSpPr/>
          <p:nvPr/>
        </p:nvSpPr>
        <p:spPr>
          <a:xfrm>
            <a:off x="1895400" y="3887279"/>
            <a:ext cx="399960" cy="4831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a</a:t>
            </a:r>
          </a:p>
        </p:txBody>
      </p:sp>
      <p:sp>
        <p:nvSpPr>
          <p:cNvPr id="6" name="Free-form: Shape 5">
            <a:extLst>
              <a:ext uri="{FF2B5EF4-FFF2-40B4-BE49-F238E27FC236}">
                <a16:creationId xmlns:a16="http://schemas.microsoft.com/office/drawing/2014/main" id="{91486EF4-FCDD-BF3A-B2F0-74915719097A}"/>
              </a:ext>
            </a:extLst>
          </p:cNvPr>
          <p:cNvSpPr/>
          <p:nvPr/>
        </p:nvSpPr>
        <p:spPr>
          <a:xfrm>
            <a:off x="3429000" y="3887279"/>
            <a:ext cx="399960" cy="4831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b</a:t>
            </a:r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20B03369-34FF-3B30-3E69-50556BC9891B}"/>
              </a:ext>
            </a:extLst>
          </p:cNvPr>
          <p:cNvSpPr/>
          <p:nvPr/>
        </p:nvSpPr>
        <p:spPr>
          <a:xfrm>
            <a:off x="1828800" y="5544360"/>
            <a:ext cx="399960" cy="4831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c</a:t>
            </a:r>
          </a:p>
        </p:txBody>
      </p:sp>
      <p:sp>
        <p:nvSpPr>
          <p:cNvPr id="8" name="Free-form: Shape 7">
            <a:extLst>
              <a:ext uri="{FF2B5EF4-FFF2-40B4-BE49-F238E27FC236}">
                <a16:creationId xmlns:a16="http://schemas.microsoft.com/office/drawing/2014/main" id="{09A9CA46-6C22-47A8-F1C0-3AFA6D0F3307}"/>
              </a:ext>
            </a:extLst>
          </p:cNvPr>
          <p:cNvSpPr/>
          <p:nvPr/>
        </p:nvSpPr>
        <p:spPr>
          <a:xfrm>
            <a:off x="3429000" y="5544360"/>
            <a:ext cx="399960" cy="4831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d</a:t>
            </a:r>
          </a:p>
        </p:txBody>
      </p:sp>
      <p:sp>
        <p:nvSpPr>
          <p:cNvPr id="9" name="Free-form: Shape 8">
            <a:extLst>
              <a:ext uri="{FF2B5EF4-FFF2-40B4-BE49-F238E27FC236}">
                <a16:creationId xmlns:a16="http://schemas.microsoft.com/office/drawing/2014/main" id="{AB2C6B3A-F119-8D3E-79F0-1B76F23D1A08}"/>
              </a:ext>
            </a:extLst>
          </p:cNvPr>
          <p:cNvSpPr/>
          <p:nvPr/>
        </p:nvSpPr>
        <p:spPr>
          <a:xfrm>
            <a:off x="5896080" y="5544360"/>
            <a:ext cx="399960" cy="4831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h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B81B4B51-E1B8-36A2-7156-85A261CBA159}"/>
              </a:ext>
            </a:extLst>
          </p:cNvPr>
          <p:cNvSpPr/>
          <p:nvPr/>
        </p:nvSpPr>
        <p:spPr>
          <a:xfrm flipH="1">
            <a:off x="2028960" y="4094280"/>
            <a:ext cx="66600" cy="1726200"/>
          </a:xfrm>
          <a:prstGeom prst="line">
            <a:avLst/>
          </a:prstGeom>
          <a:noFill/>
          <a:ln w="0">
            <a:solidFill>
              <a:srgbClr val="FF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418819B9-7846-C9BF-9885-2A1C01AB9525}"/>
              </a:ext>
            </a:extLst>
          </p:cNvPr>
          <p:cNvSpPr/>
          <p:nvPr/>
        </p:nvSpPr>
        <p:spPr>
          <a:xfrm>
            <a:off x="3629160" y="4163400"/>
            <a:ext cx="0" cy="1657080"/>
          </a:xfrm>
          <a:prstGeom prst="line">
            <a:avLst/>
          </a:prstGeom>
          <a:noFill/>
          <a:ln w="0">
            <a:solidFill>
              <a:srgbClr val="FF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2" name="Free-form: Shape 11">
            <a:extLst>
              <a:ext uri="{FF2B5EF4-FFF2-40B4-BE49-F238E27FC236}">
                <a16:creationId xmlns:a16="http://schemas.microsoft.com/office/drawing/2014/main" id="{BAF79A06-4D69-84B2-1551-C856C133AF9F}"/>
              </a:ext>
            </a:extLst>
          </p:cNvPr>
          <p:cNvSpPr/>
          <p:nvPr/>
        </p:nvSpPr>
        <p:spPr>
          <a:xfrm>
            <a:off x="7763040" y="3749040"/>
            <a:ext cx="399960" cy="4834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f</a:t>
            </a:r>
          </a:p>
        </p:txBody>
      </p:sp>
      <p:sp>
        <p:nvSpPr>
          <p:cNvPr id="13" name="Free-form: Shape 12">
            <a:extLst>
              <a:ext uri="{FF2B5EF4-FFF2-40B4-BE49-F238E27FC236}">
                <a16:creationId xmlns:a16="http://schemas.microsoft.com/office/drawing/2014/main" id="{67475E9F-F3EE-3175-7ADF-E9631DFB9F1F}"/>
              </a:ext>
            </a:extLst>
          </p:cNvPr>
          <p:cNvSpPr/>
          <p:nvPr/>
        </p:nvSpPr>
        <p:spPr>
          <a:xfrm>
            <a:off x="7829640" y="5060880"/>
            <a:ext cx="399960" cy="4834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g</a:t>
            </a:r>
          </a:p>
        </p:txBody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C8A8042A-EA6F-1FDB-9BA2-BA83F64EE212}"/>
              </a:ext>
            </a:extLst>
          </p:cNvPr>
          <p:cNvSpPr/>
          <p:nvPr/>
        </p:nvSpPr>
        <p:spPr>
          <a:xfrm>
            <a:off x="6362640" y="3818160"/>
            <a:ext cx="399960" cy="4831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e</a:t>
            </a:r>
          </a:p>
        </p:txBody>
      </p:sp>
      <p:sp>
        <p:nvSpPr>
          <p:cNvPr id="15" name="Free-form: Shape 14">
            <a:extLst>
              <a:ext uri="{FF2B5EF4-FFF2-40B4-BE49-F238E27FC236}">
                <a16:creationId xmlns:a16="http://schemas.microsoft.com/office/drawing/2014/main" id="{20A0D3F9-BB92-9B82-D7F4-FF61E59872D9}"/>
              </a:ext>
            </a:extLst>
          </p:cNvPr>
          <p:cNvSpPr/>
          <p:nvPr/>
        </p:nvSpPr>
        <p:spPr>
          <a:xfrm>
            <a:off x="7095960" y="6648839"/>
            <a:ext cx="400320" cy="4834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i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D003F1DC-1947-D199-1E7E-4911D5838EBB}"/>
              </a:ext>
            </a:extLst>
          </p:cNvPr>
          <p:cNvSpPr/>
          <p:nvPr/>
        </p:nvSpPr>
        <p:spPr>
          <a:xfrm>
            <a:off x="2028960" y="5820480"/>
            <a:ext cx="1600200" cy="0"/>
          </a:xfrm>
          <a:prstGeom prst="line">
            <a:avLst/>
          </a:prstGeom>
          <a:noFill/>
          <a:ln w="0">
            <a:solidFill>
              <a:srgbClr val="FF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8703215D-F1DE-FA30-D224-591F5792F9EB}"/>
              </a:ext>
            </a:extLst>
          </p:cNvPr>
          <p:cNvSpPr/>
          <p:nvPr/>
        </p:nvSpPr>
        <p:spPr>
          <a:xfrm>
            <a:off x="6629400" y="4025159"/>
            <a:ext cx="1400040" cy="1242721"/>
          </a:xfrm>
          <a:prstGeom prst="line">
            <a:avLst/>
          </a:prstGeom>
          <a:noFill/>
          <a:ln w="0">
            <a:solidFill>
              <a:srgbClr val="FF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37E2A138-F4C8-748F-E990-42442BDF403E}"/>
              </a:ext>
            </a:extLst>
          </p:cNvPr>
          <p:cNvSpPr/>
          <p:nvPr/>
        </p:nvSpPr>
        <p:spPr>
          <a:xfrm>
            <a:off x="6629400" y="4025159"/>
            <a:ext cx="1266840" cy="0"/>
          </a:xfrm>
          <a:prstGeom prst="line">
            <a:avLst/>
          </a:prstGeom>
          <a:noFill/>
          <a:ln w="0">
            <a:solidFill>
              <a:srgbClr val="FF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8684C4EF-3664-9956-AD8B-CEC2FF26D23D}"/>
              </a:ext>
            </a:extLst>
          </p:cNvPr>
          <p:cNvSpPr/>
          <p:nvPr/>
        </p:nvSpPr>
        <p:spPr>
          <a:xfrm>
            <a:off x="7896240" y="4025159"/>
            <a:ext cx="133200" cy="1242721"/>
          </a:xfrm>
          <a:prstGeom prst="line">
            <a:avLst/>
          </a:prstGeom>
          <a:noFill/>
          <a:ln w="0">
            <a:solidFill>
              <a:srgbClr val="FF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3FE0A2D7-CF8E-03D6-29ED-047BC5B433F1}"/>
              </a:ext>
            </a:extLst>
          </p:cNvPr>
          <p:cNvSpPr/>
          <p:nvPr/>
        </p:nvSpPr>
        <p:spPr>
          <a:xfrm>
            <a:off x="6095880" y="5751360"/>
            <a:ext cx="1266839" cy="1173960"/>
          </a:xfrm>
          <a:prstGeom prst="line">
            <a:avLst/>
          </a:prstGeom>
          <a:noFill/>
          <a:ln w="0">
            <a:solidFill>
              <a:srgbClr val="FF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93593271-B340-97AD-FFCF-F025563F2624}"/>
              </a:ext>
            </a:extLst>
          </p:cNvPr>
          <p:cNvSpPr/>
          <p:nvPr/>
        </p:nvSpPr>
        <p:spPr>
          <a:xfrm flipV="1">
            <a:off x="3629160" y="5751360"/>
            <a:ext cx="2467080" cy="69120"/>
          </a:xfrm>
          <a:prstGeom prst="line">
            <a:avLst/>
          </a:prstGeom>
          <a:noFill/>
          <a:ln w="0">
            <a:solidFill>
              <a:srgbClr val="FF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8BA59140-95C5-4895-3CC4-A30178ABE887}"/>
              </a:ext>
            </a:extLst>
          </p:cNvPr>
          <p:cNvSpPr/>
          <p:nvPr/>
        </p:nvSpPr>
        <p:spPr>
          <a:xfrm flipV="1">
            <a:off x="3629160" y="4025159"/>
            <a:ext cx="3000240" cy="1795321"/>
          </a:xfrm>
          <a:prstGeom prst="line">
            <a:avLst/>
          </a:prstGeom>
          <a:noFill/>
          <a:ln w="0">
            <a:solidFill>
              <a:srgbClr val="FF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2F5989CA-FA1F-A6B1-42AB-8D98BE106A85}"/>
              </a:ext>
            </a:extLst>
          </p:cNvPr>
          <p:cNvSpPr/>
          <p:nvPr/>
        </p:nvSpPr>
        <p:spPr>
          <a:xfrm>
            <a:off x="2095560" y="4094280"/>
            <a:ext cx="1533600" cy="69120"/>
          </a:xfrm>
          <a:prstGeom prst="line">
            <a:avLst/>
          </a:prstGeom>
          <a:noFill/>
          <a:ln w="91440">
            <a:solidFill>
              <a:srgbClr val="009900"/>
            </a:solidFill>
            <a:prstDash val="solid"/>
          </a:ln>
        </p:spPr>
        <p:txBody>
          <a:bodyPr wrap="none" lIns="135720" tIns="90720" rIns="135720" bIns="9072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2FDB747-4B53-E25C-1079-7F2FB77C0613}"/>
              </a:ext>
            </a:extLst>
          </p:cNvPr>
          <p:cNvSpPr/>
          <p:nvPr/>
        </p:nvSpPr>
        <p:spPr>
          <a:xfrm>
            <a:off x="2028960" y="5820480"/>
            <a:ext cx="1600200" cy="0"/>
          </a:xfrm>
          <a:prstGeom prst="line">
            <a:avLst/>
          </a:prstGeom>
          <a:noFill/>
          <a:ln w="91440">
            <a:solidFill>
              <a:srgbClr val="009900"/>
            </a:solidFill>
            <a:prstDash val="solid"/>
          </a:ln>
        </p:spPr>
        <p:txBody>
          <a:bodyPr wrap="none" lIns="135720" tIns="90720" rIns="135720" bIns="9072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8468334-130D-8AC6-4016-915404DEB39B}"/>
              </a:ext>
            </a:extLst>
          </p:cNvPr>
          <p:cNvSpPr/>
          <p:nvPr/>
        </p:nvSpPr>
        <p:spPr>
          <a:xfrm>
            <a:off x="6629400" y="4025159"/>
            <a:ext cx="1266840" cy="0"/>
          </a:xfrm>
          <a:prstGeom prst="line">
            <a:avLst/>
          </a:prstGeom>
          <a:noFill/>
          <a:ln w="91440">
            <a:solidFill>
              <a:srgbClr val="009900"/>
            </a:solidFill>
            <a:prstDash val="solid"/>
          </a:ln>
        </p:spPr>
        <p:txBody>
          <a:bodyPr wrap="none" lIns="135720" tIns="90720" rIns="135720" bIns="9072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BE4819CD-7295-6B9C-2F0A-58407DE65C09}"/>
              </a:ext>
            </a:extLst>
          </p:cNvPr>
          <p:cNvSpPr/>
          <p:nvPr/>
        </p:nvSpPr>
        <p:spPr>
          <a:xfrm>
            <a:off x="6095880" y="5751360"/>
            <a:ext cx="1266839" cy="1173960"/>
          </a:xfrm>
          <a:prstGeom prst="line">
            <a:avLst/>
          </a:prstGeom>
          <a:noFill/>
          <a:ln w="91440">
            <a:solidFill>
              <a:srgbClr val="009900"/>
            </a:solidFill>
            <a:prstDash val="solid"/>
          </a:ln>
        </p:spPr>
        <p:txBody>
          <a:bodyPr wrap="none" lIns="135720" tIns="90720" rIns="135720" bIns="9072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0B661DA-89EE-13B3-49B9-0A1EA19561C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280" y="251280"/>
            <a:ext cx="8734319" cy="1008359"/>
          </a:xfrm>
        </p:spPr>
        <p:txBody>
          <a:bodyPr vert="horz"/>
          <a:lstStyle/>
          <a:p>
            <a:pPr lvl="0" rtl="1"/>
            <a:r>
              <a:rPr lang="he-IL" b="1">
                <a:latin typeface="Liberation Sans" pitchFamily="34"/>
                <a:cs typeface="Liberation Sans" pitchFamily="34"/>
              </a:rPr>
              <a:t>מציאת שידוך גדול ביותר</a:t>
            </a:r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BA6AD4EF-8CCA-010D-4757-11B4A6649648}"/>
              </a:ext>
            </a:extLst>
          </p:cNvPr>
          <p:cNvSpPr/>
          <p:nvPr/>
        </p:nvSpPr>
        <p:spPr>
          <a:xfrm>
            <a:off x="1895400" y="3887279"/>
            <a:ext cx="399960" cy="4831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2508B0-A9AC-AEA2-DA99-BEDB54009E33}"/>
              </a:ext>
            </a:extLst>
          </p:cNvPr>
          <p:cNvSpPr txBox="1"/>
          <p:nvPr/>
        </p:nvSpPr>
        <p:spPr>
          <a:xfrm>
            <a:off x="97966" y="1188719"/>
            <a:ext cx="9228914" cy="2745452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נחפש שידוך גדול ביותר בגרף ההתאמות.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*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שימו לב שהגרף אינו דו-צדדי.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*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"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הפרחים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"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(blossom) של אדמונדס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Edmonds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מוצא שידוך בזמן פולי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נומיאלי.</a:t>
            </a:r>
            <a:endParaRPr lang="en-US" sz="3600" b="0" i="0" u="none" strike="noStrike" kern="1200" cap="none">
              <a:ln>
                <a:noFill/>
              </a:ln>
              <a:solidFill>
                <a:srgbClr val="00A933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solidFill>
                <a:srgbClr val="00A933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  <p:sp>
        <p:nvSpPr>
          <p:cNvPr id="9" name="Free-form: Shape 8">
            <a:extLst>
              <a:ext uri="{FF2B5EF4-FFF2-40B4-BE49-F238E27FC236}">
                <a16:creationId xmlns:a16="http://schemas.microsoft.com/office/drawing/2014/main" id="{C745B37E-4C84-28B0-1B9C-FCE4AE8FF2B6}"/>
              </a:ext>
            </a:extLst>
          </p:cNvPr>
          <p:cNvSpPr/>
          <p:nvPr/>
        </p:nvSpPr>
        <p:spPr>
          <a:xfrm>
            <a:off x="3429000" y="3887279"/>
            <a:ext cx="399960" cy="4831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b</a:t>
            </a:r>
          </a:p>
        </p:txBody>
      </p:sp>
      <p:sp>
        <p:nvSpPr>
          <p:cNvPr id="10" name="Free-form: Shape 9">
            <a:extLst>
              <a:ext uri="{FF2B5EF4-FFF2-40B4-BE49-F238E27FC236}">
                <a16:creationId xmlns:a16="http://schemas.microsoft.com/office/drawing/2014/main" id="{CB06F35C-D2EE-40E3-92C4-333E713099FD}"/>
              </a:ext>
            </a:extLst>
          </p:cNvPr>
          <p:cNvSpPr/>
          <p:nvPr/>
        </p:nvSpPr>
        <p:spPr>
          <a:xfrm>
            <a:off x="1828800" y="5544360"/>
            <a:ext cx="399960" cy="4831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c</a:t>
            </a:r>
          </a:p>
        </p:txBody>
      </p:sp>
      <p:sp>
        <p:nvSpPr>
          <p:cNvPr id="11" name="Free-form: Shape 10">
            <a:extLst>
              <a:ext uri="{FF2B5EF4-FFF2-40B4-BE49-F238E27FC236}">
                <a16:creationId xmlns:a16="http://schemas.microsoft.com/office/drawing/2014/main" id="{1D7D03FB-8375-1A6B-DF1C-9F209A9ACADC}"/>
              </a:ext>
            </a:extLst>
          </p:cNvPr>
          <p:cNvSpPr/>
          <p:nvPr/>
        </p:nvSpPr>
        <p:spPr>
          <a:xfrm>
            <a:off x="3429000" y="5544360"/>
            <a:ext cx="399960" cy="4831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d</a:t>
            </a:r>
          </a:p>
        </p:txBody>
      </p:sp>
      <p:sp>
        <p:nvSpPr>
          <p:cNvPr id="12" name="Free-form: Shape 11">
            <a:extLst>
              <a:ext uri="{FF2B5EF4-FFF2-40B4-BE49-F238E27FC236}">
                <a16:creationId xmlns:a16="http://schemas.microsoft.com/office/drawing/2014/main" id="{AD3E401A-BB5B-47D6-2A65-9A16ADAB012B}"/>
              </a:ext>
            </a:extLst>
          </p:cNvPr>
          <p:cNvSpPr/>
          <p:nvPr/>
        </p:nvSpPr>
        <p:spPr>
          <a:xfrm>
            <a:off x="5896080" y="5544360"/>
            <a:ext cx="399960" cy="4831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h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62FADA7D-8EBE-616B-5632-7DB5575E8494}"/>
              </a:ext>
            </a:extLst>
          </p:cNvPr>
          <p:cNvSpPr/>
          <p:nvPr/>
        </p:nvSpPr>
        <p:spPr>
          <a:xfrm flipH="1">
            <a:off x="2028960" y="4094280"/>
            <a:ext cx="66600" cy="1726200"/>
          </a:xfrm>
          <a:prstGeom prst="line">
            <a:avLst/>
          </a:prstGeom>
          <a:noFill/>
          <a:ln w="0">
            <a:solidFill>
              <a:srgbClr val="FF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0B5C9C8A-3963-4A14-ADED-C2E28432E7EF}"/>
              </a:ext>
            </a:extLst>
          </p:cNvPr>
          <p:cNvSpPr/>
          <p:nvPr/>
        </p:nvSpPr>
        <p:spPr>
          <a:xfrm>
            <a:off x="2095560" y="4094280"/>
            <a:ext cx="1533600" cy="69120"/>
          </a:xfrm>
          <a:prstGeom prst="line">
            <a:avLst/>
          </a:prstGeom>
          <a:noFill/>
          <a:ln w="0">
            <a:solidFill>
              <a:srgbClr val="FF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F140A519-02C4-2DA6-F6D7-97A02922A5E2}"/>
              </a:ext>
            </a:extLst>
          </p:cNvPr>
          <p:cNvSpPr/>
          <p:nvPr/>
        </p:nvSpPr>
        <p:spPr>
          <a:xfrm>
            <a:off x="3629160" y="4163400"/>
            <a:ext cx="0" cy="1657080"/>
          </a:xfrm>
          <a:prstGeom prst="line">
            <a:avLst/>
          </a:prstGeom>
          <a:noFill/>
          <a:ln w="0">
            <a:solidFill>
              <a:srgbClr val="FF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6" name="Free-form: Shape 15">
            <a:extLst>
              <a:ext uri="{FF2B5EF4-FFF2-40B4-BE49-F238E27FC236}">
                <a16:creationId xmlns:a16="http://schemas.microsoft.com/office/drawing/2014/main" id="{84E262DB-BE4D-5AEC-76F9-DC46F5F308C2}"/>
              </a:ext>
            </a:extLst>
          </p:cNvPr>
          <p:cNvSpPr/>
          <p:nvPr/>
        </p:nvSpPr>
        <p:spPr>
          <a:xfrm>
            <a:off x="7763040" y="3749040"/>
            <a:ext cx="399960" cy="4834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f</a:t>
            </a:r>
          </a:p>
        </p:txBody>
      </p:sp>
      <p:sp>
        <p:nvSpPr>
          <p:cNvPr id="17" name="Free-form: Shape 16">
            <a:extLst>
              <a:ext uri="{FF2B5EF4-FFF2-40B4-BE49-F238E27FC236}">
                <a16:creationId xmlns:a16="http://schemas.microsoft.com/office/drawing/2014/main" id="{F1FF36B5-1A46-FFDA-1C79-1B6FD2EC78A1}"/>
              </a:ext>
            </a:extLst>
          </p:cNvPr>
          <p:cNvSpPr/>
          <p:nvPr/>
        </p:nvSpPr>
        <p:spPr>
          <a:xfrm>
            <a:off x="7829640" y="5060880"/>
            <a:ext cx="399960" cy="4834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g</a:t>
            </a:r>
          </a:p>
        </p:txBody>
      </p:sp>
      <p:sp>
        <p:nvSpPr>
          <p:cNvPr id="18" name="Free-form: Shape 17">
            <a:extLst>
              <a:ext uri="{FF2B5EF4-FFF2-40B4-BE49-F238E27FC236}">
                <a16:creationId xmlns:a16="http://schemas.microsoft.com/office/drawing/2014/main" id="{F175A3F4-FCA5-ECFA-63DD-F7602C787B4B}"/>
              </a:ext>
            </a:extLst>
          </p:cNvPr>
          <p:cNvSpPr/>
          <p:nvPr/>
        </p:nvSpPr>
        <p:spPr>
          <a:xfrm>
            <a:off x="6362640" y="3818160"/>
            <a:ext cx="399960" cy="4831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e</a:t>
            </a:r>
          </a:p>
        </p:txBody>
      </p:sp>
      <p:sp>
        <p:nvSpPr>
          <p:cNvPr id="19" name="Free-form: Shape 18">
            <a:extLst>
              <a:ext uri="{FF2B5EF4-FFF2-40B4-BE49-F238E27FC236}">
                <a16:creationId xmlns:a16="http://schemas.microsoft.com/office/drawing/2014/main" id="{FE8ADFE9-6C2C-B65B-D116-432FD2E1164B}"/>
              </a:ext>
            </a:extLst>
          </p:cNvPr>
          <p:cNvSpPr/>
          <p:nvPr/>
        </p:nvSpPr>
        <p:spPr>
          <a:xfrm>
            <a:off x="7095960" y="6648839"/>
            <a:ext cx="400320" cy="4834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i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FA289408-8DB6-9002-27B0-B2C0DA2B8381}"/>
              </a:ext>
            </a:extLst>
          </p:cNvPr>
          <p:cNvSpPr/>
          <p:nvPr/>
        </p:nvSpPr>
        <p:spPr>
          <a:xfrm>
            <a:off x="2028960" y="5820480"/>
            <a:ext cx="1600200" cy="0"/>
          </a:xfrm>
          <a:prstGeom prst="line">
            <a:avLst/>
          </a:prstGeom>
          <a:noFill/>
          <a:ln w="0">
            <a:solidFill>
              <a:srgbClr val="FF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172E0B3F-E4A5-D072-BD54-F6E7D3CEF642}"/>
              </a:ext>
            </a:extLst>
          </p:cNvPr>
          <p:cNvSpPr/>
          <p:nvPr/>
        </p:nvSpPr>
        <p:spPr>
          <a:xfrm>
            <a:off x="6629400" y="4025159"/>
            <a:ext cx="1400040" cy="1242721"/>
          </a:xfrm>
          <a:prstGeom prst="line">
            <a:avLst/>
          </a:prstGeom>
          <a:noFill/>
          <a:ln w="0">
            <a:solidFill>
              <a:srgbClr val="FF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F80F94AF-4D1E-B32B-C519-910E5C0D1757}"/>
              </a:ext>
            </a:extLst>
          </p:cNvPr>
          <p:cNvSpPr/>
          <p:nvPr/>
        </p:nvSpPr>
        <p:spPr>
          <a:xfrm>
            <a:off x="6629400" y="4025159"/>
            <a:ext cx="1266840" cy="0"/>
          </a:xfrm>
          <a:prstGeom prst="line">
            <a:avLst/>
          </a:prstGeom>
          <a:noFill/>
          <a:ln w="0">
            <a:solidFill>
              <a:srgbClr val="FF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FFD4B8B3-C500-F035-2FC4-DB1F356A09E2}"/>
              </a:ext>
            </a:extLst>
          </p:cNvPr>
          <p:cNvSpPr/>
          <p:nvPr/>
        </p:nvSpPr>
        <p:spPr>
          <a:xfrm>
            <a:off x="7896240" y="4025159"/>
            <a:ext cx="133200" cy="1242721"/>
          </a:xfrm>
          <a:prstGeom prst="line">
            <a:avLst/>
          </a:prstGeom>
          <a:noFill/>
          <a:ln w="0">
            <a:solidFill>
              <a:srgbClr val="FF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ED982D41-9684-0628-E2BA-F0EB8700085D}"/>
              </a:ext>
            </a:extLst>
          </p:cNvPr>
          <p:cNvSpPr/>
          <p:nvPr/>
        </p:nvSpPr>
        <p:spPr>
          <a:xfrm>
            <a:off x="6095880" y="5751360"/>
            <a:ext cx="1266839" cy="1173960"/>
          </a:xfrm>
          <a:prstGeom prst="line">
            <a:avLst/>
          </a:prstGeom>
          <a:noFill/>
          <a:ln w="0">
            <a:solidFill>
              <a:srgbClr val="FF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9DEBAC79-BE61-D30D-C2B5-779606832E68}"/>
              </a:ext>
            </a:extLst>
          </p:cNvPr>
          <p:cNvSpPr/>
          <p:nvPr/>
        </p:nvSpPr>
        <p:spPr>
          <a:xfrm flipV="1">
            <a:off x="3629160" y="5751360"/>
            <a:ext cx="2467080" cy="69120"/>
          </a:xfrm>
          <a:prstGeom prst="line">
            <a:avLst/>
          </a:prstGeom>
          <a:noFill/>
          <a:ln w="0">
            <a:solidFill>
              <a:srgbClr val="FF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B27F2C69-B2D9-FA6C-C76C-731E58BDAE38}"/>
              </a:ext>
            </a:extLst>
          </p:cNvPr>
          <p:cNvSpPr/>
          <p:nvPr/>
        </p:nvSpPr>
        <p:spPr>
          <a:xfrm flipV="1">
            <a:off x="3629160" y="4025159"/>
            <a:ext cx="3000240" cy="1795321"/>
          </a:xfrm>
          <a:prstGeom prst="line">
            <a:avLst/>
          </a:prstGeom>
          <a:noFill/>
          <a:ln w="0">
            <a:solidFill>
              <a:srgbClr val="FF0000"/>
            </a:solidFill>
            <a:prstDash val="solid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A7E560-31FA-AB93-D99A-637EE8513753}"/>
              </a:ext>
            </a:extLst>
          </p:cNvPr>
          <p:cNvSpPr txBox="1"/>
          <p:nvPr/>
        </p:nvSpPr>
        <p:spPr>
          <a:xfrm>
            <a:off x="457200" y="6730920"/>
            <a:ext cx="6035040" cy="584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600" b="0" i="0" u="none" strike="noStrike" kern="1200" cap="none">
                <a:ln>
                  <a:noFill/>
                </a:ln>
                <a:latin typeface="Courier New" pitchFamily="49"/>
                <a:ea typeface="Noto Sans CJK SC Regular" pitchFamily="2"/>
                <a:cs typeface="Nachlieli CLM" pitchFamily="2"/>
              </a:rPr>
              <a:t>networkx.max_weight_matching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7A770-B886-4943-BACF-82DA53F315D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280" y="251280"/>
            <a:ext cx="8734319" cy="1008359"/>
          </a:xfrm>
        </p:spPr>
        <p:txBody>
          <a:bodyPr vert="horz"/>
          <a:lstStyle/>
          <a:p>
            <a:pPr lvl="0" rtl="1"/>
            <a:r>
              <a:rPr lang="he-IL" b="1">
                <a:latin typeface="Liberation Sans" pitchFamily="34"/>
                <a:cs typeface="Liberation Sans" pitchFamily="34"/>
              </a:rPr>
              <a:t>מציאת שידוך גדול ביותר - עדיפויות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F240E6-C589-63C5-E05D-14AE4D82E193}"/>
              </a:ext>
            </a:extLst>
          </p:cNvPr>
          <p:cNvSpPr txBox="1"/>
          <p:nvPr/>
        </p:nvSpPr>
        <p:spPr>
          <a:xfrm>
            <a:off x="266066" y="1327952"/>
            <a:ext cx="9814559" cy="221453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במציאות, לצלעות שונות יש עדיפויות שונות, למשל: בגלל דחיפות רפואית, סיכויי הצלחה, וכו’.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אנחנו רוצים להבטיח, שצלעות בעדיפות גבוהה ייבחרו לפני צלעות בעדיפות נמוכה.</a:t>
            </a:r>
          </a:p>
        </p:txBody>
      </p:sp>
      <p:pic>
        <p:nvPicPr>
          <p:cNvPr id="30" name="Picture 29" descr="A diagram of a network&#10;&#10;AI-generated content may be incorrect.">
            <a:extLst>
              <a:ext uri="{FF2B5EF4-FFF2-40B4-BE49-F238E27FC236}">
                <a16:creationId xmlns:a16="http://schemas.microsoft.com/office/drawing/2014/main" id="{34BE3049-476F-49DA-58FE-159FDC527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370" y="3779837"/>
            <a:ext cx="7059010" cy="33342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A69DE82-F460-483B-CBD2-447977E4C7D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280" y="251280"/>
            <a:ext cx="8734319" cy="1008359"/>
          </a:xfrm>
        </p:spPr>
        <p:txBody>
          <a:bodyPr vert="horz"/>
          <a:lstStyle/>
          <a:p>
            <a:pPr lvl="0" rtl="1"/>
            <a:r>
              <a:rPr lang="he-IL" b="1">
                <a:latin typeface="Liberation Sans" pitchFamily="34"/>
                <a:cs typeface="Liberation Sans" pitchFamily="34"/>
              </a:rPr>
              <a:t>מציאת שידוך גדול ביותר - עדיפויות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F33F18-D0A7-CE9C-6C2C-5D3B6D41917E}"/>
              </a:ext>
            </a:extLst>
          </p:cNvPr>
          <p:cNvSpPr txBox="1"/>
          <p:nvPr/>
        </p:nvSpPr>
        <p:spPr>
          <a:xfrm>
            <a:off x="133350" y="1280520"/>
            <a:ext cx="9833609" cy="168362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האלגוריתם הקיים מוצא שידוך שבו 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סכום המשקלים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הוא הגדול ביותר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איך נתאים אותו לעדיפויות?</a:t>
            </a:r>
          </a:p>
        </p:txBody>
      </p:sp>
      <p:pic>
        <p:nvPicPr>
          <p:cNvPr id="30" name="Picture 29" descr="A diagram of a network&#10;&#10;AI-generated content may be incorrect.">
            <a:extLst>
              <a:ext uri="{FF2B5EF4-FFF2-40B4-BE49-F238E27FC236}">
                <a16:creationId xmlns:a16="http://schemas.microsoft.com/office/drawing/2014/main" id="{722C0975-1D8C-7701-29C5-E19C28AC5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370" y="3779837"/>
            <a:ext cx="7059010" cy="33342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BBF94E8-AB9C-EC9F-9253-B61396B481B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280" y="251280"/>
            <a:ext cx="8734319" cy="1008359"/>
          </a:xfrm>
        </p:spPr>
        <p:txBody>
          <a:bodyPr vert="horz"/>
          <a:lstStyle/>
          <a:p>
            <a:pPr lvl="0" rtl="1"/>
            <a:r>
              <a:rPr lang="he-IL" b="1">
                <a:latin typeface="Liberation Sans" pitchFamily="34"/>
                <a:cs typeface="Liberation Sans" pitchFamily="34"/>
              </a:rPr>
              <a:t>רדוקציה מעדיפויות למשקלים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F309D0-E524-439D-CB65-DC41B5E2EA47}"/>
              </a:ext>
            </a:extLst>
          </p:cNvPr>
          <p:cNvSpPr txBox="1"/>
          <p:nvPr/>
        </p:nvSpPr>
        <p:spPr>
          <a:xfrm>
            <a:off x="223520" y="1099080"/>
            <a:ext cx="9765039" cy="256828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- נסדר את הצלעות מהעדיפות הנמוכה לגבוהה.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- ניתן לצלע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ה-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בסדר הזה משקל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2 בחזקת </a:t>
            </a:r>
            <a:r>
              <a:rPr lang="en-US" sz="3600" b="1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0" i="0" u="none" strike="noStrike" kern="1200" cap="none">
              <a:ln>
                <a:noFill/>
              </a:ln>
              <a:solidFill>
                <a:srgbClr val="2A6099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069A2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המשקל של כל צלע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69A2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e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69A2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&gt;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69A2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סכום המשקלים של כל הקשתות עם עדיפות נמוכה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69A2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מ-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69A2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e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69A2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לכן האלגוריתם יעדיף שידוך עם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e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על פני כל שידוך עם קשתות בעדיפות נמוכה יותר.</a:t>
            </a:r>
          </a:p>
        </p:txBody>
      </p:sp>
      <p:pic>
        <p:nvPicPr>
          <p:cNvPr id="30" name="Picture 29" descr="A diagram of a network&#10;&#10;AI-generated content may be incorrect.">
            <a:extLst>
              <a:ext uri="{FF2B5EF4-FFF2-40B4-BE49-F238E27FC236}">
                <a16:creationId xmlns:a16="http://schemas.microsoft.com/office/drawing/2014/main" id="{AC4B8D6F-EEF6-DD50-D1D5-1CE315FEB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271" y="3779837"/>
            <a:ext cx="6525536" cy="341042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64D3AD-744D-74AB-FEC1-723BB719B05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57200" y="904319"/>
            <a:ext cx="7406640" cy="667152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6C4649-B667-4886-A84B-F06EF33D208D}"/>
              </a:ext>
            </a:extLst>
          </p:cNvPr>
          <p:cNvSpPr txBox="1"/>
          <p:nvPr/>
        </p:nvSpPr>
        <p:spPr>
          <a:xfrm>
            <a:off x="91440" y="6746040"/>
            <a:ext cx="2743199" cy="10263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000"/>
            </a:pPr>
            <a:r>
              <a:rPr lang="en-US" sz="2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  <a:hlinkClick r:id="rId4"/>
              </a:rPr>
              <a:t>Ynet 17/12/2019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000"/>
            </a:pPr>
            <a:endParaRPr lang="en-US" sz="40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BBE23C-F480-CFA5-DC6D-22EBF7DACE65}"/>
              </a:ext>
            </a:extLst>
          </p:cNvPr>
          <p:cNvSpPr txBox="1"/>
          <p:nvPr/>
        </p:nvSpPr>
        <p:spPr>
          <a:xfrm>
            <a:off x="7040880" y="7011360"/>
            <a:ext cx="3108959" cy="5644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he-IL" sz="32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  <a:hlinkClick r:id="rId5"/>
              </a:rPr>
              <a:t>משרד הבריאות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9526F9-A895-839F-4C40-DA8C49C831B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72720"/>
            <a:ext cx="9897119" cy="625320"/>
          </a:xfrm>
        </p:spPr>
        <p:txBody>
          <a:bodyPr vert="horz"/>
          <a:lstStyle/>
          <a:p>
            <a:pPr lvl="0" rtl="1"/>
            <a:r>
              <a:rPr lang="he-IL" b="1">
                <a:latin typeface="Liberation Sans" pitchFamily="34"/>
                <a:cs typeface="Liberation Sans" pitchFamily="34"/>
              </a:rPr>
              <a:t>מעבר לזוגות – מעגלי-החלפה באורך </a:t>
            </a:r>
            <a:r>
              <a:rPr lang="en-US" b="1">
                <a:latin typeface="Liberation Sans" pitchFamily="34"/>
                <a:cs typeface="Liberation Sans" pitchFamily="34"/>
              </a:rPr>
              <a:t>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37F46-B8B4-57CE-7F8F-183F71A1B4C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130320"/>
            <a:ext cx="9897119" cy="1250280"/>
          </a:xfrm>
        </p:spPr>
        <p:txBody>
          <a:bodyPr vert="horz"/>
          <a:lstStyle/>
          <a:p>
            <a:pPr lvl="0" rtl="1"/>
            <a:r>
              <a:rPr lang="he-IL" b="1">
                <a:latin typeface="Liberation Sans" pitchFamily="34"/>
                <a:cs typeface="Liberation Sans" pitchFamily="34"/>
              </a:rPr>
              <a:t>מעגלי-החלפה באורך </a:t>
            </a:r>
            <a:r>
              <a:rPr lang="en-US" b="1">
                <a:latin typeface="Liberation Sans" pitchFamily="34"/>
                <a:cs typeface="Liberation Sans" pitchFamily="34"/>
              </a:rPr>
              <a:t>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9EB215-3B08-8463-8893-9E613E602FF3}"/>
              </a:ext>
            </a:extLst>
          </p:cNvPr>
          <p:cNvSpPr txBox="1"/>
          <p:nvPr/>
        </p:nvSpPr>
        <p:spPr>
          <a:xfrm>
            <a:off x="323850" y="1224720"/>
            <a:ext cx="9643110" cy="539944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55308D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נניח שאפשר לבצע מעגלי-החלפה באורך לכל היותר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5308D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L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5308D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5308D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כאשר L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5308D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5308D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לפחות 3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5308D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55308D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נייצג את הבעיה כגרף </a:t>
            </a:r>
            <a:r>
              <a:rPr lang="he-IL" sz="4000" b="1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מכוון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של זוגות: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solidFill>
                <a:srgbClr val="55308D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solidFill>
                <a:srgbClr val="55308D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solidFill>
                <a:srgbClr val="55308D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solidFill>
                <a:srgbClr val="55308D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solidFill>
                <a:srgbClr val="55308D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solidFill>
                <a:srgbClr val="5983B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E70EEC-6078-6DF0-C673-E5720DF588E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079720" y="3339000"/>
            <a:ext cx="6095519" cy="29142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8164C7-C4C2-09FB-A7C4-FF89AB1A0AFC}"/>
              </a:ext>
            </a:extLst>
          </p:cNvPr>
          <p:cNvSpPr txBox="1"/>
          <p:nvPr/>
        </p:nvSpPr>
        <p:spPr>
          <a:xfrm>
            <a:off x="0" y="6766920"/>
            <a:ext cx="10045440" cy="682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/>
            </a:pPr>
            <a:r>
              <a:rPr lang="he-IL" sz="14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הגרף מתוך המאמר: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/>
            </a:pPr>
            <a:r>
              <a:rPr lang="en-US" sz="14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Abraham, David J.; Blum, Avrim; Sandholm, Tuomas (2007-06-11).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/>
            </a:pPr>
            <a:r>
              <a:rPr lang="en-US" sz="14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    "Clearing algorithms for barter exchange markets: enabling nationwide kidney exchanges".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54CCD-5C38-1776-A5FB-27C3A67E944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130320"/>
            <a:ext cx="9897119" cy="1250280"/>
          </a:xfrm>
        </p:spPr>
        <p:txBody>
          <a:bodyPr vert="horz"/>
          <a:lstStyle/>
          <a:p>
            <a:pPr lvl="0" rtl="1"/>
            <a:r>
              <a:rPr lang="he-IL" b="1">
                <a:latin typeface="Liberation Sans" pitchFamily="34"/>
                <a:cs typeface="Liberation Sans" pitchFamily="34"/>
              </a:rPr>
              <a:t>מעגלי-החלפה באורך </a:t>
            </a:r>
            <a:r>
              <a:rPr lang="en-US" b="1">
                <a:latin typeface="Liberation Sans" pitchFamily="34"/>
                <a:cs typeface="Liberation Sans" pitchFamily="34"/>
              </a:rPr>
              <a:t>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9E72E6-E580-F588-FA8B-71CF5FEB01E6}"/>
              </a:ext>
            </a:extLst>
          </p:cNvPr>
          <p:cNvSpPr txBox="1"/>
          <p:nvPr/>
        </p:nvSpPr>
        <p:spPr>
          <a:xfrm>
            <a:off x="419100" y="1224720"/>
            <a:ext cx="9547860" cy="539944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המטרה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למצוא אוסף של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מעגלים מכוונים </a:t>
            </a:r>
            <a:r>
              <a:rPr lang="en-US" sz="4000" b="1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זרים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באורך לכל היותר L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כך שמספר הצמתים המכוסים הוא גדול ביותר.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endParaRPr lang="en-US" sz="4000" b="0" i="0" u="none" strike="noStrike" kern="1200" cap="none">
              <a:ln>
                <a:noFill/>
              </a:ln>
              <a:solidFill>
                <a:srgbClr val="55308D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endParaRPr lang="en-US" sz="4000" b="0" i="0" u="none" strike="noStrike" kern="1200" cap="none">
              <a:ln>
                <a:noFill/>
              </a:ln>
              <a:solidFill>
                <a:srgbClr val="55308D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endParaRPr lang="en-US" sz="4000" b="0" i="0" u="none" strike="noStrike" kern="1200" cap="none">
              <a:ln>
                <a:noFill/>
              </a:ln>
              <a:solidFill>
                <a:srgbClr val="55308D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endParaRPr lang="en-US" sz="4000" b="0" i="0" u="none" strike="noStrike" kern="1200" cap="none">
              <a:ln>
                <a:noFill/>
              </a:ln>
              <a:solidFill>
                <a:srgbClr val="55308D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endParaRPr lang="en-US" sz="4000" b="0" i="0" u="none" strike="noStrike" kern="1200" cap="none">
              <a:ln>
                <a:noFill/>
              </a:ln>
              <a:solidFill>
                <a:srgbClr val="55308D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endParaRPr lang="en-US" sz="4000" b="0" i="0" u="none" strike="noStrike" kern="1200" cap="none">
              <a:ln>
                <a:noFill/>
              </a:ln>
              <a:solidFill>
                <a:srgbClr val="5983B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23AAF3-ADC4-B5D3-F154-666F613C50E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079720" y="3339000"/>
            <a:ext cx="6095519" cy="29142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0CC4C3-C9BB-B9F1-DD90-297147DB147F}"/>
              </a:ext>
            </a:extLst>
          </p:cNvPr>
          <p:cNvSpPr txBox="1"/>
          <p:nvPr/>
        </p:nvSpPr>
        <p:spPr>
          <a:xfrm>
            <a:off x="325440" y="6126480"/>
            <a:ext cx="9641519" cy="1250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rgbClr val="C9211E"/>
                </a:solidFill>
              </a:defRPr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הבעיה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NP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קשה לכל L ≥ 3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rgbClr val="C9211E"/>
                </a:solidFill>
              </a:defRPr>
            </a:pPr>
            <a:r>
              <a:rPr lang="he-IL" sz="4000"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                                         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מה עושים?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9ADE2-6E38-0D70-AD43-A601348FBF3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130320"/>
            <a:ext cx="9897119" cy="1250280"/>
          </a:xfrm>
        </p:spPr>
        <p:txBody>
          <a:bodyPr vert="horz"/>
          <a:lstStyle/>
          <a:p>
            <a:pPr lvl="0" rtl="1"/>
            <a:r>
              <a:rPr lang="he-IL" b="1">
                <a:latin typeface="Liberation Sans" pitchFamily="34"/>
                <a:cs typeface="Liberation Sans" pitchFamily="34"/>
              </a:rPr>
              <a:t>מעגלי-החלפה באורך </a:t>
            </a:r>
            <a:r>
              <a:rPr lang="en-US" b="1">
                <a:latin typeface="Liberation Sans" pitchFamily="34"/>
                <a:cs typeface="Liberation Sans" pitchFamily="34"/>
              </a:rPr>
              <a:t>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DDC49F-CC1E-CE3E-311D-4948CA1613EE}"/>
              </a:ext>
            </a:extLst>
          </p:cNvPr>
          <p:cNvSpPr txBox="1"/>
          <p:nvPr/>
        </p:nvSpPr>
        <p:spPr>
          <a:xfrm>
            <a:off x="642251" y="1224720"/>
            <a:ext cx="9324709" cy="2450243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יש שתי גישות לפתרון בעיה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NP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קשה:</a:t>
            </a:r>
          </a:p>
          <a:p>
            <a:pPr marL="0" marR="0" lvl="1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א. פתרון אופטימלי-בקירוב בזמן פולינומי;</a:t>
            </a:r>
          </a:p>
          <a:p>
            <a:pPr marL="0" marR="0" lvl="1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ב. פתרון אופטימלי-ממש בזמן מעריכי.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66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מה לדעתכם הפתרון המתאים לבעיה שלנו?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68D1A-EE09-E1A9-FCE8-8A0D63472BA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130320"/>
            <a:ext cx="9897119" cy="1250280"/>
          </a:xfrm>
        </p:spPr>
        <p:txBody>
          <a:bodyPr vert="horz"/>
          <a:lstStyle/>
          <a:p>
            <a:pPr lvl="0" rtl="1"/>
            <a:r>
              <a:rPr lang="he-IL" b="1">
                <a:latin typeface="Liberation Sans" pitchFamily="34"/>
                <a:cs typeface="Liberation Sans" pitchFamily="34"/>
              </a:rPr>
              <a:t>מעגלי-החלפה באורך </a:t>
            </a:r>
            <a:r>
              <a:rPr lang="en-US" b="1">
                <a:latin typeface="Liberation Sans" pitchFamily="34"/>
                <a:cs typeface="Liberation Sans" pitchFamily="34"/>
              </a:rPr>
              <a:t>L</a:t>
            </a:r>
            <a:r>
              <a:rPr lang="he-IL" b="1">
                <a:latin typeface="Liberation Sans" pitchFamily="34"/>
                <a:cs typeface="Liberation Sans" pitchFamily="34"/>
              </a:rPr>
              <a:t> </a:t>
            </a:r>
            <a:r>
              <a:rPr lang="en-US" b="1">
                <a:latin typeface="Liberation Sans" pitchFamily="34"/>
                <a:cs typeface="Liberation Sans" pitchFamily="34"/>
              </a:rPr>
              <a:t>–</a:t>
            </a:r>
            <a:br>
              <a:rPr lang="en-US" b="1">
                <a:latin typeface="Liberation Sans" pitchFamily="34"/>
                <a:cs typeface="Liberation Sans" pitchFamily="34"/>
              </a:rPr>
            </a:br>
            <a:r>
              <a:rPr lang="he-IL" b="1">
                <a:latin typeface="Liberation Sans" pitchFamily="34"/>
                <a:cs typeface="Liberation Sans" pitchFamily="34"/>
              </a:rPr>
              <a:t>תיכנות ליניארי בשלמים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CB0FB-E88C-962E-5802-E78E86D0B55F}"/>
              </a:ext>
            </a:extLst>
          </p:cNvPr>
          <p:cNvSpPr txBox="1"/>
          <p:nvPr/>
        </p:nvSpPr>
        <p:spPr>
          <a:xfrm>
            <a:off x="3623959" y="2174040"/>
            <a:ext cx="6456040" cy="122041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rgbClr val="00A933"/>
                </a:solidFill>
              </a:defRPr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נכתוב בעייה של תיכנות ליניארי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rgbClr val="00A933"/>
                </a:solidFill>
              </a:defRPr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עם משתנים שלמים </a:t>
            </a:r>
            <a:r>
              <a:rPr lang="en-US" sz="3200"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)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ראו בקוד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).</a:t>
            </a:r>
            <a:endParaRPr lang="en-US" sz="3200" b="0" i="0" u="none" strike="noStrike" kern="1200" cap="none">
              <a:ln>
                <a:noFill/>
              </a:ln>
              <a:solidFill>
                <a:srgbClr val="00A933"/>
              </a:solidFill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22ADFF-F72C-0E63-3234-A78BCB14EBE5}"/>
              </a:ext>
            </a:extLst>
          </p:cNvPr>
          <p:cNvSpPr txBox="1"/>
          <p:nvPr/>
        </p:nvSpPr>
        <p:spPr>
          <a:xfrm>
            <a:off x="361950" y="4553640"/>
            <a:ext cx="9605010" cy="19254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rgbClr val="800080"/>
                </a:solidFill>
              </a:defRPr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לכל מסלול באורך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L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 שאינו מעגל, נוסיף אילוץ: 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rgbClr val="800080"/>
                </a:solidFill>
              </a:defRPr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מספר הקשתות הנבחרות במסלול זה הוא לכל היותר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L-1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. </a:t>
            </a:r>
            <a:endParaRPr lang="en-US" sz="4000" b="0" i="0" u="none" strike="noStrike" kern="1200" cap="none">
              <a:ln>
                <a:noFill/>
              </a:ln>
              <a:solidFill>
                <a:srgbClr val="C9211E"/>
              </a:solidFill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15BDEA-DF7B-A205-6B3C-8DDD8146981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0" y="2424960"/>
            <a:ext cx="3917160" cy="1872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9B19D-6049-7C74-2226-71C516E73EA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130320"/>
            <a:ext cx="9897119" cy="1250280"/>
          </a:xfrm>
        </p:spPr>
        <p:txBody>
          <a:bodyPr vert="horz"/>
          <a:lstStyle/>
          <a:p>
            <a:pPr lvl="0" rtl="1"/>
            <a:r>
              <a:rPr lang="he-IL" b="1">
                <a:latin typeface="Liberation Sans" pitchFamily="34"/>
                <a:cs typeface="Liberation Sans" pitchFamily="34"/>
              </a:rPr>
              <a:t>מעגלי-החלפה באורך </a:t>
            </a:r>
            <a:r>
              <a:rPr lang="en-US" b="1">
                <a:latin typeface="Liberation Sans" pitchFamily="34"/>
                <a:cs typeface="Liberation Sans" pitchFamily="34"/>
              </a:rPr>
              <a:t>L – </a:t>
            </a:r>
            <a:br>
              <a:rPr lang="en-US" b="1">
                <a:latin typeface="Liberation Sans" pitchFamily="34"/>
                <a:cs typeface="Liberation Sans" pitchFamily="34"/>
              </a:rPr>
            </a:br>
            <a:r>
              <a:rPr lang="he-IL" b="1">
                <a:latin typeface="Liberation Sans" pitchFamily="34"/>
                <a:cs typeface="Liberation Sans" pitchFamily="34"/>
              </a:rPr>
              <a:t>תיכנות ליניארי בשלמים (המשך)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23631A-BC89-D312-5962-742C26081726}"/>
              </a:ext>
            </a:extLst>
          </p:cNvPr>
          <p:cNvSpPr txBox="1"/>
          <p:nvPr/>
        </p:nvSpPr>
        <p:spPr>
          <a:xfrm>
            <a:off x="476250" y="1737359"/>
            <a:ext cx="9490710" cy="583508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rgbClr val="00A933"/>
                </a:solidFill>
              </a:defRPr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מספר המסלולים באורך 3 </a:t>
            </a:r>
            <a:r>
              <a:rPr lang="he-IL" sz="4000">
                <a:solidFill>
                  <a:srgbClr val="800080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הוא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 O(n^3)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800080"/>
              </a:solidFill>
              <a:latin typeface="Liberation Sans" pitchFamily="18"/>
              <a:ea typeface="Noto Sans CJK SC Regular" pitchFamily="2"/>
              <a:cs typeface="Nachlieli CLM" pitchFamily="2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rgbClr val="00A933"/>
                </a:solidFill>
              </a:defRPr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n ~ 10,000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. 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מספר האילוצים גדול מדי – אי אפשר אפילו לכתוב את כולם!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rgbClr val="00A933"/>
                </a:solidFill>
              </a:defRPr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הפתרון: יצירת אילוצים דינאמית </a:t>
            </a:r>
            <a:r>
              <a:rPr lang="he-IL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(</a:t>
            </a:r>
            <a:r>
              <a:rPr lang="en-US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constraint generation</a:t>
            </a:r>
            <a:r>
              <a:rPr lang="he-IL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):</a:t>
            </a:r>
            <a:endParaRPr lang="en-US" sz="4000" b="0" i="0" u="none" strike="noStrike" kern="1200" cap="none">
              <a:ln>
                <a:noFill/>
              </a:ln>
              <a:solidFill>
                <a:srgbClr val="00A933"/>
              </a:solidFill>
              <a:latin typeface="Liberation Sans" pitchFamily="18"/>
              <a:ea typeface="Noto Sans CJK SC Regular" pitchFamily="2"/>
              <a:cs typeface="Nachlieli CLM" pitchFamily="2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arenR"/>
              <a:tabLst/>
              <a:defRPr>
                <a:solidFill>
                  <a:srgbClr val="00A933"/>
                </a:solidFill>
              </a:defRPr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יוצרים בעיה בלי שום אילוצים של מסלולים.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arenR"/>
              <a:tabLst/>
              <a:defRPr>
                <a:solidFill>
                  <a:srgbClr val="00A933"/>
                </a:solidFill>
              </a:defRPr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פותרים את הבעיה.</a:t>
            </a:r>
          </a:p>
          <a:p>
            <a:pPr lvl="0" algn="r" rtl="1" hangingPunct="0">
              <a:buSzPct val="100000"/>
              <a:buAutoNum type="arabicParenR"/>
              <a:defRPr>
                <a:solidFill>
                  <a:srgbClr val="00A933"/>
                </a:solidFill>
              </a:defRPr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אם אין מעגלים באורך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L+1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 </a:t>
            </a:r>
            <a:r>
              <a:rPr lang="en-US" sz="4000"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– </a:t>
            </a:r>
            <a:r>
              <a:rPr lang="he-IL" sz="4000"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 ס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יימנו.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arenR"/>
              <a:tabLst/>
              <a:defRPr>
                <a:solidFill>
                  <a:srgbClr val="00A933"/>
                </a:solidFill>
              </a:defRPr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אחרת, מוצאים את המסלולים באורך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L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,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 מוסיפים את האילוצים שלהם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וחוזרים ל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-2.</a:t>
            </a:r>
            <a:endParaRPr lang="en-US" sz="4000" b="0" i="0" u="none" strike="noStrike" kern="1200" cap="none">
              <a:ln>
                <a:noFill/>
              </a:ln>
              <a:solidFill>
                <a:srgbClr val="00A933"/>
              </a:solidFill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onor Chai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9BE6FD9B-AF57-22C2-5DE2-136E63667A1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63800" y="2286000"/>
            <a:ext cx="9916200" cy="4862880"/>
          </a:xfrm>
          <a:noFill/>
          <a:ln>
            <a:noFill/>
          </a:ln>
        </p:spPr>
        <p:txBody>
          <a:bodyPr wrap="square" anchor="t">
            <a:noAutofit/>
          </a:bodyPr>
          <a:lstStyle/>
          <a:p>
            <a:pPr>
              <a:spcBef>
                <a:spcPts val="519"/>
              </a:spcBef>
              <a:spcAft>
                <a:spcPts val="519"/>
              </a:spcAft>
              <a:buClr>
                <a:srgbClr val="330066"/>
              </a:buClr>
              <a:buSzPct val="70000"/>
            </a:pPr>
            <a:r>
              <a:rPr lang="en-US" sz="260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ＭＳ Ｐゴシック" pitchFamily="1"/>
                <a:cs typeface="Liberation Sans" pitchFamily="34"/>
              </a:rPr>
              <a:t>In July 2007, Alliance for paired donations started an “Altruistic Donor Chain”</a:t>
            </a:r>
          </a:p>
          <a:p>
            <a:pPr>
              <a:spcBef>
                <a:spcPts val="519"/>
              </a:spcBef>
              <a:spcAft>
                <a:spcPts val="519"/>
              </a:spcAft>
              <a:buClr>
                <a:srgbClr val="330066"/>
              </a:buClr>
              <a:buSzPct val="70000"/>
            </a:pPr>
            <a:r>
              <a:rPr lang="en-US" sz="260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ＭＳ Ｐゴシック" pitchFamily="1"/>
                <a:cs typeface="Liberation Sans" pitchFamily="34"/>
              </a:rPr>
              <a:t>Altruistic donor in Michigan donated kidney to woman in Phoenix.</a:t>
            </a:r>
          </a:p>
          <a:p>
            <a:pPr>
              <a:spcBef>
                <a:spcPts val="519"/>
              </a:spcBef>
              <a:spcAft>
                <a:spcPts val="519"/>
              </a:spcAft>
              <a:buClr>
                <a:srgbClr val="330066"/>
              </a:buClr>
              <a:buSzPct val="70000"/>
            </a:pPr>
            <a:r>
              <a:rPr lang="en-US" sz="260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ＭＳ Ｐゴシック" pitchFamily="1"/>
                <a:cs typeface="Liberation Sans" pitchFamily="34"/>
              </a:rPr>
              <a:t>Husband of Phoenix woman gave kidney to woman in Toledo.</a:t>
            </a:r>
          </a:p>
          <a:p>
            <a:pPr>
              <a:spcBef>
                <a:spcPts val="519"/>
              </a:spcBef>
              <a:spcAft>
                <a:spcPts val="519"/>
              </a:spcAft>
              <a:buClr>
                <a:srgbClr val="330066"/>
              </a:buClr>
              <a:buSzPct val="70000"/>
            </a:pPr>
            <a:r>
              <a:rPr lang="en-US" sz="260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ＭＳ Ｐゴシック" pitchFamily="1"/>
                <a:cs typeface="Liberation Sans" pitchFamily="34"/>
              </a:rPr>
              <a:t>Her mom gave kidney to patient A in Columbus, whose daugher simultaneously gave kidney to patient B in Columbus.</a:t>
            </a:r>
          </a:p>
          <a:p>
            <a:pPr>
              <a:spcBef>
                <a:spcPts val="519"/>
              </a:spcBef>
              <a:spcAft>
                <a:spcPts val="519"/>
              </a:spcAft>
              <a:buClr>
                <a:srgbClr val="330066"/>
              </a:buClr>
              <a:buSzPct val="70000"/>
            </a:pPr>
            <a:r>
              <a:rPr lang="en-US" sz="260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ＭＳ Ｐゴシック" pitchFamily="1"/>
                <a:cs typeface="Liberation Sans" pitchFamily="34"/>
              </a:rPr>
              <a:t>And so on….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0405F471-5809-DCEE-DBF9-193B9304197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7223760" y="6887880"/>
            <a:ext cx="2351880" cy="503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>
            <a:noAutofit/>
          </a:bodyPr>
          <a:lstStyle/>
          <a:p>
            <a:pPr lvl="0" algn="r" hangingPunct="0"/>
            <a:fld id="{C82DBCC5-5C42-41E3-A3CA-14425AE8E554}" type="slidenum">
              <a:t>22</a:t>
            </a:fld>
            <a:endParaRPr lang="en-US" sz="1000">
              <a:solidFill>
                <a:srgbClr val="000000"/>
              </a:solidFill>
              <a:latin typeface="Arial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B503EF7-0BB3-4EA2-B83C-8D4A7F5B91A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182880" y="91800"/>
            <a:ext cx="10147974" cy="1427400"/>
          </a:xfrm>
          <a:noFill/>
          <a:ln>
            <a:noFill/>
          </a:ln>
        </p:spPr>
        <p:txBody>
          <a:bodyPr wrap="square" anchor="b">
            <a:noAutofit/>
          </a:bodyPr>
          <a:lstStyle/>
          <a:p>
            <a:pPr lvl="0" algn="ctr" rtl="1" hangingPunct="0">
              <a:lnSpc>
                <a:spcPct val="100000"/>
              </a:lnSpc>
              <a:spcBef>
                <a:spcPts val="0"/>
              </a:spcBef>
            </a:pPr>
            <a:r>
              <a:rPr lang="en-US" sz="3900" b="1">
                <a:solidFill>
                  <a:srgbClr val="330066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ＭＳ Ｐゴシック" pitchFamily="1"/>
                <a:cs typeface="Liberation Sans" pitchFamily="34"/>
              </a:rPr>
              <a:t>מעבר למעגלים</a:t>
            </a:r>
            <a:r>
              <a:rPr lang="he-IL" sz="3900" b="1">
                <a:solidFill>
                  <a:srgbClr val="330066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ＭＳ Ｐゴシック" pitchFamily="1"/>
                <a:cs typeface="Liberation Sans" pitchFamily="34"/>
              </a:rPr>
              <a:t> </a:t>
            </a:r>
            <a:r>
              <a:rPr lang="en-US" sz="3900" b="1">
                <a:solidFill>
                  <a:srgbClr val="330066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ＭＳ Ｐゴシック" pitchFamily="1"/>
                <a:cs typeface="Liberation Sans" pitchFamily="34"/>
              </a:rPr>
              <a:t>– </a:t>
            </a:r>
            <a:r>
              <a:rPr lang="he-IL" sz="3900" b="1">
                <a:solidFill>
                  <a:srgbClr val="330066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ＭＳ Ｐゴシック" pitchFamily="1"/>
                <a:cs typeface="Liberation Sans" pitchFamily="34"/>
              </a:rPr>
              <a:t> </a:t>
            </a:r>
            <a:r>
              <a:rPr lang="en-US" sz="3900" b="1">
                <a:solidFill>
                  <a:srgbClr val="330066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ＭＳ Ｐゴシック" pitchFamily="1"/>
                <a:cs typeface="Liberation Sans" pitchFamily="34"/>
              </a:rPr>
              <a:t>שרשראות-החלפה – </a:t>
            </a:r>
            <a:r>
              <a:rPr lang="he-IL" sz="3900" b="1">
                <a:solidFill>
                  <a:srgbClr val="330066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ＭＳ Ｐゴシック" pitchFamily="1"/>
                <a:cs typeface="Liberation Sans" pitchFamily="34"/>
              </a:rPr>
              <a:t> </a:t>
            </a:r>
            <a:r>
              <a:rPr lang="en-US" sz="3900" b="1">
                <a:solidFill>
                  <a:srgbClr val="330066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ＭＳ Ｐゴシック" pitchFamily="1"/>
                <a:cs typeface="Liberation Sans" pitchFamily="34"/>
              </a:rPr>
              <a:t>מתחילות בתורם אחד חסיד</a:t>
            </a:r>
            <a:r>
              <a:rPr lang="en-US" sz="2800" b="1">
                <a:solidFill>
                  <a:srgbClr val="330066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ＭＳ Ｐゴシック" pitchFamily="1"/>
                <a:cs typeface="Liberation Sans" pitchFamily="34"/>
              </a:rPr>
              <a:t> </a:t>
            </a:r>
            <a:r>
              <a:rPr lang="he-IL" sz="2800" b="1">
                <a:solidFill>
                  <a:srgbClr val="330066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ＭＳ Ｐゴシック" pitchFamily="1"/>
                <a:cs typeface="Liberation Sans" pitchFamily="34"/>
              </a:rPr>
              <a:t>(</a:t>
            </a:r>
            <a:r>
              <a:rPr lang="en-US" sz="2800" b="1">
                <a:solidFill>
                  <a:srgbClr val="330066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ＭＳ Ｐゴシック" pitchFamily="1"/>
                <a:cs typeface="Liberation Sans" pitchFamily="34"/>
              </a:rPr>
              <a:t>אלטרואיסט</a:t>
            </a:r>
            <a:r>
              <a:rPr lang="he-IL" sz="2800" b="1">
                <a:solidFill>
                  <a:srgbClr val="330066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ＭＳ Ｐゴシック" pitchFamily="1"/>
                <a:cs typeface="Liberation Sans" pitchFamily="34"/>
              </a:rPr>
              <a:t>)</a:t>
            </a:r>
            <a:endParaRPr lang="en-US" sz="2800" b="1">
              <a:solidFill>
                <a:srgbClr val="330066"/>
              </a:solidFill>
              <a:highlight>
                <a:scrgbClr r="0" g="0" b="0">
                  <a:alpha val="0"/>
                </a:scrgbClr>
              </a:highlight>
              <a:latin typeface="Liberation Sans" pitchFamily="34"/>
              <a:ea typeface="ＭＳ Ｐゴシック" pitchFamily="1"/>
              <a:cs typeface="Liberation Sans" pitchFamily="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Effect">
                      <p:stCondLst>
                        <p:cond delay="indefinite"/>
                      </p:stCondLst>
                      <p:childTnLst>
                        <p:par>
                          <p:cTn id="1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Effect">
                      <p:stCondLst>
                        <p:cond delay="indefinite"/>
                      </p:stCondLst>
                      <p:childTnLst>
                        <p:par>
                          <p:cTn id="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Effect">
                      <p:stCondLst>
                        <p:cond delay="indefinite"/>
                      </p:stCondLst>
                      <p:childTnLst>
                        <p:par>
                          <p:cTn id="2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 Long Donor Ch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77856-DB1E-A866-4C72-D3239C97A21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182880" y="640080"/>
            <a:ext cx="9509760" cy="548640"/>
          </a:xfrm>
          <a:noFill/>
          <a:ln>
            <a:noFill/>
          </a:ln>
        </p:spPr>
        <p:txBody>
          <a:bodyPr wrap="square" anchor="b">
            <a:noAutofit/>
          </a:bodyPr>
          <a:lstStyle/>
          <a:p>
            <a:pPr lvl="0" algn="ctr" hangingPunct="0">
              <a:lnSpc>
                <a:spcPct val="100000"/>
              </a:lnSpc>
              <a:spcBef>
                <a:spcPts val="0"/>
              </a:spcBef>
            </a:pPr>
            <a:r>
              <a:rPr lang="en-US" sz="3900" b="1">
                <a:solidFill>
                  <a:srgbClr val="330066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ＭＳ Ｐゴシック" pitchFamily="1"/>
                <a:cs typeface="Liberation Sans" pitchFamily="34"/>
              </a:rPr>
              <a:t>שרשרת החלפה באורך </a:t>
            </a:r>
            <a:r>
              <a:rPr lang="he-IL" sz="3900" b="1">
                <a:solidFill>
                  <a:srgbClr val="330066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ＭＳ Ｐゴシック" pitchFamily="1"/>
                <a:cs typeface="Liberation Sans" pitchFamily="34"/>
              </a:rPr>
              <a:t> 60</a:t>
            </a:r>
            <a:endParaRPr lang="en-US" sz="3900" b="1">
              <a:solidFill>
                <a:srgbClr val="330066"/>
              </a:solidFill>
              <a:highlight>
                <a:scrgbClr r="0" g="0" b="0">
                  <a:alpha val="0"/>
                </a:scrgbClr>
              </a:highlight>
              <a:latin typeface="Liberation Sans" pitchFamily="34"/>
              <a:ea typeface="ＭＳ Ｐゴシック" pitchFamily="1"/>
              <a:cs typeface="Liberation Sans" pitchFamily="34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563180D-A71B-E01E-97C1-5802E96B615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7223760" y="6887880"/>
            <a:ext cx="2351880" cy="503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>
            <a:noAutofit/>
          </a:bodyPr>
          <a:lstStyle/>
          <a:p>
            <a:pPr lvl="0" algn="r" hangingPunct="0"/>
            <a:fld id="{F218C774-9CAB-4A4B-8194-BA0CAC3CD0C5}" type="slidenum">
              <a:t>23</a:t>
            </a:fld>
            <a:endParaRPr lang="en-US" sz="1000">
              <a:solidFill>
                <a:srgbClr val="000000"/>
              </a:solidFill>
              <a:latin typeface="Arial"/>
              <a:ea typeface="DejaVu Sans" pitchFamily="2"/>
              <a:cs typeface="DejaVu Sans" pitchFamily="2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35F8A49-0FAD-1AEF-E5A3-4F64A98043D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070999" y="1556999"/>
            <a:ext cx="7612920" cy="5405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6298</TotalTime>
  <Words>1061</Words>
  <Application>Microsoft Office PowerPoint</Application>
  <PresentationFormat>Custom</PresentationFormat>
  <Paragraphs>187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23</vt:i4>
      </vt:variant>
    </vt:vector>
  </HeadingPairs>
  <TitlesOfParts>
    <vt:vector size="36" baseType="lpstr">
      <vt:lpstr>Aptos</vt:lpstr>
      <vt:lpstr>Aptos Display</vt:lpstr>
      <vt:lpstr>Arial</vt:lpstr>
      <vt:lpstr>Courier New</vt:lpstr>
      <vt:lpstr>Liberation Sans</vt:lpstr>
      <vt:lpstr>Liberation Serif</vt:lpstr>
      <vt:lpstr>Simple CLM</vt:lpstr>
      <vt:lpstr>StarSymbol</vt:lpstr>
      <vt:lpstr>Default</vt:lpstr>
      <vt:lpstr>Office Theme</vt:lpstr>
      <vt:lpstr>Office Theme</vt:lpstr>
      <vt:lpstr>Office Theme</vt:lpstr>
      <vt:lpstr>Office Theme</vt:lpstr>
      <vt:lpstr>החלפת כליות  אראל סגל-הלוי חלק מהשקפים של: Wayne Racey</vt:lpstr>
      <vt:lpstr>התור להשתלת כליות</vt:lpstr>
      <vt:lpstr>החלפת כליות</vt:lpstr>
      <vt:lpstr>למה להחליף כליות?</vt:lpstr>
      <vt:lpstr>החלפת כליות אופטימלית</vt:lpstr>
      <vt:lpstr>החלפת כליות אופטימלית – פתרון א</vt:lpstr>
      <vt:lpstr>החלפת כליות אופטימלית – פתרון א</vt:lpstr>
      <vt:lpstr>החלפת כליות אופטימלית – פתרון א</vt:lpstr>
      <vt:lpstr>מעגלי החלפה באורך מוגבל</vt:lpstr>
      <vt:lpstr>מעגלי החלפה באורך 2</vt:lpstr>
      <vt:lpstr>גרף ההתאמות</vt:lpstr>
      <vt:lpstr>מציאת שידוך גדול ביותר</vt:lpstr>
      <vt:lpstr>מציאת שידוך גדול ביותר - עדיפויות</vt:lpstr>
      <vt:lpstr>מציאת שידוך גדול ביותר - עדיפויות</vt:lpstr>
      <vt:lpstr>רדוקציה מעדיפויות למשקלים</vt:lpstr>
      <vt:lpstr>מעבר לזוגות – מעגלי-החלפה באורך 4</vt:lpstr>
      <vt:lpstr>מעגלי-החלפה באורך L</vt:lpstr>
      <vt:lpstr>מעגלי-החלפה באורך L</vt:lpstr>
      <vt:lpstr>מעגלי-החלפה באורך L</vt:lpstr>
      <vt:lpstr>מעגלי-החלפה באורך L – תיכנות ליניארי בשלמים</vt:lpstr>
      <vt:lpstr>מעגלי-החלפה באורך L –  תיכנות ליניארי בשלמים (המשך)</vt:lpstr>
      <vt:lpstr>מעבר למעגלים –  שרשראות-החלפה –  מתחילות בתורם אחד חסיד (אלטרואיסט)</vt:lpstr>
      <vt:lpstr>שרשרת החלפה באורך  60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Erel Segal-Halevi</dc:creator>
  <cp:lastModifiedBy>דוד אראל סגל הלוי/David Erel Segal Halevi</cp:lastModifiedBy>
  <cp:revision>912</cp:revision>
  <dcterms:created xsi:type="dcterms:W3CDTF">2017-10-27T15:20:51Z</dcterms:created>
  <dcterms:modified xsi:type="dcterms:W3CDTF">2026-01-12T14:20:17Z</dcterms:modified>
</cp:coreProperties>
</file>